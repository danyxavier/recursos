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  <p:sldMasterId id="2147484159" r:id="rId5"/>
  </p:sldMasterIdLst>
  <p:notesMasterIdLst>
    <p:notesMasterId r:id="rId27"/>
  </p:notesMasterIdLst>
  <p:handoutMasterIdLst>
    <p:handoutMasterId r:id="rId28"/>
  </p:handoutMasterIdLst>
  <p:sldIdLst>
    <p:sldId id="1645" r:id="rId6"/>
    <p:sldId id="1453" r:id="rId7"/>
    <p:sldId id="533" r:id="rId8"/>
    <p:sldId id="506" r:id="rId9"/>
    <p:sldId id="538" r:id="rId10"/>
    <p:sldId id="1623" r:id="rId11"/>
    <p:sldId id="265" r:id="rId12"/>
    <p:sldId id="1691" r:id="rId13"/>
    <p:sldId id="1692" r:id="rId14"/>
    <p:sldId id="1693" r:id="rId15"/>
    <p:sldId id="1694" r:id="rId16"/>
    <p:sldId id="1695" r:id="rId17"/>
    <p:sldId id="883" r:id="rId18"/>
    <p:sldId id="1696" r:id="rId19"/>
    <p:sldId id="1697" r:id="rId20"/>
    <p:sldId id="1698" r:id="rId21"/>
    <p:sldId id="1699" r:id="rId22"/>
    <p:sldId id="1700" r:id="rId23"/>
    <p:sldId id="1701" r:id="rId24"/>
    <p:sldId id="1702" r:id="rId25"/>
    <p:sldId id="1690" r:id="rId26"/>
  </p:sldIdLst>
  <p:sldSz cx="18288000" cy="10287000"/>
  <p:notesSz cx="6797675" cy="9926638"/>
  <p:defaultTextStyle>
    <a:defPPr>
      <a:defRPr lang="uk-UA"/>
    </a:defPPr>
    <a:lvl1pPr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1pPr>
    <a:lvl2pPr marL="684213" indent="-2270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2pPr>
    <a:lvl3pPr marL="1370013" indent="-4556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3pPr>
    <a:lvl4pPr marL="2055813" indent="-6842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4pPr>
    <a:lvl5pPr marL="2741613" indent="-912813" algn="l" defTabSz="1370013" rtl="0" eaLnBrk="0" fontAlgn="base" hangingPunct="0">
      <a:spcBef>
        <a:spcPct val="0"/>
      </a:spcBef>
      <a:spcAft>
        <a:spcPct val="0"/>
      </a:spcAft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5pPr>
    <a:lvl6pPr marL="22860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6pPr>
    <a:lvl7pPr marL="27432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7pPr>
    <a:lvl8pPr marL="32004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8pPr>
    <a:lvl9pPr marL="3657600" algn="l" defTabSz="914400" rtl="0" eaLnBrk="1" latinLnBrk="0" hangingPunct="1">
      <a:defRPr sz="2700" kern="1200">
        <a:solidFill>
          <a:schemeClr val="tx1"/>
        </a:solidFill>
        <a:latin typeface="Franklin Gothic Book" panose="020B05030201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pita Arrese Alcala" initials="" lastIdx="16" clrIdx="0"/>
  <p:cmAuthor id="2" name="oe" initials="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879B"/>
    <a:srgbClr val="000000"/>
    <a:srgbClr val="23AAD5"/>
    <a:srgbClr val="64D4EA"/>
    <a:srgbClr val="4CCCE6"/>
    <a:srgbClr val="6CD5EA"/>
    <a:srgbClr val="2BC3E1"/>
    <a:srgbClr val="57C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9" autoAdjust="0"/>
    <p:restoredTop sz="80139" autoAdjust="0"/>
  </p:normalViewPr>
  <p:slideViewPr>
    <p:cSldViewPr snapToGrid="0">
      <p:cViewPr>
        <p:scale>
          <a:sx n="71" d="100"/>
          <a:sy n="71" d="100"/>
        </p:scale>
        <p:origin x="376" y="-38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2" d="100"/>
        <a:sy n="62" d="100"/>
      </p:scale>
      <p:origin x="0" y="-22038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r>
              <a:rPr lang="es-EC" sz="1800" b="0">
                <a:solidFill>
                  <a:srgbClr val="00566C"/>
                </a:solidFill>
                <a:latin typeface="Franklin Gothic Medium"/>
              </a:rPr>
              <a:t>Tiempo de entrenamiento sobre ULB (segundos)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Sin tratamiento</c:v>
                </c:pt>
              </c:strCache>
            </c:strRef>
          </c:tx>
          <c:spPr>
            <a:solidFill>
              <a:srgbClr val="00566C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3C3C48"/>
                    </a:solidFill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Reg. Logística</c:v>
                </c:pt>
                <c:pt idx="1">
                  <c:v>Árbol Decisión</c:v>
                </c:pt>
                <c:pt idx="2">
                  <c:v>Random Forest</c:v>
                </c:pt>
                <c:pt idx="3">
                  <c:v>XGBoost</c:v>
                </c:pt>
                <c:pt idx="4">
                  <c:v>LightGBM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</c:v>
                </c:pt>
                <c:pt idx="1">
                  <c:v>31.6</c:v>
                </c:pt>
                <c:pt idx="2">
                  <c:v>527.1</c:v>
                </c:pt>
                <c:pt idx="3">
                  <c:v>18</c:v>
                </c:pt>
                <c:pt idx="4">
                  <c:v>330.2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C0C-744E-BEDC-F5B3F028E2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SMOTE</c:v>
                </c:pt>
              </c:strCache>
            </c:strRef>
          </c:tx>
          <c:spPr>
            <a:solidFill>
              <a:srgbClr val="219BC3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3C3C48"/>
                    </a:solidFill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Reg. Logística</c:v>
                </c:pt>
                <c:pt idx="1">
                  <c:v>Árbol Decisión</c:v>
                </c:pt>
                <c:pt idx="2">
                  <c:v>Random Forest</c:v>
                </c:pt>
                <c:pt idx="3">
                  <c:v>XGBoost</c:v>
                </c:pt>
                <c:pt idx="4">
                  <c:v>LightGBM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5.2</c:v>
                </c:pt>
                <c:pt idx="1">
                  <c:v>95.9</c:v>
                </c:pt>
                <c:pt idx="2">
                  <c:v>1557.6</c:v>
                </c:pt>
                <c:pt idx="3">
                  <c:v>36.799999999999997</c:v>
                </c:pt>
                <c:pt idx="4">
                  <c:v>679.5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C0C-744E-BEDC-F5B3F028E2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ADASYN</c:v>
                </c:pt>
              </c:strCache>
            </c:strRef>
          </c:tx>
          <c:spPr>
            <a:solidFill>
              <a:srgbClr val="B4B4BE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3C3C48"/>
                    </a:solidFill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Reg. Logística</c:v>
                </c:pt>
                <c:pt idx="1">
                  <c:v>Árbol Decisión</c:v>
                </c:pt>
                <c:pt idx="2">
                  <c:v>Random Forest</c:v>
                </c:pt>
                <c:pt idx="3">
                  <c:v>XGBoost</c:v>
                </c:pt>
                <c:pt idx="4">
                  <c:v>LightGBM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5.8</c:v>
                </c:pt>
                <c:pt idx="1">
                  <c:v>116.4</c:v>
                </c:pt>
                <c:pt idx="2">
                  <c:v>1486.7</c:v>
                </c:pt>
                <c:pt idx="3">
                  <c:v>35.1</c:v>
                </c:pt>
                <c:pt idx="4">
                  <c:v>692.1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C0C-744E-BEDC-F5B3F028E2C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0C0C8"/>
            </a:solidFill>
          </a:ln>
        </c:spPr>
        <c:txPr>
          <a:bodyPr/>
          <a:lstStyle/>
          <a:p>
            <a:pPr>
              <a:defRPr sz="1500">
                <a:solidFill>
                  <a:srgbClr val="3C3C48"/>
                </a:solidFill>
              </a:defRPr>
            </a:pPr>
            <a:endParaRPr lang="es-EC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3E3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858591"/>
                </a:solidFill>
              </a:defRPr>
            </a:pPr>
            <a:endParaRPr lang="es-EC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3C3C48"/>
              </a:solidFill>
            </a:defRPr>
          </a:pPr>
          <a:endParaRPr lang="es-EC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E1B8304-C7B0-4DE3-2E82-DF987EE430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9D4788-2B02-0246-E69B-836E0F675E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1963482-93D7-4D7C-BC15-B1837F3A1E2B}" type="datetimeFigureOut">
              <a:rPr lang="es-ES"/>
              <a:pPr>
                <a:defRPr/>
              </a:pPr>
              <a:t>6/10/26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3BEC74-1C10-0384-FEED-E40F1B3552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05A489-2F88-F68C-2465-6EC43D47E8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FF394E1-D334-4642-B8AA-5C1693D81E49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325DE0-17A1-D99D-7F9C-68A432A8E6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28137-16CC-8DD4-FF85-24C162059A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D545F65-0909-443C-BCF6-7D5860BA997B}" type="datetimeFigureOut">
              <a:rPr lang="uk-UA"/>
              <a:pPr>
                <a:defRPr/>
              </a:pPr>
              <a:t>06.10.26</a:t>
            </a:fld>
            <a:endParaRPr lang="uk-UA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0CA12A7-11D8-4772-427C-D4700AA6C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uk-UA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BAA89AE-5DDE-6DA1-E69E-849EBCCFD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uk-U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E8EA2-725D-7483-CCD2-B0AAD9843B2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1E2AA-4CFE-2349-63E5-EBE5A86D2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37140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3AF5261-4918-4390-B9C0-F62571109FF2}" type="slidenum">
              <a:rPr lang="uk-UA"/>
              <a:pPr>
                <a:defRPr/>
              </a:pPr>
              <a:t>‹Nº›</a:t>
            </a:fld>
            <a:endParaRPr lang="uk-U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defTabSz="9128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0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15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52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87" algn="l" defTabSz="91427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C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EC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Marcador de imagen de diapositiva 1">
            <a:extLst>
              <a:ext uri="{FF2B5EF4-FFF2-40B4-BE49-F238E27FC236}">
                <a16:creationId xmlns:a16="http://schemas.microsoft.com/office/drawing/2014/main" id="{B824B30B-386B-B4E1-CB83-1728B30376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Marcador de notas 2">
            <a:extLst>
              <a:ext uri="{FF2B5EF4-FFF2-40B4-BE49-F238E27FC236}">
                <a16:creationId xmlns:a16="http://schemas.microsoft.com/office/drawing/2014/main" id="{6541F02F-8AFC-4B47-5F29-E2C7CD62B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dirty="0"/>
          </a:p>
        </p:txBody>
      </p:sp>
      <p:sp>
        <p:nvSpPr>
          <p:cNvPr id="15364" name="Marcador de número de diapositiva 3">
            <a:extLst>
              <a:ext uri="{FF2B5EF4-FFF2-40B4-BE49-F238E27FC236}">
                <a16:creationId xmlns:a16="http://schemas.microsoft.com/office/drawing/2014/main" id="{545DF2BF-848B-5319-8BBA-23C84B7146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defTabSz="1370013" fontAlgn="base">
              <a:spcBef>
                <a:spcPct val="0"/>
              </a:spcBef>
              <a:spcAft>
                <a:spcPct val="0"/>
              </a:spcAft>
            </a:pPr>
            <a:fld id="{4547243F-E2FC-4499-8006-0A69DCED7A00}" type="slidenum">
              <a:rPr lang="uk-UA" altLang="es-ES" sz="1200" smtClean="0">
                <a:latin typeface="Calibri" panose="020F0502020204030204" pitchFamily="34" charset="0"/>
              </a:rPr>
              <a:pPr defTabSz="1370013"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uk-UA" altLang="es-E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-SLIDE OPT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">
            <a:extLst>
              <a:ext uri="{FF2B5EF4-FFF2-40B4-BE49-F238E27FC236}">
                <a16:creationId xmlns:a16="http://schemas.microsoft.com/office/drawing/2014/main" id="{E83B7476-743D-CD43-5664-5C358FF80CF8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2400300"/>
            <a:ext cx="9144000" cy="5486400"/>
          </a:xfrm>
          <a:prstGeom prst="rect">
            <a:avLst/>
          </a:prstGeom>
        </p:spPr>
        <p:txBody>
          <a:bodyPr lIns="91428" tIns="45713" rIns="91428" bIns="45713"/>
          <a:lstStyle/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132184249"/>
      </p:ext>
    </p:extLst>
  </p:cSld>
  <p:clrMapOvr>
    <a:masterClrMapping/>
  </p:clrMapOvr>
  <p:transition spd="slow">
    <p:fad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">
            <a:extLst>
              <a:ext uri="{FF2B5EF4-FFF2-40B4-BE49-F238E27FC236}">
                <a16:creationId xmlns:a16="http://schemas.microsoft.com/office/drawing/2014/main" id="{C5BE1A31-B02F-3C0B-5776-781B8E066A45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 dirty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532888" y="2587752"/>
            <a:ext cx="2706624" cy="2706624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2490688692"/>
      </p:ext>
    </p:extLst>
  </p:cSld>
  <p:clrMapOvr>
    <a:masterClrMapping/>
  </p:clrMapOvr>
  <p:transition spd="slow">
    <p:fade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1">
            <a:extLst>
              <a:ext uri="{FF2B5EF4-FFF2-40B4-BE49-F238E27FC236}">
                <a16:creationId xmlns:a16="http://schemas.microsoft.com/office/drawing/2014/main" id="{B68F354C-B8B7-BE0B-C8CC-52F7AD435624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3337560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3337560" y="5980176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9811512" y="2935224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811512" y="5981700"/>
            <a:ext cx="1591056" cy="1591056"/>
          </a:xfrm>
          <a:prstGeom prst="roundRect">
            <a:avLst/>
          </a:prstGeom>
          <a:ln w="25400">
            <a:solidFill>
              <a:schemeClr val="accent1"/>
            </a:solidFill>
          </a:ln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696158152"/>
      </p:ext>
    </p:extLst>
  </p:cSld>
  <p:clrMapOvr>
    <a:masterClrMapping/>
  </p:clrMapOvr>
  <p:transition spd="slow">
    <p:fade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PT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">
            <a:extLst>
              <a:ext uri="{FF2B5EF4-FFF2-40B4-BE49-F238E27FC236}">
                <a16:creationId xmlns:a16="http://schemas.microsoft.com/office/drawing/2014/main" id="{F372A6C9-AA92-87E3-97E9-E00489A4B0C6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22860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22860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22860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1148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1148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5943600" y="24048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8"/>
          </p:nvPr>
        </p:nvSpPr>
        <p:spPr>
          <a:xfrm>
            <a:off x="5943600" y="42336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9"/>
          </p:nvPr>
        </p:nvSpPr>
        <p:spPr>
          <a:xfrm>
            <a:off x="5943600" y="6062472"/>
            <a:ext cx="1828800" cy="1828800"/>
          </a:xfrm>
          <a:prstGeom prst="rect">
            <a:avLst/>
          </a:prstGeom>
        </p:spPr>
        <p:txBody>
          <a:bodyPr lIns="91428" tIns="45713" rIns="91428" bIns="45713"/>
          <a:lstStyle>
            <a:lvl1pPr>
              <a:defRPr sz="2000"/>
            </a:lvl1pPr>
          </a:lstStyle>
          <a:p>
            <a:pPr lvl="0"/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36328696"/>
      </p:ext>
    </p:extLst>
  </p:cSld>
  <p:clrMapOvr>
    <a:masterClrMapping/>
  </p:clrMapOvr>
  <p:transition spd="slow">
    <p:fade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5" descr="Texto&#10;&#10;Descripción generada automáticamente">
            <a:extLst>
              <a:ext uri="{FF2B5EF4-FFF2-40B4-BE49-F238E27FC236}">
                <a16:creationId xmlns:a16="http://schemas.microsoft.com/office/drawing/2014/main" id="{B2AA8FAE-BAC5-4AD8-EC77-BCC0C972D5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9240838"/>
            <a:ext cx="33178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710962"/>
      </p:ext>
    </p:extLst>
  </p:cSld>
  <p:clrMapOvr>
    <a:masterClrMapping/>
  </p:clrMapOvr>
  <p:transition spd="slow">
    <p:fade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9">
            <a:extLst>
              <a:ext uri="{FF2B5EF4-FFF2-40B4-BE49-F238E27FC236}">
                <a16:creationId xmlns:a16="http://schemas.microsoft.com/office/drawing/2014/main" id="{7E08C069-2E04-E41F-8B5D-4F08B654C6E0}"/>
              </a:ext>
            </a:extLst>
          </p:cNvPr>
          <p:cNvCxnSpPr/>
          <p:nvPr userDrawn="1"/>
        </p:nvCxnSpPr>
        <p:spPr>
          <a:xfrm>
            <a:off x="704850" y="685800"/>
            <a:ext cx="0" cy="102870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76300" y="571412"/>
            <a:ext cx="5448301" cy="1322399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>
              <a:defRPr lang="uk-UA" sz="4400" b="1">
                <a:solidFill>
                  <a:srgbClr val="219BC3"/>
                </a:solidFill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lvl="0"/>
            <a:r>
              <a:rPr lang="es-ES" noProof="0"/>
              <a:t>Haga clic para modificar el estilo de título del patrón</a:t>
            </a:r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978561360"/>
      </p:ext>
    </p:extLst>
  </p:cSld>
  <p:clrMapOvr>
    <a:masterClrMapping/>
  </p:clrMapOvr>
  <p:transition spd="slow">
    <p:fade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653752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E29FDE-82EE-0320-8CB4-3ED0E2A3A633}"/>
              </a:ext>
            </a:extLst>
          </p:cNvPr>
          <p:cNvCxnSpPr/>
          <p:nvPr userDrawn="1"/>
        </p:nvCxnSpPr>
        <p:spPr>
          <a:xfrm>
            <a:off x="16744950" y="9186863"/>
            <a:ext cx="0" cy="742950"/>
          </a:xfrm>
          <a:prstGeom prst="line">
            <a:avLst/>
          </a:prstGeom>
          <a:ln w="635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D0226389-8143-FF60-655F-89472ACA3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092613" y="9072563"/>
            <a:ext cx="1733550" cy="923925"/>
          </a:xfrm>
          <a:prstGeom prst="rect">
            <a:avLst/>
          </a:prstGeom>
          <a:noFill/>
        </p:spPr>
        <p:txBody>
          <a:bodyPr wrap="square" lIns="91428" tIns="45713" rIns="91428" bIns="45713" rtlCol="0">
            <a:spAutoFit/>
          </a:bodyPr>
          <a:lstStyle>
            <a:lvl1pPr defTabSz="1371408" eaLnBrk="1" fontAlgn="auto" hangingPunct="1">
              <a:spcBef>
                <a:spcPts val="0"/>
              </a:spcBef>
              <a:spcAft>
                <a:spcPts val="0"/>
              </a:spcAft>
              <a:defRPr lang="uk-UA" sz="2700" b="1">
                <a:solidFill>
                  <a:schemeClr val="accent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s-ES_tradnl"/>
              <a:t>Pag.</a:t>
            </a:r>
          </a:p>
          <a:p>
            <a:pPr>
              <a:defRPr/>
            </a:pPr>
            <a:fld id="{815C4DD7-7980-4064-A469-744EEDB05391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  <p:pic>
        <p:nvPicPr>
          <p:cNvPr id="1028" name="Imagen 2" descr="Texto&#10;&#10;Descripción generada automáticamente">
            <a:extLst>
              <a:ext uri="{FF2B5EF4-FFF2-40B4-BE49-F238E27FC236}">
                <a16:creationId xmlns:a16="http://schemas.microsoft.com/office/drawing/2014/main" id="{46788E73-FAAA-393C-A4D3-37900BF875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8" y="9255125"/>
            <a:ext cx="3317875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1" r:id="rId1"/>
    <p:sldLayoutId id="2147484182" r:id="rId2"/>
    <p:sldLayoutId id="2147484183" r:id="rId3"/>
    <p:sldLayoutId id="2147484184" r:id="rId4"/>
    <p:sldLayoutId id="2147484185" r:id="rId5"/>
    <p:sldLayoutId id="2147484186" r:id="rId6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180" r:id="rId1"/>
  </p:sldLayoutIdLst>
  <p:transition spd="slow">
    <p:fade/>
  </p:transition>
  <p:txStyles>
    <p:titleStyle>
      <a:lvl1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2pPr>
      <a:lvl3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3pPr>
      <a:lvl4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4pPr>
      <a:lvl5pPr algn="l" defTabSz="13700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5pPr>
      <a:lvl6pPr marL="4572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6pPr>
      <a:lvl7pPr marL="9144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7pPr>
      <a:lvl8pPr marL="13716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8pPr>
      <a:lvl9pPr marL="1828800" algn="l" defTabSz="1370013" rtl="0" fontAlgn="base">
        <a:lnSpc>
          <a:spcPct val="90000"/>
        </a:lnSpc>
        <a:spcBef>
          <a:spcPct val="0"/>
        </a:spcBef>
        <a:spcAft>
          <a:spcPct val="0"/>
        </a:spcAft>
        <a:defRPr sz="6600">
          <a:solidFill>
            <a:schemeClr val="tx1"/>
          </a:solidFill>
          <a:latin typeface="Franklin Gothic Medium" panose="020B0603020102020204" pitchFamily="34" charset="0"/>
        </a:defRPr>
      </a:lvl9pPr>
    </p:titleStyle>
    <p:bodyStyle>
      <a:lvl1pPr algn="l" defTabSz="1370013" rtl="0" eaLnBrk="0" fontAlgn="base" hangingPunct="0">
        <a:lnSpc>
          <a:spcPct val="90000"/>
        </a:lnSpc>
        <a:spcBef>
          <a:spcPts val="1500"/>
        </a:spcBef>
        <a:spcAft>
          <a:spcPct val="0"/>
        </a:spcAft>
        <a:buFont typeface="Arial" panose="020B0604020202020204" pitchFamily="34" charset="0"/>
        <a:defRPr lang="en-US" sz="3200" kern="1200">
          <a:solidFill>
            <a:srgbClr val="858591"/>
          </a:solidFill>
          <a:latin typeface="+mn-lt"/>
          <a:ea typeface="+mn-ea"/>
          <a:cs typeface="+mn-cs"/>
        </a:defRPr>
      </a:lvl1pPr>
      <a:lvl2pPr marL="10271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5000"/>
        <a:buFont typeface="Lucida Grande"/>
        <a:buChar char="►"/>
        <a:defRPr sz="3200" kern="1200">
          <a:solidFill>
            <a:srgbClr val="858591"/>
          </a:solidFill>
          <a:latin typeface="+mn-lt"/>
          <a:ea typeface="+mn-ea"/>
          <a:cs typeface="+mn-cs"/>
        </a:defRPr>
      </a:lvl2pPr>
      <a:lvl3pPr marL="17129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70000"/>
        <a:buFont typeface="Arial" panose="020B0604020202020204" pitchFamily="34" charset="0"/>
        <a:buChar char="•"/>
        <a:defRPr sz="3200" kern="1200">
          <a:solidFill>
            <a:srgbClr val="858591"/>
          </a:solidFill>
          <a:latin typeface="+mn-lt"/>
          <a:ea typeface="+mn-ea"/>
          <a:cs typeface="+mn-cs"/>
        </a:defRPr>
      </a:lvl3pPr>
      <a:lvl4pPr marL="23987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50000"/>
        <a:buFont typeface="Courier New" panose="02070309020205020404" pitchFamily="49" charset="0"/>
        <a:buChar char="o"/>
        <a:defRPr sz="3200" kern="1200">
          <a:solidFill>
            <a:srgbClr val="858591"/>
          </a:solidFill>
          <a:latin typeface="+mn-lt"/>
          <a:ea typeface="+mn-ea"/>
          <a:cs typeface="+mn-cs"/>
        </a:defRPr>
      </a:lvl4pPr>
      <a:lvl5pPr marL="3084513" indent="-341313" algn="l" defTabSz="1370013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Clr>
          <a:schemeClr val="accent1"/>
        </a:buClr>
        <a:buSzPct val="40000"/>
        <a:buFont typeface="Wingdings" panose="05000000000000000000" pitchFamily="2" charset="2"/>
        <a:buChar char="v"/>
        <a:defRPr sz="3200" kern="1200">
          <a:solidFill>
            <a:srgbClr val="858591"/>
          </a:solidFill>
          <a:latin typeface="+mn-lt"/>
          <a:ea typeface="+mn-ea"/>
          <a:cs typeface="+mn-cs"/>
        </a:defRPr>
      </a:lvl5pPr>
      <a:lvl6pPr marL="377137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075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778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482" indent="-342852" algn="l" defTabSz="1371408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0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12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15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18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23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27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30" algn="l" defTabSz="137140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>
            <a:extLst>
              <a:ext uri="{FF2B5EF4-FFF2-40B4-BE49-F238E27FC236}">
                <a16:creationId xmlns:a16="http://schemas.microsoft.com/office/drawing/2014/main" id="{CFAAED91-A257-BDC5-7C1A-E122E6E0FD82}"/>
              </a:ext>
            </a:extLst>
          </p:cNvPr>
          <p:cNvSpPr/>
          <p:nvPr/>
        </p:nvSpPr>
        <p:spPr>
          <a:xfrm>
            <a:off x="0" y="0"/>
            <a:ext cx="18288000" cy="9002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 sz="89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4D73071-7C9B-9C1B-BFA7-9C5A179613F4}"/>
              </a:ext>
            </a:extLst>
          </p:cNvPr>
          <p:cNvSpPr/>
          <p:nvPr/>
        </p:nvSpPr>
        <p:spPr>
          <a:xfrm>
            <a:off x="0" y="9040813"/>
            <a:ext cx="18288000" cy="1246187"/>
          </a:xfrm>
          <a:prstGeom prst="rect">
            <a:avLst/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solidFill>
                <a:schemeClr val="tx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9F337191-5667-E6C7-8B81-E8B756E491FD}"/>
              </a:ext>
            </a:extLst>
          </p:cNvPr>
          <p:cNvSpPr txBox="1"/>
          <p:nvPr/>
        </p:nvSpPr>
        <p:spPr>
          <a:xfrm>
            <a:off x="4663440" y="2788920"/>
            <a:ext cx="8961120" cy="175431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600" b="1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Comparativa de modelos para la detección de fraude en tarjetas de crédito con aprendizaje automático supervisado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B398E961-200D-1B5E-FC72-7FEC3BA92C03}"/>
              </a:ext>
            </a:extLst>
          </p:cNvPr>
          <p:cNvSpPr txBox="1"/>
          <p:nvPr/>
        </p:nvSpPr>
        <p:spPr>
          <a:xfrm>
            <a:off x="307975" y="6629400"/>
            <a:ext cx="17795875" cy="2011680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s-ES_tradnl" sz="2100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Resampling, interpretabilidad SHAP y validación externa sobre IEEE-CIS</a:t>
            </a:r>
          </a:p>
          <a:p>
            <a:pPr algn="ctr" defTabSz="1371408"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s-ES_tradnl" sz="2100" b="1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Dany Xavier Lucas Garcia</a:t>
            </a:r>
            <a:r>
              <a:rPr lang="es-ES_tradnl" sz="2100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  ·  Director: David Jiménez Cabello</a:t>
            </a:r>
          </a:p>
          <a:p>
            <a:pPr algn="ctr" defTabSz="1371408"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es-ES_tradnl" sz="2100" dirty="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Máster Universitario en Inteligencia Artificial  ·  Julio 2026</a:t>
            </a:r>
          </a:p>
        </p:txBody>
      </p:sp>
      <p:grpSp>
        <p:nvGrpSpPr>
          <p:cNvPr id="10246" name="Agrupar 33">
            <a:extLst>
              <a:ext uri="{FF2B5EF4-FFF2-40B4-BE49-F238E27FC236}">
                <a16:creationId xmlns:a16="http://schemas.microsoft.com/office/drawing/2014/main" id="{680773F2-FF35-A429-F509-E3699711D1E9}"/>
              </a:ext>
            </a:extLst>
          </p:cNvPr>
          <p:cNvGrpSpPr>
            <a:grpSpLocks/>
          </p:cNvGrpSpPr>
          <p:nvPr/>
        </p:nvGrpSpPr>
        <p:grpSpPr bwMode="auto">
          <a:xfrm>
            <a:off x="4294188" y="2455863"/>
            <a:ext cx="795337" cy="708025"/>
            <a:chOff x="1406133" y="686869"/>
            <a:chExt cx="2648037" cy="2353739"/>
          </a:xfrm>
        </p:grpSpPr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CC5B2D7E-6A28-632A-553D-F0DB71932BE5}"/>
                </a:ext>
              </a:extLst>
            </p:cNvPr>
            <p:cNvCxnSpPr/>
            <p:nvPr/>
          </p:nvCxnSpPr>
          <p:spPr>
            <a:xfrm>
              <a:off x="1406133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DB608357-9F3B-D0C1-7F32-31EC7ED2ACB4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47" name="Agrupar 36">
            <a:extLst>
              <a:ext uri="{FF2B5EF4-FFF2-40B4-BE49-F238E27FC236}">
                <a16:creationId xmlns:a16="http://schemas.microsoft.com/office/drawing/2014/main" id="{5BB730AD-E9A2-EE43-5759-3C6221857709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3157200" y="5581650"/>
            <a:ext cx="795338" cy="708025"/>
            <a:chOff x="1406133" y="686869"/>
            <a:chExt cx="2648037" cy="2353739"/>
          </a:xfrm>
        </p:grpSpPr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5F90948D-DBD0-84CD-DE6C-ED2BEA92339D}"/>
                </a:ext>
              </a:extLst>
            </p:cNvPr>
            <p:cNvCxnSpPr/>
            <p:nvPr/>
          </p:nvCxnSpPr>
          <p:spPr>
            <a:xfrm>
              <a:off x="1395562" y="729089"/>
              <a:ext cx="0" cy="2311519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0034FAC-F5A8-079A-5916-115D7B1FB358}"/>
                </a:ext>
              </a:extLst>
            </p:cNvPr>
            <p:cNvCxnSpPr/>
            <p:nvPr/>
          </p:nvCxnSpPr>
          <p:spPr>
            <a:xfrm flipH="1">
              <a:off x="1406133" y="686869"/>
              <a:ext cx="2648037" cy="0"/>
            </a:xfrm>
            <a:prstGeom prst="line">
              <a:avLst/>
            </a:prstGeom>
            <a:ln w="63500" cap="sq">
              <a:solidFill>
                <a:schemeClr val="bg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48" name="Imagen 2" descr="Texto&#10;&#10;Descripción generada automáticamente">
            <a:extLst>
              <a:ext uri="{FF2B5EF4-FFF2-40B4-BE49-F238E27FC236}">
                <a16:creationId xmlns:a16="http://schemas.microsoft.com/office/drawing/2014/main" id="{7D1D7368-8D55-5A8A-F340-4F7F34B16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9247188"/>
            <a:ext cx="33178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E62D4B4-670A-5395-E668-407FE330D8DE}"/>
              </a:ext>
            </a:extLst>
          </p:cNvPr>
          <p:cNvSpPr/>
          <p:nvPr/>
        </p:nvSpPr>
        <p:spPr>
          <a:xfrm rot="5400000" flipH="1" flipV="1">
            <a:off x="-571500" y="571500"/>
            <a:ext cx="10287000" cy="9144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3" rIns="91428" bIns="45713"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4E157-06EF-E4CB-A4FB-72DEA973CE3B}"/>
              </a:ext>
            </a:extLst>
          </p:cNvPr>
          <p:cNvSpPr txBox="1"/>
          <p:nvPr/>
        </p:nvSpPr>
        <p:spPr>
          <a:xfrm>
            <a:off x="10340975" y="3443288"/>
            <a:ext cx="7680960" cy="769937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 b="1" dirty="0">
                <a:solidFill>
                  <a:schemeClr val="accent2"/>
                </a:solidFill>
                <a:latin typeface="+mj-lt"/>
              </a:rPr>
              <a:t>01 – </a:t>
            </a:r>
            <a:r>
              <a:rPr lang="es-ES_tradnl" sz="3200" b="1" dirty="0">
                <a:solidFill>
                  <a:srgbClr val="00566C"/>
                </a:solidFill>
                <a:latin typeface="+mn-lt"/>
              </a:rPr>
              <a:t>Introducción y objetivos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71281-C8D9-49F0-2E6F-E2044AE03C9E}"/>
              </a:ext>
            </a:extLst>
          </p:cNvPr>
          <p:cNvSpPr txBox="1"/>
          <p:nvPr/>
        </p:nvSpPr>
        <p:spPr>
          <a:xfrm>
            <a:off x="10340975" y="4225925"/>
            <a:ext cx="7680960" cy="768350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 b="1" dirty="0">
                <a:solidFill>
                  <a:schemeClr val="accent2"/>
                </a:solidFill>
                <a:latin typeface="+mj-lt"/>
              </a:rPr>
              <a:t>02 – </a:t>
            </a:r>
            <a:r>
              <a:rPr lang="es-ES_tradnl" sz="3200" b="1" dirty="0">
                <a:solidFill>
                  <a:srgbClr val="00566C"/>
                </a:solidFill>
                <a:latin typeface="+mn-lt"/>
              </a:rPr>
              <a:t>Metodología experimental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86DF55-AD7D-A142-E5AC-E2C2A40A8CBC}"/>
              </a:ext>
            </a:extLst>
          </p:cNvPr>
          <p:cNvSpPr txBox="1"/>
          <p:nvPr/>
        </p:nvSpPr>
        <p:spPr>
          <a:xfrm>
            <a:off x="10340975" y="5006975"/>
            <a:ext cx="7680960" cy="769938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 b="1" dirty="0">
                <a:solidFill>
                  <a:schemeClr val="accent2"/>
                </a:solidFill>
                <a:latin typeface="+mj-lt"/>
              </a:rPr>
              <a:t>03 – </a:t>
            </a:r>
            <a:r>
              <a:rPr lang="es-ES_tradnl" sz="3200" b="1" dirty="0">
                <a:solidFill>
                  <a:srgbClr val="00566C"/>
                </a:solidFill>
                <a:latin typeface="+mn-lt"/>
              </a:rPr>
              <a:t>Resultados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0F15C9-E643-1A67-1C48-BF24149CFC2C}"/>
              </a:ext>
            </a:extLst>
          </p:cNvPr>
          <p:cNvSpPr txBox="1"/>
          <p:nvPr/>
        </p:nvSpPr>
        <p:spPr>
          <a:xfrm>
            <a:off x="10340975" y="5789613"/>
            <a:ext cx="7680960" cy="769937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 b="1" dirty="0">
                <a:solidFill>
                  <a:schemeClr val="accent2"/>
                </a:solidFill>
                <a:latin typeface="+mj-lt"/>
              </a:rPr>
              <a:t>04 – </a:t>
            </a:r>
            <a:r>
              <a:rPr lang="es-ES_tradnl" sz="3200" b="1" dirty="0">
                <a:solidFill>
                  <a:srgbClr val="00566C"/>
                </a:solidFill>
                <a:latin typeface="+mn-lt"/>
              </a:rPr>
              <a:t>Conclusiones y aportes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04A08-9DA5-B05A-06BF-9E685E8EAD2D}"/>
              </a:ext>
            </a:extLst>
          </p:cNvPr>
          <p:cNvSpPr txBox="1"/>
          <p:nvPr/>
        </p:nvSpPr>
        <p:spPr>
          <a:xfrm>
            <a:off x="685800" y="4213225"/>
            <a:ext cx="7772400" cy="18462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11400">
                <a:solidFill>
                  <a:schemeClr val="accent4"/>
                </a:solidFill>
                <a:latin typeface="+mj-lt"/>
                <a:ea typeface="Roboto Black" panose="02000000000000000000" pitchFamily="2" charset="0"/>
              </a:rPr>
              <a:t>ÍNDICE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8D671ABC-8F72-5D3C-F0F2-E2CA6A06281C}"/>
              </a:ext>
            </a:extLst>
          </p:cNvPr>
          <p:cNvSpPr txBox="1"/>
          <p:nvPr/>
        </p:nvSpPr>
        <p:spPr>
          <a:xfrm>
            <a:off x="8161338" y="1581150"/>
            <a:ext cx="9509760" cy="144621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800" b="1">
                <a:solidFill>
                  <a:srgbClr val="00566C"/>
                </a:solidFill>
                <a:latin typeface="+mj-lt"/>
              </a:rPr>
              <a:t>pérdidas mundiales por fraude con tarjetas en 2023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000" b="0">
                <a:solidFill>
                  <a:srgbClr val="858591"/>
                </a:solidFill>
                <a:latin typeface="+mj-lt"/>
              </a:rPr>
              <a:t>Nilson Report (2025)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9EBC2E-B47E-9206-8ECF-2BB5F02D9F14}"/>
              </a:ext>
            </a:extLst>
          </p:cNvPr>
          <p:cNvCxnSpPr/>
          <p:nvPr/>
        </p:nvCxnSpPr>
        <p:spPr>
          <a:xfrm>
            <a:off x="7627938" y="1427163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B2A6FEE-C97A-D992-7BDC-57D43D29EA19}"/>
              </a:ext>
            </a:extLst>
          </p:cNvPr>
          <p:cNvSpPr txBox="1"/>
          <p:nvPr/>
        </p:nvSpPr>
        <p:spPr>
          <a:xfrm>
            <a:off x="822960" y="1519238"/>
            <a:ext cx="6583680" cy="155416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000" b="1">
                <a:solidFill>
                  <a:schemeClr val="accent1"/>
                </a:solidFill>
                <a:latin typeface="+mj-lt"/>
              </a:rPr>
              <a:t>33.830 M$</a:t>
            </a:r>
          </a:p>
        </p:txBody>
      </p:sp>
      <p:sp>
        <p:nvSpPr>
          <p:cNvPr id="7" name="TextBox 30">
            <a:extLst>
              <a:ext uri="{FF2B5EF4-FFF2-40B4-BE49-F238E27FC236}">
                <a16:creationId xmlns:a16="http://schemas.microsoft.com/office/drawing/2014/main" id="{2840F444-CDC1-97C5-66E3-A3DD0AE95600}"/>
              </a:ext>
            </a:extLst>
          </p:cNvPr>
          <p:cNvSpPr txBox="1"/>
          <p:nvPr/>
        </p:nvSpPr>
        <p:spPr>
          <a:xfrm>
            <a:off x="8161338" y="4049713"/>
            <a:ext cx="9509760" cy="144621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800" b="1">
                <a:solidFill>
                  <a:srgbClr val="00566C"/>
                </a:solidFill>
                <a:latin typeface="+mj-lt"/>
              </a:rPr>
              <a:t>pérdidas proyectadas por fraude card-not-present para 2030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000" b="0">
                <a:solidFill>
                  <a:srgbClr val="858591"/>
                </a:solidFill>
                <a:latin typeface="+mj-lt"/>
              </a:rPr>
              <a:t>FICO (2025)</a:t>
            </a:r>
          </a:p>
        </p:txBody>
      </p:sp>
      <p:cxnSp>
        <p:nvCxnSpPr>
          <p:cNvPr id="8" name="Straight Connector 2">
            <a:extLst>
              <a:ext uri="{FF2B5EF4-FFF2-40B4-BE49-F238E27FC236}">
                <a16:creationId xmlns:a16="http://schemas.microsoft.com/office/drawing/2014/main" id="{0D96BEE1-F4C0-5B5B-F34B-656D44E3F335}"/>
              </a:ext>
            </a:extLst>
          </p:cNvPr>
          <p:cNvCxnSpPr/>
          <p:nvPr/>
        </p:nvCxnSpPr>
        <p:spPr>
          <a:xfrm>
            <a:off x="7627938" y="3897313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">
            <a:extLst>
              <a:ext uri="{FF2B5EF4-FFF2-40B4-BE49-F238E27FC236}">
                <a16:creationId xmlns:a16="http://schemas.microsoft.com/office/drawing/2014/main" id="{B3BA1805-5F06-26B6-AD4B-28B7DE390745}"/>
              </a:ext>
            </a:extLst>
          </p:cNvPr>
          <p:cNvSpPr txBox="1"/>
          <p:nvPr/>
        </p:nvSpPr>
        <p:spPr>
          <a:xfrm>
            <a:off x="822960" y="3987800"/>
            <a:ext cx="6583680" cy="15541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000" b="1">
                <a:solidFill>
                  <a:schemeClr val="accent1"/>
                </a:solidFill>
                <a:latin typeface="+mj-lt"/>
              </a:rPr>
              <a:t>49.000 M$</a:t>
            </a:r>
          </a:p>
        </p:txBody>
      </p:sp>
      <p:sp>
        <p:nvSpPr>
          <p:cNvPr id="10" name="TextBox 30">
            <a:extLst>
              <a:ext uri="{FF2B5EF4-FFF2-40B4-BE49-F238E27FC236}">
                <a16:creationId xmlns:a16="http://schemas.microsoft.com/office/drawing/2014/main" id="{E71ED9F7-0615-D94B-3FA6-335030EC9CAA}"/>
              </a:ext>
            </a:extLst>
          </p:cNvPr>
          <p:cNvSpPr txBox="1"/>
          <p:nvPr/>
        </p:nvSpPr>
        <p:spPr>
          <a:xfrm>
            <a:off x="8161338" y="6519863"/>
            <a:ext cx="9509760" cy="144621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800" b="1">
                <a:solidFill>
                  <a:srgbClr val="00566C"/>
                </a:solidFill>
                <a:latin typeface="+mj-lt"/>
              </a:rPr>
              <a:t>de transacciones son fraude en ULB: 1 por cada 578 legítimas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000" b="0">
                <a:solidFill>
                  <a:srgbClr val="858591"/>
                </a:solidFill>
                <a:latin typeface="+mj-lt"/>
              </a:rPr>
              <a:t>El reto técnico: desbalance extremo de clases</a:t>
            </a:r>
          </a:p>
        </p:txBody>
      </p:sp>
      <p:cxnSp>
        <p:nvCxnSpPr>
          <p:cNvPr id="11" name="Straight Connector 2">
            <a:extLst>
              <a:ext uri="{FF2B5EF4-FFF2-40B4-BE49-F238E27FC236}">
                <a16:creationId xmlns:a16="http://schemas.microsoft.com/office/drawing/2014/main" id="{05500EE1-53AD-C7A1-B1D2-4D65AF0184CD}"/>
              </a:ext>
            </a:extLst>
          </p:cNvPr>
          <p:cNvCxnSpPr/>
          <p:nvPr/>
        </p:nvCxnSpPr>
        <p:spPr>
          <a:xfrm>
            <a:off x="7627938" y="6365875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3">
            <a:extLst>
              <a:ext uri="{FF2B5EF4-FFF2-40B4-BE49-F238E27FC236}">
                <a16:creationId xmlns:a16="http://schemas.microsoft.com/office/drawing/2014/main" id="{18C1ABE4-EDE3-3336-CFA9-9653188945F3}"/>
              </a:ext>
            </a:extLst>
          </p:cNvPr>
          <p:cNvSpPr txBox="1"/>
          <p:nvPr/>
        </p:nvSpPr>
        <p:spPr>
          <a:xfrm>
            <a:off x="822960" y="6457950"/>
            <a:ext cx="6583680" cy="15541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000" b="1">
                <a:solidFill>
                  <a:schemeClr val="accent1"/>
                </a:solidFill>
                <a:latin typeface="+mj-lt"/>
              </a:rPr>
              <a:t>0,173 %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F874-3A7A-36AF-D850-E8FF6CFC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 dirty="0">
                <a:solidFill>
                  <a:schemeClr val="accent1"/>
                </a:solidFill>
              </a:rPr>
              <a:t>01 Introducción</a:t>
            </a:r>
            <a:br>
              <a:rPr lang="es-ES_tradnl" dirty="0"/>
            </a:br>
            <a:r>
              <a:rPr lang="es-ES_tradnl" dirty="0">
                <a:solidFill>
                  <a:srgbClr val="00566C"/>
                </a:solidFill>
              </a:rPr>
              <a:t>Pregunta de investigación y objetivo</a:t>
            </a: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07D3DA6B-98AD-FE61-3DA2-672D34367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EB48EA59-A2D3-4BAB-8B35-26AD123258B3}" type="slidenum"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4</a:t>
            </a:fld>
            <a:endParaRPr lang="es-ES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  <p:sp>
        <p:nvSpPr>
          <p:cNvPr id="12294" name="TextBox 12293"/>
          <p:cNvSpPr txBox="1"/>
          <p:nvPr/>
        </p:nvSpPr>
        <p:spPr>
          <a:xfrm>
            <a:off x="914400" y="2148840"/>
            <a:ext cx="1645920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3000" b="0">
                <a:solidFill>
                  <a:srgbClr val="219BC3"/>
                </a:solidFill>
                <a:latin typeface="Franklin Gothic Medium"/>
              </a:rPr>
              <a:t>¿Qué modelo supervisado ofrece el mejor equilibrio entre detección de fraude, interpretabilidad y coste computacional… y se sostiene el protocolo en otro dominio?</a:t>
            </a:r>
          </a:p>
        </p:txBody>
      </p:sp>
      <p:sp>
        <p:nvSpPr>
          <p:cNvPr id="12295" name="TextBox 12294"/>
          <p:cNvSpPr txBox="1"/>
          <p:nvPr/>
        </p:nvSpPr>
        <p:spPr>
          <a:xfrm>
            <a:off x="914400" y="4251960"/>
            <a:ext cx="7680960" cy="4389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200" b="0">
                <a:solidFill>
                  <a:srgbClr val="00566C"/>
                </a:solidFill>
                <a:latin typeface="Franklin Gothic Medium"/>
              </a:rPr>
              <a:t>Objetivo general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sz="2200" b="0">
                <a:solidFill>
                  <a:srgbClr val="3C3C48"/>
                </a:solidFill>
                <a:latin typeface="Franklin Gothic Book"/>
              </a:rPr>
              <a:t>Diseñar y aplicar un protocolo experimental sistemático, reproducible y sin data leakage que sirva de referencia metodológica para seleccionar modelos antifraude en banca.</a:t>
            </a:r>
          </a:p>
        </p:txBody>
      </p:sp>
      <p:sp>
        <p:nvSpPr>
          <p:cNvPr id="12296" name="TextBox 12295"/>
          <p:cNvSpPr txBox="1"/>
          <p:nvPr/>
        </p:nvSpPr>
        <p:spPr>
          <a:xfrm>
            <a:off x="9326880" y="4251960"/>
            <a:ext cx="8046720" cy="4389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sz="2200" b="0">
                <a:solidFill>
                  <a:srgbClr val="00566C"/>
                </a:solidFill>
                <a:latin typeface="Franklin Gothic Medium"/>
              </a:rPr>
              <a:t>Cuatro ejes de análisis</a:t>
            </a:r>
          </a:p>
          <a:p>
            <a:pPr marL="274320" indent="-274320" algn="l">
              <a:spcAft>
                <a:spcPts val="1200"/>
              </a:spcAft>
              <a:buClr>
                <a:srgbClr val="219BC3"/>
              </a:buClr>
              <a:buFont typeface="Arial"/>
              <a:buChar char="•"/>
            </a:pPr>
            <a:r>
              <a:rPr sz="2200" b="1">
                <a:solidFill>
                  <a:srgbClr val="00566C"/>
                </a:solidFill>
                <a:latin typeface="Franklin Gothic Book"/>
              </a:rPr>
              <a:t>Comparativa: </a:t>
            </a:r>
            <a:r>
              <a:rPr sz="2200" b="0">
                <a:solidFill>
                  <a:srgbClr val="3C3C48"/>
                </a:solidFill>
                <a:latin typeface="Franklin Gothic Book"/>
              </a:rPr>
              <a:t>5 modelos × 3 estrategias de resampling</a:t>
            </a:r>
          </a:p>
          <a:p>
            <a:pPr marL="274320" indent="-274320" algn="l">
              <a:spcAft>
                <a:spcPts val="1200"/>
              </a:spcAft>
              <a:buClr>
                <a:srgbClr val="219BC3"/>
              </a:buClr>
              <a:buFont typeface="Arial"/>
              <a:buChar char="•"/>
            </a:pPr>
            <a:r>
              <a:rPr sz="2200" b="1">
                <a:solidFill>
                  <a:srgbClr val="00566C"/>
                </a:solidFill>
                <a:latin typeface="Franklin Gothic Book"/>
              </a:rPr>
              <a:t>Desbalance: </a:t>
            </a:r>
            <a:r>
              <a:rPr sz="2200" b="0">
                <a:solidFill>
                  <a:srgbClr val="3C3C48"/>
                </a:solidFill>
                <a:latin typeface="Franklin Gothic Book"/>
              </a:rPr>
              <a:t>sin tratamiento, SMOTE y ADASYN</a:t>
            </a:r>
          </a:p>
          <a:p>
            <a:pPr marL="274320" indent="-274320" algn="l">
              <a:spcAft>
                <a:spcPts val="1200"/>
              </a:spcAft>
              <a:buClr>
                <a:srgbClr val="219BC3"/>
              </a:buClr>
              <a:buFont typeface="Arial"/>
              <a:buChar char="•"/>
            </a:pPr>
            <a:r>
              <a:rPr sz="2200" b="1">
                <a:solidFill>
                  <a:srgbClr val="00566C"/>
                </a:solidFill>
                <a:latin typeface="Franklin Gothic Book"/>
              </a:rPr>
              <a:t>Interpretabilidad y coste: </a:t>
            </a:r>
            <a:r>
              <a:rPr sz="2200" b="0">
                <a:solidFill>
                  <a:srgbClr val="3C3C48"/>
                </a:solidFill>
                <a:latin typeface="Franklin Gothic Book"/>
              </a:rPr>
              <a:t>SHAP y tiempos</a:t>
            </a:r>
          </a:p>
          <a:p>
            <a:pPr marL="274320" indent="-274320" algn="l">
              <a:spcAft>
                <a:spcPts val="1200"/>
              </a:spcAft>
              <a:buClr>
                <a:srgbClr val="219BC3"/>
              </a:buClr>
              <a:buFont typeface="Arial"/>
              <a:buChar char="•"/>
            </a:pPr>
            <a:r>
              <a:rPr sz="2200" b="1">
                <a:solidFill>
                  <a:srgbClr val="00566C"/>
                </a:solidFill>
                <a:latin typeface="Franklin Gothic Book"/>
              </a:rPr>
              <a:t>Validación externa: </a:t>
            </a:r>
            <a:r>
              <a:rPr sz="2200" b="0">
                <a:solidFill>
                  <a:srgbClr val="3C3C48"/>
                </a:solidFill>
                <a:latin typeface="Franklin Gothic Book"/>
              </a:rPr>
              <a:t>protocolo aplicado a IEEE-CIS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F4AC-0242-C393-575C-E8973F63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01 Introducción</a:t>
            </a:r>
            <a:br>
              <a:rPr lang="es-ES_tradnl"/>
            </a:br>
            <a:r>
              <a:rPr lang="es-ES_tradnl">
                <a:solidFill>
                  <a:srgbClr val="00566C"/>
                </a:solidFill>
              </a:rPr>
              <a:t>Contribuciones del trabajo</a:t>
            </a:r>
          </a:p>
        </p:txBody>
      </p:sp>
      <p:grpSp>
        <p:nvGrpSpPr>
          <p:cNvPr id="13315" name="Group 58">
            <a:extLst>
              <a:ext uri="{FF2B5EF4-FFF2-40B4-BE49-F238E27FC236}">
                <a16:creationId xmlns:a16="http://schemas.microsoft.com/office/drawing/2014/main" id="{8EAC4C2E-375E-A813-1C5C-076610D972CE}"/>
              </a:ext>
            </a:extLst>
          </p:cNvPr>
          <p:cNvGrpSpPr>
            <a:grpSpLocks/>
          </p:cNvGrpSpPr>
          <p:nvPr/>
        </p:nvGrpSpPr>
        <p:grpSpPr bwMode="auto">
          <a:xfrm>
            <a:off x="1370013" y="2933700"/>
            <a:ext cx="3694112" cy="4989513"/>
            <a:chOff x="1369272" y="3290036"/>
            <a:chExt cx="3694493" cy="498996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10A3DA-FB22-367C-6E60-7F5E2B729E57}"/>
                </a:ext>
              </a:extLst>
            </p:cNvPr>
            <p:cNvSpPr txBox="1"/>
            <p:nvPr/>
          </p:nvSpPr>
          <p:spPr>
            <a:xfrm>
              <a:off x="1369272" y="4104498"/>
              <a:ext cx="3694493" cy="6461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2600" err="1">
                  <a:solidFill>
                    <a:schemeClr val="accent1"/>
                  </a:solidFill>
                  <a:latin typeface="+mj-lt"/>
                </a:rPr>
                <a:t>Comparativa</a:t>
              </a:r>
            </a:p>
          </p:txBody>
        </p:sp>
        <p:sp>
          <p:nvSpPr>
            <p:cNvPr id="13328" name="Freeform 122">
              <a:extLst>
                <a:ext uri="{FF2B5EF4-FFF2-40B4-BE49-F238E27FC236}">
                  <a16:creationId xmlns:a16="http://schemas.microsoft.com/office/drawing/2014/main" id="{89097637-F475-2103-1769-02A34896FD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9272" y="3290036"/>
              <a:ext cx="628506" cy="628506"/>
            </a:xfrm>
            <a:custGeom>
              <a:avLst/>
              <a:gdLst>
                <a:gd name="T0" fmla="*/ 2147483646 w 176"/>
                <a:gd name="T1" fmla="*/ 663127396 h 176"/>
                <a:gd name="T2" fmla="*/ 2147483646 w 176"/>
                <a:gd name="T3" fmla="*/ 637622908 h 176"/>
                <a:gd name="T4" fmla="*/ 2147483646 w 176"/>
                <a:gd name="T5" fmla="*/ 637622908 h 176"/>
                <a:gd name="T6" fmla="*/ 2147483646 w 176"/>
                <a:gd name="T7" fmla="*/ 624870664 h 176"/>
                <a:gd name="T8" fmla="*/ 2147483646 w 176"/>
                <a:gd name="T9" fmla="*/ 624870664 h 176"/>
                <a:gd name="T10" fmla="*/ 1619559972 w 176"/>
                <a:gd name="T11" fmla="*/ 25504488 h 176"/>
                <a:gd name="T12" fmla="*/ 1619559972 w 176"/>
                <a:gd name="T13" fmla="*/ 25504488 h 176"/>
                <a:gd name="T14" fmla="*/ 1581303241 w 176"/>
                <a:gd name="T15" fmla="*/ 0 h 176"/>
                <a:gd name="T16" fmla="*/ 663127396 w 176"/>
                <a:gd name="T17" fmla="*/ 0 h 176"/>
                <a:gd name="T18" fmla="*/ 624870664 w 176"/>
                <a:gd name="T19" fmla="*/ 25504488 h 176"/>
                <a:gd name="T20" fmla="*/ 624870664 w 176"/>
                <a:gd name="T21" fmla="*/ 25504488 h 176"/>
                <a:gd name="T22" fmla="*/ 12752244 w 176"/>
                <a:gd name="T23" fmla="*/ 624870664 h 176"/>
                <a:gd name="T24" fmla="*/ 12752244 w 176"/>
                <a:gd name="T25" fmla="*/ 624870664 h 176"/>
                <a:gd name="T26" fmla="*/ 12752244 w 176"/>
                <a:gd name="T27" fmla="*/ 637622908 h 176"/>
                <a:gd name="T28" fmla="*/ 12752244 w 176"/>
                <a:gd name="T29" fmla="*/ 637622908 h 176"/>
                <a:gd name="T30" fmla="*/ 0 w 176"/>
                <a:gd name="T31" fmla="*/ 663127396 h 176"/>
                <a:gd name="T32" fmla="*/ 12752244 w 176"/>
                <a:gd name="T33" fmla="*/ 688631884 h 176"/>
                <a:gd name="T34" fmla="*/ 12752244 w 176"/>
                <a:gd name="T35" fmla="*/ 701384128 h 176"/>
                <a:gd name="T36" fmla="*/ 1083958587 w 176"/>
                <a:gd name="T37" fmla="*/ 2147483646 h 176"/>
                <a:gd name="T38" fmla="*/ 1083958587 w 176"/>
                <a:gd name="T39" fmla="*/ 2147483646 h 176"/>
                <a:gd name="T40" fmla="*/ 1122215318 w 176"/>
                <a:gd name="T41" fmla="*/ 2147483646 h 176"/>
                <a:gd name="T42" fmla="*/ 1160472050 w 176"/>
                <a:gd name="T43" fmla="*/ 2147483646 h 176"/>
                <a:gd name="T44" fmla="*/ 1160472050 w 176"/>
                <a:gd name="T45" fmla="*/ 2147483646 h 176"/>
                <a:gd name="T46" fmla="*/ 2147483646 w 176"/>
                <a:gd name="T47" fmla="*/ 701384128 h 176"/>
                <a:gd name="T48" fmla="*/ 2147483646 w 176"/>
                <a:gd name="T49" fmla="*/ 688631884 h 176"/>
                <a:gd name="T50" fmla="*/ 2147483646 w 176"/>
                <a:gd name="T51" fmla="*/ 663127396 h 176"/>
                <a:gd name="T52" fmla="*/ 1555798753 w 176"/>
                <a:gd name="T53" fmla="*/ 102017951 h 176"/>
                <a:gd name="T54" fmla="*/ 2065895651 w 176"/>
                <a:gd name="T55" fmla="*/ 612118420 h 176"/>
                <a:gd name="T56" fmla="*/ 1606807729 w 176"/>
                <a:gd name="T57" fmla="*/ 612118420 h 176"/>
                <a:gd name="T58" fmla="*/ 1351759280 w 176"/>
                <a:gd name="T59" fmla="*/ 102017951 h 176"/>
                <a:gd name="T60" fmla="*/ 1555798753 w 176"/>
                <a:gd name="T61" fmla="*/ 102017951 h 176"/>
                <a:gd name="T62" fmla="*/ 1249741328 w 176"/>
                <a:gd name="T63" fmla="*/ 102017951 h 176"/>
                <a:gd name="T64" fmla="*/ 1504789777 w 176"/>
                <a:gd name="T65" fmla="*/ 612118420 h 176"/>
                <a:gd name="T66" fmla="*/ 739640859 w 176"/>
                <a:gd name="T67" fmla="*/ 612118420 h 176"/>
                <a:gd name="T68" fmla="*/ 994689308 w 176"/>
                <a:gd name="T69" fmla="*/ 102017951 h 176"/>
                <a:gd name="T70" fmla="*/ 1249741328 w 176"/>
                <a:gd name="T71" fmla="*/ 102017951 h 176"/>
                <a:gd name="T72" fmla="*/ 688631884 w 176"/>
                <a:gd name="T73" fmla="*/ 102017951 h 176"/>
                <a:gd name="T74" fmla="*/ 892671357 w 176"/>
                <a:gd name="T75" fmla="*/ 102017951 h 176"/>
                <a:gd name="T76" fmla="*/ 637622908 w 176"/>
                <a:gd name="T77" fmla="*/ 612118420 h 176"/>
                <a:gd name="T78" fmla="*/ 178534986 w 176"/>
                <a:gd name="T79" fmla="*/ 612118420 h 176"/>
                <a:gd name="T80" fmla="*/ 688631884 w 176"/>
                <a:gd name="T81" fmla="*/ 102017951 h 176"/>
                <a:gd name="T82" fmla="*/ 153030498 w 176"/>
                <a:gd name="T83" fmla="*/ 714136371 h 176"/>
                <a:gd name="T84" fmla="*/ 624870664 w 176"/>
                <a:gd name="T85" fmla="*/ 714136371 h 176"/>
                <a:gd name="T86" fmla="*/ 981937064 w 176"/>
                <a:gd name="T87" fmla="*/ 1900112909 h 176"/>
                <a:gd name="T88" fmla="*/ 153030498 w 176"/>
                <a:gd name="T89" fmla="*/ 714136371 h 176"/>
                <a:gd name="T90" fmla="*/ 1122215318 w 176"/>
                <a:gd name="T91" fmla="*/ 2014886675 h 176"/>
                <a:gd name="T92" fmla="*/ 726888615 w 176"/>
                <a:gd name="T93" fmla="*/ 714136371 h 176"/>
                <a:gd name="T94" fmla="*/ 1517542021 w 176"/>
                <a:gd name="T95" fmla="*/ 714136371 h 176"/>
                <a:gd name="T96" fmla="*/ 1122215318 w 176"/>
                <a:gd name="T97" fmla="*/ 2014886675 h 176"/>
                <a:gd name="T98" fmla="*/ 1262493572 w 176"/>
                <a:gd name="T99" fmla="*/ 1900112909 h 176"/>
                <a:gd name="T100" fmla="*/ 1619559972 w 176"/>
                <a:gd name="T101" fmla="*/ 714136371 h 176"/>
                <a:gd name="T102" fmla="*/ 2091400139 w 176"/>
                <a:gd name="T103" fmla="*/ 714136371 h 176"/>
                <a:gd name="T104" fmla="*/ 1262493572 w 176"/>
                <a:gd name="T105" fmla="*/ 1900112909 h 17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76" h="176">
                  <a:moveTo>
                    <a:pt x="176" y="52"/>
                  </a:moveTo>
                  <a:cubicBezTo>
                    <a:pt x="176" y="51"/>
                    <a:pt x="176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6" y="1"/>
                    <a:pt x="125" y="0"/>
                    <a:pt x="12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0" y="1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0" y="50"/>
                    <a:pt x="0" y="51"/>
                    <a:pt x="0" y="52"/>
                  </a:cubicBezTo>
                  <a:cubicBezTo>
                    <a:pt x="0" y="53"/>
                    <a:pt x="0" y="54"/>
                    <a:pt x="1" y="54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4"/>
                    <a:pt x="85" y="174"/>
                    <a:pt x="85" y="174"/>
                  </a:cubicBezTo>
                  <a:cubicBezTo>
                    <a:pt x="86" y="175"/>
                    <a:pt x="87" y="176"/>
                    <a:pt x="88" y="176"/>
                  </a:cubicBezTo>
                  <a:cubicBezTo>
                    <a:pt x="89" y="176"/>
                    <a:pt x="90" y="175"/>
                    <a:pt x="91" y="174"/>
                  </a:cubicBezTo>
                  <a:cubicBezTo>
                    <a:pt x="91" y="175"/>
                    <a:pt x="91" y="175"/>
                    <a:pt x="91" y="17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6" y="54"/>
                    <a:pt x="176" y="53"/>
                    <a:pt x="176" y="52"/>
                  </a:cubicBezTo>
                  <a:moveTo>
                    <a:pt x="122" y="8"/>
                  </a:moveTo>
                  <a:cubicBezTo>
                    <a:pt x="162" y="48"/>
                    <a:pt x="162" y="48"/>
                    <a:pt x="162" y="48"/>
                  </a:cubicBezTo>
                  <a:cubicBezTo>
                    <a:pt x="126" y="48"/>
                    <a:pt x="126" y="48"/>
                    <a:pt x="126" y="48"/>
                  </a:cubicBezTo>
                  <a:cubicBezTo>
                    <a:pt x="106" y="8"/>
                    <a:pt x="106" y="8"/>
                    <a:pt x="106" y="8"/>
                  </a:cubicBezTo>
                  <a:lnTo>
                    <a:pt x="122" y="8"/>
                  </a:lnTo>
                  <a:close/>
                  <a:moveTo>
                    <a:pt x="98" y="8"/>
                  </a:moveTo>
                  <a:cubicBezTo>
                    <a:pt x="118" y="48"/>
                    <a:pt x="118" y="48"/>
                    <a:pt x="11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78" y="8"/>
                    <a:pt x="78" y="8"/>
                    <a:pt x="78" y="8"/>
                  </a:cubicBezTo>
                  <a:lnTo>
                    <a:pt x="98" y="8"/>
                  </a:lnTo>
                  <a:close/>
                  <a:moveTo>
                    <a:pt x="54" y="8"/>
                  </a:moveTo>
                  <a:cubicBezTo>
                    <a:pt x="70" y="8"/>
                    <a:pt x="70" y="8"/>
                    <a:pt x="70" y="8"/>
                  </a:cubicBezTo>
                  <a:cubicBezTo>
                    <a:pt x="50" y="48"/>
                    <a:pt x="50" y="48"/>
                    <a:pt x="50" y="48"/>
                  </a:cubicBezTo>
                  <a:cubicBezTo>
                    <a:pt x="14" y="48"/>
                    <a:pt x="14" y="48"/>
                    <a:pt x="14" y="48"/>
                  </a:cubicBezTo>
                  <a:lnTo>
                    <a:pt x="54" y="8"/>
                  </a:lnTo>
                  <a:close/>
                  <a:moveTo>
                    <a:pt x="12" y="56"/>
                  </a:moveTo>
                  <a:cubicBezTo>
                    <a:pt x="49" y="56"/>
                    <a:pt x="49" y="56"/>
                    <a:pt x="49" y="56"/>
                  </a:cubicBezTo>
                  <a:cubicBezTo>
                    <a:pt x="77" y="149"/>
                    <a:pt x="77" y="149"/>
                    <a:pt x="77" y="149"/>
                  </a:cubicBezTo>
                  <a:lnTo>
                    <a:pt x="12" y="56"/>
                  </a:lnTo>
                  <a:close/>
                  <a:moveTo>
                    <a:pt x="88" y="158"/>
                  </a:moveTo>
                  <a:cubicBezTo>
                    <a:pt x="57" y="56"/>
                    <a:pt x="57" y="56"/>
                    <a:pt x="57" y="56"/>
                  </a:cubicBezTo>
                  <a:cubicBezTo>
                    <a:pt x="119" y="56"/>
                    <a:pt x="119" y="56"/>
                    <a:pt x="119" y="56"/>
                  </a:cubicBezTo>
                  <a:lnTo>
                    <a:pt x="88" y="158"/>
                  </a:lnTo>
                  <a:close/>
                  <a:moveTo>
                    <a:pt x="99" y="149"/>
                  </a:moveTo>
                  <a:cubicBezTo>
                    <a:pt x="127" y="56"/>
                    <a:pt x="127" y="56"/>
                    <a:pt x="127" y="56"/>
                  </a:cubicBezTo>
                  <a:cubicBezTo>
                    <a:pt x="164" y="56"/>
                    <a:pt x="164" y="56"/>
                    <a:pt x="164" y="56"/>
                  </a:cubicBezTo>
                  <a:lnTo>
                    <a:pt x="99" y="1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329" name="TextBox 52">
              <a:extLst>
                <a:ext uri="{FF2B5EF4-FFF2-40B4-BE49-F238E27FC236}">
                  <a16:creationId xmlns:a16="http://schemas.microsoft.com/office/drawing/2014/main" id="{9A2D1223-91DF-F1FE-0F66-AA6C25D32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9272" y="5094513"/>
              <a:ext cx="3583727" cy="3185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1313" indent="-341313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5 modelos × 3 estrategias = 15 combinaciones</a:t>
              </a:r>
            </a:p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Incluye LightGBM y ADASYN, poco evaluados juntos</a:t>
              </a:r>
            </a:p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Protocolo sin data leakage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AB93D08-7EEF-7AEE-D61F-80B83FB3F12C}"/>
              </a:ext>
            </a:extLst>
          </p:cNvPr>
          <p:cNvSpPr txBox="1"/>
          <p:nvPr/>
        </p:nvSpPr>
        <p:spPr>
          <a:xfrm>
            <a:off x="5357813" y="3709988"/>
            <a:ext cx="3640137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600" err="1">
                <a:solidFill>
                  <a:srgbClr val="00566C"/>
                </a:solidFill>
                <a:latin typeface="+mj-lt"/>
              </a:rPr>
              <a:t>SHAP integrado</a:t>
            </a:r>
          </a:p>
        </p:txBody>
      </p:sp>
      <p:sp>
        <p:nvSpPr>
          <p:cNvPr id="47" name="Freeform 441">
            <a:extLst>
              <a:ext uri="{FF2B5EF4-FFF2-40B4-BE49-F238E27FC236}">
                <a16:creationId xmlns:a16="http://schemas.microsoft.com/office/drawing/2014/main" id="{ED40024D-125D-4961-C712-28F6A0A8AB19}"/>
              </a:ext>
            </a:extLst>
          </p:cNvPr>
          <p:cNvSpPr>
            <a:spLocks noEditPoints="1"/>
          </p:cNvSpPr>
          <p:nvPr/>
        </p:nvSpPr>
        <p:spPr bwMode="auto">
          <a:xfrm>
            <a:off x="5357813" y="2933700"/>
            <a:ext cx="573087" cy="573088"/>
          </a:xfrm>
          <a:custGeom>
            <a:avLst/>
            <a:gdLst>
              <a:gd name="T0" fmla="*/ 176 w 176"/>
              <a:gd name="T1" fmla="*/ 52 h 176"/>
              <a:gd name="T2" fmla="*/ 124 w 176"/>
              <a:gd name="T3" fmla="*/ 0 h 176"/>
              <a:gd name="T4" fmla="*/ 88 w 176"/>
              <a:gd name="T5" fmla="*/ 15 h 176"/>
              <a:gd name="T6" fmla="*/ 52 w 176"/>
              <a:gd name="T7" fmla="*/ 0 h 176"/>
              <a:gd name="T8" fmla="*/ 0 w 176"/>
              <a:gd name="T9" fmla="*/ 52 h 176"/>
              <a:gd name="T10" fmla="*/ 0 w 176"/>
              <a:gd name="T11" fmla="*/ 58 h 176"/>
              <a:gd name="T12" fmla="*/ 88 w 176"/>
              <a:gd name="T13" fmla="*/ 176 h 176"/>
              <a:gd name="T14" fmla="*/ 176 w 176"/>
              <a:gd name="T15" fmla="*/ 58 h 176"/>
              <a:gd name="T16" fmla="*/ 176 w 176"/>
              <a:gd name="T17" fmla="*/ 52 h 176"/>
              <a:gd name="T18" fmla="*/ 168 w 176"/>
              <a:gd name="T19" fmla="*/ 57 h 176"/>
              <a:gd name="T20" fmla="*/ 88 w 176"/>
              <a:gd name="T21" fmla="*/ 167 h 176"/>
              <a:gd name="T22" fmla="*/ 8 w 176"/>
              <a:gd name="T23" fmla="*/ 57 h 176"/>
              <a:gd name="T24" fmla="*/ 8 w 176"/>
              <a:gd name="T25" fmla="*/ 52 h 176"/>
              <a:gd name="T26" fmla="*/ 52 w 176"/>
              <a:gd name="T27" fmla="*/ 8 h 176"/>
              <a:gd name="T28" fmla="*/ 82 w 176"/>
              <a:gd name="T29" fmla="*/ 20 h 176"/>
              <a:gd name="T30" fmla="*/ 86 w 176"/>
              <a:gd name="T31" fmla="*/ 24 h 176"/>
              <a:gd name="T32" fmla="*/ 72 w 176"/>
              <a:gd name="T33" fmla="*/ 56 h 176"/>
              <a:gd name="T34" fmla="*/ 92 w 176"/>
              <a:gd name="T35" fmla="*/ 80 h 176"/>
              <a:gd name="T36" fmla="*/ 76 w 176"/>
              <a:gd name="T37" fmla="*/ 116 h 176"/>
              <a:gd name="T38" fmla="*/ 88 w 176"/>
              <a:gd name="T39" fmla="*/ 136 h 176"/>
              <a:gd name="T40" fmla="*/ 85 w 176"/>
              <a:gd name="T41" fmla="*/ 116 h 176"/>
              <a:gd name="T42" fmla="*/ 101 w 176"/>
              <a:gd name="T43" fmla="*/ 78 h 176"/>
              <a:gd name="T44" fmla="*/ 82 w 176"/>
              <a:gd name="T45" fmla="*/ 55 h 176"/>
              <a:gd name="T46" fmla="*/ 98 w 176"/>
              <a:gd name="T47" fmla="*/ 16 h 176"/>
              <a:gd name="T48" fmla="*/ 124 w 176"/>
              <a:gd name="T49" fmla="*/ 8 h 176"/>
              <a:gd name="T50" fmla="*/ 168 w 176"/>
              <a:gd name="T51" fmla="*/ 52 h 176"/>
              <a:gd name="T52" fmla="*/ 168 w 176"/>
              <a:gd name="T53" fmla="*/ 57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176" y="52"/>
                </a:moveTo>
                <a:cubicBezTo>
                  <a:pt x="176" y="23"/>
                  <a:pt x="153" y="0"/>
                  <a:pt x="124" y="0"/>
                </a:cubicBezTo>
                <a:cubicBezTo>
                  <a:pt x="110" y="0"/>
                  <a:pt x="97" y="6"/>
                  <a:pt x="88" y="15"/>
                </a:cubicBezTo>
                <a:cubicBezTo>
                  <a:pt x="79" y="6"/>
                  <a:pt x="66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55"/>
                  <a:pt x="1" y="59"/>
                  <a:pt x="0" y="58"/>
                </a:cubicBezTo>
                <a:cubicBezTo>
                  <a:pt x="6" y="109"/>
                  <a:pt x="80" y="176"/>
                  <a:pt x="88" y="176"/>
                </a:cubicBezTo>
                <a:cubicBezTo>
                  <a:pt x="96" y="176"/>
                  <a:pt x="170" y="109"/>
                  <a:pt x="176" y="58"/>
                </a:cubicBezTo>
                <a:cubicBezTo>
                  <a:pt x="175" y="59"/>
                  <a:pt x="176" y="55"/>
                  <a:pt x="176" y="52"/>
                </a:cubicBezTo>
                <a:moveTo>
                  <a:pt x="168" y="57"/>
                </a:moveTo>
                <a:cubicBezTo>
                  <a:pt x="163" y="100"/>
                  <a:pt x="103" y="158"/>
                  <a:pt x="88" y="167"/>
                </a:cubicBezTo>
                <a:cubicBezTo>
                  <a:pt x="73" y="158"/>
                  <a:pt x="13" y="100"/>
                  <a:pt x="8" y="57"/>
                </a:cubicBezTo>
                <a:cubicBezTo>
                  <a:pt x="8" y="57"/>
                  <a:pt x="8" y="55"/>
                  <a:pt x="8" y="52"/>
                </a:cubicBezTo>
                <a:cubicBezTo>
                  <a:pt x="8" y="28"/>
                  <a:pt x="28" y="8"/>
                  <a:pt x="52" y="8"/>
                </a:cubicBezTo>
                <a:cubicBezTo>
                  <a:pt x="63" y="8"/>
                  <a:pt x="74" y="12"/>
                  <a:pt x="82" y="20"/>
                </a:cubicBezTo>
                <a:cubicBezTo>
                  <a:pt x="86" y="24"/>
                  <a:pt x="86" y="24"/>
                  <a:pt x="86" y="24"/>
                </a:cubicBezTo>
                <a:cubicBezTo>
                  <a:pt x="72" y="56"/>
                  <a:pt x="72" y="56"/>
                  <a:pt x="72" y="56"/>
                </a:cubicBezTo>
                <a:cubicBezTo>
                  <a:pt x="92" y="80"/>
                  <a:pt x="92" y="80"/>
                  <a:pt x="92" y="80"/>
                </a:cubicBezTo>
                <a:cubicBezTo>
                  <a:pt x="76" y="116"/>
                  <a:pt x="76" y="116"/>
                  <a:pt x="76" y="116"/>
                </a:cubicBezTo>
                <a:cubicBezTo>
                  <a:pt x="88" y="136"/>
                  <a:pt x="88" y="136"/>
                  <a:pt x="88" y="136"/>
                </a:cubicBezTo>
                <a:cubicBezTo>
                  <a:pt x="85" y="116"/>
                  <a:pt x="85" y="116"/>
                  <a:pt x="85" y="116"/>
                </a:cubicBezTo>
                <a:cubicBezTo>
                  <a:pt x="101" y="78"/>
                  <a:pt x="101" y="78"/>
                  <a:pt x="101" y="78"/>
                </a:cubicBezTo>
                <a:cubicBezTo>
                  <a:pt x="82" y="55"/>
                  <a:pt x="82" y="55"/>
                  <a:pt x="82" y="55"/>
                </a:cubicBezTo>
                <a:cubicBezTo>
                  <a:pt x="98" y="16"/>
                  <a:pt x="98" y="16"/>
                  <a:pt x="98" y="16"/>
                </a:cubicBezTo>
                <a:cubicBezTo>
                  <a:pt x="106" y="11"/>
                  <a:pt x="115" y="8"/>
                  <a:pt x="124" y="8"/>
                </a:cubicBezTo>
                <a:cubicBezTo>
                  <a:pt x="148" y="8"/>
                  <a:pt x="168" y="28"/>
                  <a:pt x="168" y="52"/>
                </a:cubicBezTo>
                <a:cubicBezTo>
                  <a:pt x="168" y="55"/>
                  <a:pt x="168" y="57"/>
                  <a:pt x="168" y="57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latin typeface="+mn-lt"/>
            </a:endParaRPr>
          </a:p>
        </p:txBody>
      </p:sp>
      <p:sp>
        <p:nvSpPr>
          <p:cNvPr id="13318" name="TextBox 53">
            <a:extLst>
              <a:ext uri="{FF2B5EF4-FFF2-40B4-BE49-F238E27FC236}">
                <a16:creationId xmlns:a16="http://schemas.microsoft.com/office/drawing/2014/main" id="{9FD3894D-8C93-FA9D-C4CB-A9B2E2D66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4738688"/>
            <a:ext cx="3582987" cy="188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 dirty="0">
                <a:solidFill>
                  <a:schemeClr val="tx2"/>
                </a:solidFill>
              </a:rPr>
              <a:t>Interpretabilidad dentro del protocolo.</a:t>
            </a:r>
          </a:p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 dirty="0">
                <a:solidFill>
                  <a:schemeClr val="tx2"/>
                </a:solidFill>
              </a:rPr>
              <a:t>Explicaciones globales y locales</a:t>
            </a:r>
          </a:p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 dirty="0">
                <a:solidFill>
                  <a:schemeClr val="tx2"/>
                </a:solidFill>
              </a:rPr>
              <a:t>Trazabilidad para auditoría</a:t>
            </a:r>
          </a:p>
        </p:txBody>
      </p:sp>
      <p:grpSp>
        <p:nvGrpSpPr>
          <p:cNvPr id="13319" name="Group 61">
            <a:extLst>
              <a:ext uri="{FF2B5EF4-FFF2-40B4-BE49-F238E27FC236}">
                <a16:creationId xmlns:a16="http://schemas.microsoft.com/office/drawing/2014/main" id="{C3156ACE-08A6-4BFF-3949-13B9A5156286}"/>
              </a:ext>
            </a:extLst>
          </p:cNvPr>
          <p:cNvGrpSpPr>
            <a:grpSpLocks/>
          </p:cNvGrpSpPr>
          <p:nvPr/>
        </p:nvGrpSpPr>
        <p:grpSpPr bwMode="auto">
          <a:xfrm>
            <a:off x="9290050" y="2933700"/>
            <a:ext cx="3695700" cy="4989513"/>
            <a:chOff x="9194237" y="3290036"/>
            <a:chExt cx="3694492" cy="498996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45AE57-778F-715E-50D0-4ADC80B9A4A0}"/>
                </a:ext>
              </a:extLst>
            </p:cNvPr>
            <p:cNvSpPr txBox="1"/>
            <p:nvPr/>
          </p:nvSpPr>
          <p:spPr>
            <a:xfrm>
              <a:off x="9194237" y="4060044"/>
              <a:ext cx="3694492" cy="6461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2600" err="1">
                  <a:solidFill>
                    <a:schemeClr val="accent1"/>
                  </a:solidFill>
                  <a:latin typeface="+mj-lt"/>
                </a:rPr>
                <a:t>Coste medido</a:t>
              </a:r>
            </a:p>
          </p:txBody>
        </p:sp>
        <p:sp>
          <p:nvSpPr>
            <p:cNvPr id="13325" name="Freeform 355">
              <a:extLst>
                <a:ext uri="{FF2B5EF4-FFF2-40B4-BE49-F238E27FC236}">
                  <a16:creationId xmlns:a16="http://schemas.microsoft.com/office/drawing/2014/main" id="{724FCC71-BF36-0C27-7181-39B49BE702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94237" y="3290036"/>
              <a:ext cx="614728" cy="628384"/>
            </a:xfrm>
            <a:custGeom>
              <a:avLst/>
              <a:gdLst>
                <a:gd name="T0" fmla="*/ 585573826 w 176"/>
                <a:gd name="T1" fmla="*/ 611878209 h 176"/>
                <a:gd name="T2" fmla="*/ 378183460 w 176"/>
                <a:gd name="T3" fmla="*/ 331433286 h 176"/>
                <a:gd name="T4" fmla="*/ 317185677 w 176"/>
                <a:gd name="T5" fmla="*/ 395171418 h 176"/>
                <a:gd name="T6" fmla="*/ 390383715 w 176"/>
                <a:gd name="T7" fmla="*/ 1121779692 h 176"/>
                <a:gd name="T8" fmla="*/ 48797528 w 176"/>
                <a:gd name="T9" fmla="*/ 1070791329 h 176"/>
                <a:gd name="T10" fmla="*/ 48797528 w 176"/>
                <a:gd name="T11" fmla="*/ 1172768055 h 176"/>
                <a:gd name="T12" fmla="*/ 390383715 w 176"/>
                <a:gd name="T13" fmla="*/ 1121779692 h 176"/>
                <a:gd name="T14" fmla="*/ 1122350124 w 176"/>
                <a:gd name="T15" fmla="*/ 356929253 h 176"/>
                <a:gd name="T16" fmla="*/ 1073552597 w 176"/>
                <a:gd name="T17" fmla="*/ 0 h 176"/>
                <a:gd name="T18" fmla="*/ 1024755069 w 176"/>
                <a:gd name="T19" fmla="*/ 356929253 h 176"/>
                <a:gd name="T20" fmla="*/ 1622529150 w 176"/>
                <a:gd name="T21" fmla="*/ 611878209 h 176"/>
                <a:gd name="T22" fmla="*/ 1829919516 w 176"/>
                <a:gd name="T23" fmla="*/ 331433286 h 176"/>
                <a:gd name="T24" fmla="*/ 1561531367 w 176"/>
                <a:gd name="T25" fmla="*/ 548143648 h 176"/>
                <a:gd name="T26" fmla="*/ 1622529150 w 176"/>
                <a:gd name="T27" fmla="*/ 611878209 h 176"/>
                <a:gd name="T28" fmla="*/ 317185677 w 176"/>
                <a:gd name="T29" fmla="*/ 1848387966 h 176"/>
                <a:gd name="T30" fmla="*/ 378183460 w 176"/>
                <a:gd name="T31" fmla="*/ 1912126097 h 176"/>
                <a:gd name="T32" fmla="*/ 585573826 w 176"/>
                <a:gd name="T33" fmla="*/ 1631681174 h 176"/>
                <a:gd name="T34" fmla="*/ 2098307665 w 176"/>
                <a:gd name="T35" fmla="*/ 1070791329 h 176"/>
                <a:gd name="T36" fmla="*/ 1756721478 w 176"/>
                <a:gd name="T37" fmla="*/ 1121779692 h 176"/>
                <a:gd name="T38" fmla="*/ 2098307665 w 176"/>
                <a:gd name="T39" fmla="*/ 1172768055 h 176"/>
                <a:gd name="T40" fmla="*/ 2098307665 w 176"/>
                <a:gd name="T41" fmla="*/ 1070791329 h 176"/>
                <a:gd name="T42" fmla="*/ 1561531367 w 176"/>
                <a:gd name="T43" fmla="*/ 1631681174 h 176"/>
                <a:gd name="T44" fmla="*/ 1768921733 w 176"/>
                <a:gd name="T45" fmla="*/ 1912126097 h 176"/>
                <a:gd name="T46" fmla="*/ 1829919516 w 176"/>
                <a:gd name="T47" fmla="*/ 1848387966 h 176"/>
                <a:gd name="T48" fmla="*/ 1073552597 w 176"/>
                <a:gd name="T49" fmla="*/ 509901483 h 176"/>
                <a:gd name="T50" fmla="*/ 1073552597 w 176"/>
                <a:gd name="T51" fmla="*/ 1733657901 h 176"/>
                <a:gd name="T52" fmla="*/ 1073552597 w 176"/>
                <a:gd name="T53" fmla="*/ 509901483 h 176"/>
                <a:gd name="T54" fmla="*/ 585573826 w 176"/>
                <a:gd name="T55" fmla="*/ 1121779692 h 176"/>
                <a:gd name="T56" fmla="*/ 1561531367 w 176"/>
                <a:gd name="T57" fmla="*/ 1121779692 h 176"/>
                <a:gd name="T58" fmla="*/ 1073552597 w 176"/>
                <a:gd name="T59" fmla="*/ 1835638197 h 176"/>
                <a:gd name="T60" fmla="*/ 1024755069 w 176"/>
                <a:gd name="T61" fmla="*/ 2147483646 h 176"/>
                <a:gd name="T62" fmla="*/ 1122350124 w 176"/>
                <a:gd name="T63" fmla="*/ 2147483646 h 176"/>
                <a:gd name="T64" fmla="*/ 1073552597 w 176"/>
                <a:gd name="T65" fmla="*/ 1835638197 h 1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76" h="176">
                  <a:moveTo>
                    <a:pt x="43" y="48"/>
                  </a:moveTo>
                  <a:cubicBezTo>
                    <a:pt x="44" y="50"/>
                    <a:pt x="47" y="50"/>
                    <a:pt x="48" y="48"/>
                  </a:cubicBezTo>
                  <a:cubicBezTo>
                    <a:pt x="50" y="47"/>
                    <a:pt x="50" y="44"/>
                    <a:pt x="48" y="43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0" y="24"/>
                    <a:pt x="27" y="24"/>
                    <a:pt x="26" y="26"/>
                  </a:cubicBezTo>
                  <a:cubicBezTo>
                    <a:pt x="24" y="27"/>
                    <a:pt x="24" y="30"/>
                    <a:pt x="26" y="31"/>
                  </a:cubicBezTo>
                  <a:lnTo>
                    <a:pt x="43" y="48"/>
                  </a:lnTo>
                  <a:close/>
                  <a:moveTo>
                    <a:pt x="32" y="88"/>
                  </a:moveTo>
                  <a:cubicBezTo>
                    <a:pt x="32" y="86"/>
                    <a:pt x="30" y="84"/>
                    <a:pt x="28" y="84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2" y="84"/>
                    <a:pt x="0" y="86"/>
                    <a:pt x="0" y="88"/>
                  </a:cubicBezTo>
                  <a:cubicBezTo>
                    <a:pt x="0" y="90"/>
                    <a:pt x="2" y="92"/>
                    <a:pt x="4" y="92"/>
                  </a:cubicBezTo>
                  <a:cubicBezTo>
                    <a:pt x="28" y="92"/>
                    <a:pt x="28" y="92"/>
                    <a:pt x="28" y="92"/>
                  </a:cubicBezTo>
                  <a:cubicBezTo>
                    <a:pt x="30" y="92"/>
                    <a:pt x="32" y="90"/>
                    <a:pt x="32" y="88"/>
                  </a:cubicBezTo>
                  <a:moveTo>
                    <a:pt x="88" y="32"/>
                  </a:moveTo>
                  <a:cubicBezTo>
                    <a:pt x="90" y="32"/>
                    <a:pt x="92" y="30"/>
                    <a:pt x="92" y="28"/>
                  </a:cubicBezTo>
                  <a:cubicBezTo>
                    <a:pt x="92" y="4"/>
                    <a:pt x="92" y="4"/>
                    <a:pt x="92" y="4"/>
                  </a:cubicBezTo>
                  <a:cubicBezTo>
                    <a:pt x="92" y="2"/>
                    <a:pt x="90" y="0"/>
                    <a:pt x="88" y="0"/>
                  </a:cubicBezTo>
                  <a:cubicBezTo>
                    <a:pt x="86" y="0"/>
                    <a:pt x="84" y="2"/>
                    <a:pt x="84" y="4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4" y="30"/>
                    <a:pt x="86" y="32"/>
                    <a:pt x="88" y="32"/>
                  </a:cubicBezTo>
                  <a:moveTo>
                    <a:pt x="133" y="48"/>
                  </a:moveTo>
                  <a:cubicBezTo>
                    <a:pt x="150" y="31"/>
                    <a:pt x="150" y="31"/>
                    <a:pt x="150" y="31"/>
                  </a:cubicBezTo>
                  <a:cubicBezTo>
                    <a:pt x="152" y="30"/>
                    <a:pt x="152" y="27"/>
                    <a:pt x="150" y="26"/>
                  </a:cubicBezTo>
                  <a:cubicBezTo>
                    <a:pt x="149" y="24"/>
                    <a:pt x="146" y="24"/>
                    <a:pt x="145" y="26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6" y="44"/>
                    <a:pt x="126" y="47"/>
                    <a:pt x="128" y="48"/>
                  </a:cubicBezTo>
                  <a:cubicBezTo>
                    <a:pt x="129" y="50"/>
                    <a:pt x="132" y="50"/>
                    <a:pt x="133" y="48"/>
                  </a:cubicBezTo>
                  <a:moveTo>
                    <a:pt x="43" y="128"/>
                  </a:moveTo>
                  <a:cubicBezTo>
                    <a:pt x="26" y="145"/>
                    <a:pt x="26" y="145"/>
                    <a:pt x="26" y="145"/>
                  </a:cubicBezTo>
                  <a:cubicBezTo>
                    <a:pt x="24" y="146"/>
                    <a:pt x="24" y="149"/>
                    <a:pt x="26" y="150"/>
                  </a:cubicBezTo>
                  <a:cubicBezTo>
                    <a:pt x="27" y="152"/>
                    <a:pt x="30" y="152"/>
                    <a:pt x="31" y="150"/>
                  </a:cubicBezTo>
                  <a:cubicBezTo>
                    <a:pt x="48" y="133"/>
                    <a:pt x="48" y="133"/>
                    <a:pt x="48" y="133"/>
                  </a:cubicBezTo>
                  <a:cubicBezTo>
                    <a:pt x="50" y="132"/>
                    <a:pt x="50" y="129"/>
                    <a:pt x="48" y="128"/>
                  </a:cubicBezTo>
                  <a:cubicBezTo>
                    <a:pt x="47" y="126"/>
                    <a:pt x="44" y="126"/>
                    <a:pt x="43" y="128"/>
                  </a:cubicBezTo>
                  <a:moveTo>
                    <a:pt x="172" y="84"/>
                  </a:moveTo>
                  <a:cubicBezTo>
                    <a:pt x="148" y="84"/>
                    <a:pt x="148" y="84"/>
                    <a:pt x="148" y="84"/>
                  </a:cubicBezTo>
                  <a:cubicBezTo>
                    <a:pt x="146" y="84"/>
                    <a:pt x="144" y="86"/>
                    <a:pt x="144" y="88"/>
                  </a:cubicBezTo>
                  <a:cubicBezTo>
                    <a:pt x="144" y="90"/>
                    <a:pt x="146" y="92"/>
                    <a:pt x="148" y="92"/>
                  </a:cubicBezTo>
                  <a:cubicBezTo>
                    <a:pt x="172" y="92"/>
                    <a:pt x="172" y="92"/>
                    <a:pt x="172" y="92"/>
                  </a:cubicBezTo>
                  <a:cubicBezTo>
                    <a:pt x="174" y="92"/>
                    <a:pt x="176" y="90"/>
                    <a:pt x="176" y="88"/>
                  </a:cubicBezTo>
                  <a:cubicBezTo>
                    <a:pt x="176" y="86"/>
                    <a:pt x="174" y="84"/>
                    <a:pt x="172" y="84"/>
                  </a:cubicBezTo>
                  <a:moveTo>
                    <a:pt x="133" y="128"/>
                  </a:moveTo>
                  <a:cubicBezTo>
                    <a:pt x="132" y="126"/>
                    <a:pt x="129" y="126"/>
                    <a:pt x="128" y="128"/>
                  </a:cubicBezTo>
                  <a:cubicBezTo>
                    <a:pt x="126" y="129"/>
                    <a:pt x="126" y="132"/>
                    <a:pt x="128" y="133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46" y="152"/>
                    <a:pt x="149" y="152"/>
                    <a:pt x="150" y="150"/>
                  </a:cubicBezTo>
                  <a:cubicBezTo>
                    <a:pt x="152" y="149"/>
                    <a:pt x="152" y="146"/>
                    <a:pt x="150" y="145"/>
                  </a:cubicBezTo>
                  <a:lnTo>
                    <a:pt x="133" y="128"/>
                  </a:lnTo>
                  <a:close/>
                  <a:moveTo>
                    <a:pt x="88" y="40"/>
                  </a:moveTo>
                  <a:cubicBezTo>
                    <a:pt x="61" y="40"/>
                    <a:pt x="40" y="61"/>
                    <a:pt x="40" y="88"/>
                  </a:cubicBezTo>
                  <a:cubicBezTo>
                    <a:pt x="40" y="115"/>
                    <a:pt x="61" y="136"/>
                    <a:pt x="88" y="136"/>
                  </a:cubicBezTo>
                  <a:cubicBezTo>
                    <a:pt x="115" y="136"/>
                    <a:pt x="136" y="115"/>
                    <a:pt x="136" y="88"/>
                  </a:cubicBezTo>
                  <a:cubicBezTo>
                    <a:pt x="136" y="61"/>
                    <a:pt x="115" y="40"/>
                    <a:pt x="88" y="40"/>
                  </a:cubicBezTo>
                  <a:moveTo>
                    <a:pt x="88" y="128"/>
                  </a:moveTo>
                  <a:cubicBezTo>
                    <a:pt x="66" y="128"/>
                    <a:pt x="48" y="110"/>
                    <a:pt x="48" y="88"/>
                  </a:cubicBezTo>
                  <a:cubicBezTo>
                    <a:pt x="48" y="66"/>
                    <a:pt x="66" y="48"/>
                    <a:pt x="88" y="48"/>
                  </a:cubicBezTo>
                  <a:cubicBezTo>
                    <a:pt x="110" y="48"/>
                    <a:pt x="128" y="66"/>
                    <a:pt x="128" y="88"/>
                  </a:cubicBezTo>
                  <a:cubicBezTo>
                    <a:pt x="128" y="110"/>
                    <a:pt x="110" y="128"/>
                    <a:pt x="88" y="128"/>
                  </a:cubicBezTo>
                  <a:moveTo>
                    <a:pt x="88" y="144"/>
                  </a:moveTo>
                  <a:cubicBezTo>
                    <a:pt x="86" y="144"/>
                    <a:pt x="84" y="146"/>
                    <a:pt x="84" y="148"/>
                  </a:cubicBezTo>
                  <a:cubicBezTo>
                    <a:pt x="84" y="172"/>
                    <a:pt x="84" y="172"/>
                    <a:pt x="84" y="172"/>
                  </a:cubicBezTo>
                  <a:cubicBezTo>
                    <a:pt x="84" y="174"/>
                    <a:pt x="86" y="176"/>
                    <a:pt x="88" y="176"/>
                  </a:cubicBezTo>
                  <a:cubicBezTo>
                    <a:pt x="90" y="176"/>
                    <a:pt x="92" y="174"/>
                    <a:pt x="92" y="172"/>
                  </a:cubicBezTo>
                  <a:cubicBezTo>
                    <a:pt x="92" y="148"/>
                    <a:pt x="92" y="148"/>
                    <a:pt x="92" y="148"/>
                  </a:cubicBezTo>
                  <a:cubicBezTo>
                    <a:pt x="92" y="146"/>
                    <a:pt x="90" y="144"/>
                    <a:pt x="88" y="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326" name="TextBox 54">
              <a:extLst>
                <a:ext uri="{FF2B5EF4-FFF2-40B4-BE49-F238E27FC236}">
                  <a16:creationId xmlns:a16="http://schemas.microsoft.com/office/drawing/2014/main" id="{ACBF8C90-7CEB-32A5-8212-004D9E219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94237" y="5094513"/>
              <a:ext cx="3583726" cy="3185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1313" indent="-341313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Tiempo de entrenamiento e inferencia por combinación</a:t>
              </a:r>
            </a:p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Aspecto casi ausente en la literatura</a:t>
              </a:r>
            </a:p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2000">
                  <a:solidFill>
                    <a:schemeClr val="tx2"/>
                  </a:solidFill>
                </a:rPr>
                <a:t>Clave para producción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C41E2B4-4C72-BAC1-F672-DB10CB32325E}"/>
              </a:ext>
            </a:extLst>
          </p:cNvPr>
          <p:cNvSpPr txBox="1"/>
          <p:nvPr/>
        </p:nvSpPr>
        <p:spPr>
          <a:xfrm>
            <a:off x="13277850" y="3706813"/>
            <a:ext cx="3640138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600" err="1">
                <a:solidFill>
                  <a:srgbClr val="00566C"/>
                </a:solidFill>
                <a:latin typeface="+mj-lt"/>
              </a:rPr>
              <a:t>Validación externa</a:t>
            </a:r>
          </a:p>
        </p:txBody>
      </p:sp>
      <p:sp>
        <p:nvSpPr>
          <p:cNvPr id="46" name="Freeform 371">
            <a:extLst>
              <a:ext uri="{FF2B5EF4-FFF2-40B4-BE49-F238E27FC236}">
                <a16:creationId xmlns:a16="http://schemas.microsoft.com/office/drawing/2014/main" id="{1A4DF130-CEC9-966D-66C3-5A8D5C8711AB}"/>
              </a:ext>
            </a:extLst>
          </p:cNvPr>
          <p:cNvSpPr>
            <a:spLocks noEditPoints="1"/>
          </p:cNvSpPr>
          <p:nvPr/>
        </p:nvSpPr>
        <p:spPr bwMode="auto">
          <a:xfrm>
            <a:off x="13277850" y="2933700"/>
            <a:ext cx="628650" cy="628650"/>
          </a:xfrm>
          <a:custGeom>
            <a:avLst/>
            <a:gdLst>
              <a:gd name="T0" fmla="*/ 96 w 176"/>
              <a:gd name="T1" fmla="*/ 124 h 176"/>
              <a:gd name="T2" fmla="*/ 92 w 176"/>
              <a:gd name="T3" fmla="*/ 120 h 176"/>
              <a:gd name="T4" fmla="*/ 89 w 176"/>
              <a:gd name="T5" fmla="*/ 121 h 176"/>
              <a:gd name="T6" fmla="*/ 65 w 176"/>
              <a:gd name="T7" fmla="*/ 145 h 176"/>
              <a:gd name="T8" fmla="*/ 64 w 176"/>
              <a:gd name="T9" fmla="*/ 148 h 176"/>
              <a:gd name="T10" fmla="*/ 68 w 176"/>
              <a:gd name="T11" fmla="*/ 152 h 176"/>
              <a:gd name="T12" fmla="*/ 82 w 176"/>
              <a:gd name="T13" fmla="*/ 152 h 176"/>
              <a:gd name="T14" fmla="*/ 65 w 176"/>
              <a:gd name="T15" fmla="*/ 169 h 176"/>
              <a:gd name="T16" fmla="*/ 64 w 176"/>
              <a:gd name="T17" fmla="*/ 172 h 176"/>
              <a:gd name="T18" fmla="*/ 68 w 176"/>
              <a:gd name="T19" fmla="*/ 176 h 176"/>
              <a:gd name="T20" fmla="*/ 71 w 176"/>
              <a:gd name="T21" fmla="*/ 175 h 176"/>
              <a:gd name="T22" fmla="*/ 95 w 176"/>
              <a:gd name="T23" fmla="*/ 151 h 176"/>
              <a:gd name="T24" fmla="*/ 96 w 176"/>
              <a:gd name="T25" fmla="*/ 148 h 176"/>
              <a:gd name="T26" fmla="*/ 92 w 176"/>
              <a:gd name="T27" fmla="*/ 144 h 176"/>
              <a:gd name="T28" fmla="*/ 92 w 176"/>
              <a:gd name="T29" fmla="*/ 144 h 176"/>
              <a:gd name="T30" fmla="*/ 78 w 176"/>
              <a:gd name="T31" fmla="*/ 144 h 176"/>
              <a:gd name="T32" fmla="*/ 95 w 176"/>
              <a:gd name="T33" fmla="*/ 127 h 176"/>
              <a:gd name="T34" fmla="*/ 96 w 176"/>
              <a:gd name="T35" fmla="*/ 124 h 176"/>
              <a:gd name="T36" fmla="*/ 52 w 176"/>
              <a:gd name="T37" fmla="*/ 128 h 176"/>
              <a:gd name="T38" fmla="*/ 49 w 176"/>
              <a:gd name="T39" fmla="*/ 129 h 176"/>
              <a:gd name="T40" fmla="*/ 25 w 176"/>
              <a:gd name="T41" fmla="*/ 153 h 176"/>
              <a:gd name="T42" fmla="*/ 24 w 176"/>
              <a:gd name="T43" fmla="*/ 156 h 176"/>
              <a:gd name="T44" fmla="*/ 28 w 176"/>
              <a:gd name="T45" fmla="*/ 160 h 176"/>
              <a:gd name="T46" fmla="*/ 31 w 176"/>
              <a:gd name="T47" fmla="*/ 159 h 176"/>
              <a:gd name="T48" fmla="*/ 55 w 176"/>
              <a:gd name="T49" fmla="*/ 135 h 176"/>
              <a:gd name="T50" fmla="*/ 56 w 176"/>
              <a:gd name="T51" fmla="*/ 132 h 176"/>
              <a:gd name="T52" fmla="*/ 52 w 176"/>
              <a:gd name="T53" fmla="*/ 128 h 176"/>
              <a:gd name="T54" fmla="*/ 152 w 176"/>
              <a:gd name="T55" fmla="*/ 41 h 176"/>
              <a:gd name="T56" fmla="*/ 152 w 176"/>
              <a:gd name="T57" fmla="*/ 40 h 176"/>
              <a:gd name="T58" fmla="*/ 128 w 176"/>
              <a:gd name="T59" fmla="*/ 16 h 176"/>
              <a:gd name="T60" fmla="*/ 112 w 176"/>
              <a:gd name="T61" fmla="*/ 22 h 176"/>
              <a:gd name="T62" fmla="*/ 72 w 176"/>
              <a:gd name="T63" fmla="*/ 0 h 176"/>
              <a:gd name="T64" fmla="*/ 25 w 176"/>
              <a:gd name="T65" fmla="*/ 41 h 176"/>
              <a:gd name="T66" fmla="*/ 0 w 176"/>
              <a:gd name="T67" fmla="*/ 72 h 176"/>
              <a:gd name="T68" fmla="*/ 32 w 176"/>
              <a:gd name="T69" fmla="*/ 104 h 176"/>
              <a:gd name="T70" fmla="*/ 144 w 176"/>
              <a:gd name="T71" fmla="*/ 104 h 176"/>
              <a:gd name="T72" fmla="*/ 176 w 176"/>
              <a:gd name="T73" fmla="*/ 72 h 176"/>
              <a:gd name="T74" fmla="*/ 152 w 176"/>
              <a:gd name="T75" fmla="*/ 41 h 176"/>
              <a:gd name="T76" fmla="*/ 144 w 176"/>
              <a:gd name="T77" fmla="*/ 96 h 176"/>
              <a:gd name="T78" fmla="*/ 32 w 176"/>
              <a:gd name="T79" fmla="*/ 96 h 176"/>
              <a:gd name="T80" fmla="*/ 8 w 176"/>
              <a:gd name="T81" fmla="*/ 72 h 176"/>
              <a:gd name="T82" fmla="*/ 26 w 176"/>
              <a:gd name="T83" fmla="*/ 49 h 176"/>
              <a:gd name="T84" fmla="*/ 32 w 176"/>
              <a:gd name="T85" fmla="*/ 42 h 176"/>
              <a:gd name="T86" fmla="*/ 72 w 176"/>
              <a:gd name="T87" fmla="*/ 8 h 176"/>
              <a:gd name="T88" fmla="*/ 102 w 176"/>
              <a:gd name="T89" fmla="*/ 22 h 176"/>
              <a:gd name="T90" fmla="*/ 111 w 176"/>
              <a:gd name="T91" fmla="*/ 30 h 176"/>
              <a:gd name="T92" fmla="*/ 112 w 176"/>
              <a:gd name="T93" fmla="*/ 30 h 176"/>
              <a:gd name="T94" fmla="*/ 117 w 176"/>
              <a:gd name="T95" fmla="*/ 28 h 176"/>
              <a:gd name="T96" fmla="*/ 128 w 176"/>
              <a:gd name="T97" fmla="*/ 24 h 176"/>
              <a:gd name="T98" fmla="*/ 144 w 176"/>
              <a:gd name="T99" fmla="*/ 40 h 176"/>
              <a:gd name="T100" fmla="*/ 144 w 176"/>
              <a:gd name="T101" fmla="*/ 41 h 176"/>
              <a:gd name="T102" fmla="*/ 150 w 176"/>
              <a:gd name="T103" fmla="*/ 49 h 176"/>
              <a:gd name="T104" fmla="*/ 168 w 176"/>
              <a:gd name="T105" fmla="*/ 72 h 176"/>
              <a:gd name="T106" fmla="*/ 144 w 176"/>
              <a:gd name="T107" fmla="*/ 96 h 176"/>
              <a:gd name="T108" fmla="*/ 136 w 176"/>
              <a:gd name="T109" fmla="*/ 128 h 176"/>
              <a:gd name="T110" fmla="*/ 133 w 176"/>
              <a:gd name="T111" fmla="*/ 129 h 176"/>
              <a:gd name="T112" fmla="*/ 109 w 176"/>
              <a:gd name="T113" fmla="*/ 153 h 176"/>
              <a:gd name="T114" fmla="*/ 108 w 176"/>
              <a:gd name="T115" fmla="*/ 156 h 176"/>
              <a:gd name="T116" fmla="*/ 112 w 176"/>
              <a:gd name="T117" fmla="*/ 160 h 176"/>
              <a:gd name="T118" fmla="*/ 115 w 176"/>
              <a:gd name="T119" fmla="*/ 159 h 176"/>
              <a:gd name="T120" fmla="*/ 139 w 176"/>
              <a:gd name="T121" fmla="*/ 135 h 176"/>
              <a:gd name="T122" fmla="*/ 140 w 176"/>
              <a:gd name="T123" fmla="*/ 132 h 176"/>
              <a:gd name="T124" fmla="*/ 136 w 176"/>
              <a:gd name="T125" fmla="*/ 12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76" h="176">
                <a:moveTo>
                  <a:pt x="96" y="124"/>
                </a:moveTo>
                <a:cubicBezTo>
                  <a:pt x="96" y="122"/>
                  <a:pt x="94" y="120"/>
                  <a:pt x="92" y="120"/>
                </a:cubicBezTo>
                <a:cubicBezTo>
                  <a:pt x="91" y="120"/>
                  <a:pt x="90" y="120"/>
                  <a:pt x="89" y="121"/>
                </a:cubicBezTo>
                <a:cubicBezTo>
                  <a:pt x="65" y="145"/>
                  <a:pt x="65" y="145"/>
                  <a:pt x="65" y="145"/>
                </a:cubicBezTo>
                <a:cubicBezTo>
                  <a:pt x="64" y="146"/>
                  <a:pt x="64" y="147"/>
                  <a:pt x="64" y="148"/>
                </a:cubicBezTo>
                <a:cubicBezTo>
                  <a:pt x="64" y="150"/>
                  <a:pt x="66" y="152"/>
                  <a:pt x="68" y="152"/>
                </a:cubicBezTo>
                <a:cubicBezTo>
                  <a:pt x="82" y="152"/>
                  <a:pt x="82" y="152"/>
                  <a:pt x="82" y="152"/>
                </a:cubicBezTo>
                <a:cubicBezTo>
                  <a:pt x="65" y="169"/>
                  <a:pt x="65" y="169"/>
                  <a:pt x="65" y="169"/>
                </a:cubicBezTo>
                <a:cubicBezTo>
                  <a:pt x="64" y="170"/>
                  <a:pt x="64" y="171"/>
                  <a:pt x="64" y="172"/>
                </a:cubicBezTo>
                <a:cubicBezTo>
                  <a:pt x="64" y="174"/>
                  <a:pt x="66" y="176"/>
                  <a:pt x="68" y="176"/>
                </a:cubicBezTo>
                <a:cubicBezTo>
                  <a:pt x="69" y="176"/>
                  <a:pt x="70" y="176"/>
                  <a:pt x="71" y="175"/>
                </a:cubicBezTo>
                <a:cubicBezTo>
                  <a:pt x="95" y="151"/>
                  <a:pt x="95" y="151"/>
                  <a:pt x="95" y="151"/>
                </a:cubicBezTo>
                <a:cubicBezTo>
                  <a:pt x="96" y="150"/>
                  <a:pt x="96" y="149"/>
                  <a:pt x="96" y="148"/>
                </a:cubicBezTo>
                <a:cubicBezTo>
                  <a:pt x="96" y="146"/>
                  <a:pt x="94" y="144"/>
                  <a:pt x="92" y="144"/>
                </a:cubicBezTo>
                <a:cubicBezTo>
                  <a:pt x="92" y="144"/>
                  <a:pt x="92" y="144"/>
                  <a:pt x="92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95" y="127"/>
                  <a:pt x="95" y="127"/>
                  <a:pt x="95" y="127"/>
                </a:cubicBezTo>
                <a:cubicBezTo>
                  <a:pt x="96" y="126"/>
                  <a:pt x="96" y="125"/>
                  <a:pt x="96" y="124"/>
                </a:cubicBezTo>
                <a:moveTo>
                  <a:pt x="52" y="128"/>
                </a:moveTo>
                <a:cubicBezTo>
                  <a:pt x="51" y="128"/>
                  <a:pt x="50" y="128"/>
                  <a:pt x="49" y="129"/>
                </a:cubicBezTo>
                <a:cubicBezTo>
                  <a:pt x="25" y="153"/>
                  <a:pt x="25" y="153"/>
                  <a:pt x="25" y="153"/>
                </a:cubicBezTo>
                <a:cubicBezTo>
                  <a:pt x="24" y="154"/>
                  <a:pt x="24" y="155"/>
                  <a:pt x="24" y="156"/>
                </a:cubicBezTo>
                <a:cubicBezTo>
                  <a:pt x="24" y="158"/>
                  <a:pt x="26" y="160"/>
                  <a:pt x="28" y="160"/>
                </a:cubicBezTo>
                <a:cubicBezTo>
                  <a:pt x="29" y="160"/>
                  <a:pt x="30" y="160"/>
                  <a:pt x="31" y="159"/>
                </a:cubicBezTo>
                <a:cubicBezTo>
                  <a:pt x="55" y="135"/>
                  <a:pt x="55" y="135"/>
                  <a:pt x="55" y="135"/>
                </a:cubicBezTo>
                <a:cubicBezTo>
                  <a:pt x="56" y="134"/>
                  <a:pt x="56" y="133"/>
                  <a:pt x="56" y="132"/>
                </a:cubicBezTo>
                <a:cubicBezTo>
                  <a:pt x="56" y="130"/>
                  <a:pt x="54" y="128"/>
                  <a:pt x="52" y="128"/>
                </a:cubicBezTo>
                <a:moveTo>
                  <a:pt x="152" y="41"/>
                </a:moveTo>
                <a:cubicBezTo>
                  <a:pt x="152" y="41"/>
                  <a:pt x="152" y="40"/>
                  <a:pt x="152" y="40"/>
                </a:cubicBezTo>
                <a:cubicBezTo>
                  <a:pt x="152" y="27"/>
                  <a:pt x="141" y="16"/>
                  <a:pt x="128" y="16"/>
                </a:cubicBezTo>
                <a:cubicBezTo>
                  <a:pt x="122" y="16"/>
                  <a:pt x="116" y="18"/>
                  <a:pt x="112" y="22"/>
                </a:cubicBezTo>
                <a:cubicBezTo>
                  <a:pt x="104" y="9"/>
                  <a:pt x="89" y="0"/>
                  <a:pt x="72" y="0"/>
                </a:cubicBezTo>
                <a:cubicBezTo>
                  <a:pt x="48" y="0"/>
                  <a:pt x="28" y="18"/>
                  <a:pt x="25" y="41"/>
                </a:cubicBezTo>
                <a:cubicBezTo>
                  <a:pt x="10" y="44"/>
                  <a:pt x="0" y="57"/>
                  <a:pt x="0" y="72"/>
                </a:cubicBezTo>
                <a:cubicBezTo>
                  <a:pt x="0" y="90"/>
                  <a:pt x="14" y="104"/>
                  <a:pt x="32" y="104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62" y="104"/>
                  <a:pt x="176" y="90"/>
                  <a:pt x="176" y="72"/>
                </a:cubicBezTo>
                <a:cubicBezTo>
                  <a:pt x="176" y="57"/>
                  <a:pt x="166" y="45"/>
                  <a:pt x="152" y="41"/>
                </a:cubicBezTo>
                <a:moveTo>
                  <a:pt x="144" y="96"/>
                </a:moveTo>
                <a:cubicBezTo>
                  <a:pt x="32" y="96"/>
                  <a:pt x="32" y="96"/>
                  <a:pt x="32" y="96"/>
                </a:cubicBezTo>
                <a:cubicBezTo>
                  <a:pt x="19" y="96"/>
                  <a:pt x="8" y="85"/>
                  <a:pt x="8" y="72"/>
                </a:cubicBezTo>
                <a:cubicBezTo>
                  <a:pt x="8" y="61"/>
                  <a:pt x="16" y="51"/>
                  <a:pt x="26" y="49"/>
                </a:cubicBezTo>
                <a:cubicBezTo>
                  <a:pt x="30" y="48"/>
                  <a:pt x="32" y="45"/>
                  <a:pt x="32" y="42"/>
                </a:cubicBezTo>
                <a:cubicBezTo>
                  <a:pt x="35" y="23"/>
                  <a:pt x="52" y="8"/>
                  <a:pt x="72" y="8"/>
                </a:cubicBezTo>
                <a:cubicBezTo>
                  <a:pt x="86" y="8"/>
                  <a:pt x="94" y="11"/>
                  <a:pt x="102" y="22"/>
                </a:cubicBezTo>
                <a:cubicBezTo>
                  <a:pt x="103" y="24"/>
                  <a:pt x="109" y="30"/>
                  <a:pt x="111" y="30"/>
                </a:cubicBezTo>
                <a:cubicBezTo>
                  <a:pt x="111" y="30"/>
                  <a:pt x="112" y="30"/>
                  <a:pt x="112" y="30"/>
                </a:cubicBezTo>
                <a:cubicBezTo>
                  <a:pt x="114" y="30"/>
                  <a:pt x="116" y="29"/>
                  <a:pt x="117" y="28"/>
                </a:cubicBezTo>
                <a:cubicBezTo>
                  <a:pt x="120" y="25"/>
                  <a:pt x="124" y="24"/>
                  <a:pt x="128" y="24"/>
                </a:cubicBezTo>
                <a:cubicBezTo>
                  <a:pt x="137" y="24"/>
                  <a:pt x="144" y="31"/>
                  <a:pt x="144" y="40"/>
                </a:cubicBezTo>
                <a:cubicBezTo>
                  <a:pt x="144" y="41"/>
                  <a:pt x="144" y="41"/>
                  <a:pt x="144" y="41"/>
                </a:cubicBezTo>
                <a:cubicBezTo>
                  <a:pt x="144" y="44"/>
                  <a:pt x="146" y="48"/>
                  <a:pt x="150" y="49"/>
                </a:cubicBezTo>
                <a:cubicBezTo>
                  <a:pt x="161" y="52"/>
                  <a:pt x="168" y="61"/>
                  <a:pt x="168" y="72"/>
                </a:cubicBezTo>
                <a:cubicBezTo>
                  <a:pt x="168" y="85"/>
                  <a:pt x="157" y="96"/>
                  <a:pt x="144" y="96"/>
                </a:cubicBezTo>
                <a:moveTo>
                  <a:pt x="136" y="128"/>
                </a:moveTo>
                <a:cubicBezTo>
                  <a:pt x="135" y="128"/>
                  <a:pt x="134" y="128"/>
                  <a:pt x="133" y="129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8" y="154"/>
                  <a:pt x="108" y="155"/>
                  <a:pt x="108" y="156"/>
                </a:cubicBezTo>
                <a:cubicBezTo>
                  <a:pt x="108" y="158"/>
                  <a:pt x="110" y="160"/>
                  <a:pt x="112" y="160"/>
                </a:cubicBezTo>
                <a:cubicBezTo>
                  <a:pt x="113" y="160"/>
                  <a:pt x="114" y="160"/>
                  <a:pt x="115" y="159"/>
                </a:cubicBezTo>
                <a:cubicBezTo>
                  <a:pt x="139" y="135"/>
                  <a:pt x="139" y="135"/>
                  <a:pt x="139" y="135"/>
                </a:cubicBezTo>
                <a:cubicBezTo>
                  <a:pt x="140" y="134"/>
                  <a:pt x="140" y="133"/>
                  <a:pt x="140" y="132"/>
                </a:cubicBezTo>
                <a:cubicBezTo>
                  <a:pt x="140" y="130"/>
                  <a:pt x="138" y="128"/>
                  <a:pt x="136" y="128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latin typeface="+mn-lt"/>
            </a:endParaRPr>
          </a:p>
        </p:txBody>
      </p:sp>
      <p:sp>
        <p:nvSpPr>
          <p:cNvPr id="13322" name="TextBox 55">
            <a:extLst>
              <a:ext uri="{FF2B5EF4-FFF2-40B4-BE49-F238E27FC236}">
                <a16:creationId xmlns:a16="http://schemas.microsoft.com/office/drawing/2014/main" id="{09D37F1A-7954-E610-ADEE-CA39FF10A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7850" y="4721225"/>
            <a:ext cx="3584575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Protocolo aplicado a IEEE-CIS (590.540 tx)</a:t>
            </a:r>
          </a:p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Dos escenarios: heredado y optimizado</a:t>
            </a:r>
          </a:p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2000">
                <a:solidFill>
                  <a:schemeClr val="tx2"/>
                </a:solidFill>
              </a:rPr>
              <a:t>Contribución más diferenciadora</a:t>
            </a:r>
          </a:p>
        </p:txBody>
      </p:sp>
      <p:sp>
        <p:nvSpPr>
          <p:cNvPr id="13323" name="Slide Number Placeholder 2">
            <a:extLst>
              <a:ext uri="{FF2B5EF4-FFF2-40B4-BE49-F238E27FC236}">
                <a16:creationId xmlns:a16="http://schemas.microsoft.com/office/drawing/2014/main" id="{AD9160EA-A06C-C203-8732-C5C03A023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3EC6AF7F-45D3-438C-9023-7245B52F502F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5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5A2E-21EA-4CF3-DA10-2B6986D2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02 Metodología</a:t>
            </a:r>
            <a:br>
              <a:rPr lang="es-ES_tradnl">
                <a:solidFill>
                  <a:schemeClr val="accent1"/>
                </a:solidFill>
              </a:rPr>
            </a:br>
            <a:r>
              <a:rPr lang="es-ES_tradnl" err="1">
                <a:solidFill>
                  <a:srgbClr val="00566C"/>
                </a:solidFill>
              </a:rPr>
              <a:t>Datasets utilizados</a:t>
            </a:r>
          </a:p>
        </p:txBody>
      </p:sp>
      <p:sp>
        <p:nvSpPr>
          <p:cNvPr id="17467" name="Slide Number Placeholder 2">
            <a:extLst>
              <a:ext uri="{FF2B5EF4-FFF2-40B4-BE49-F238E27FC236}">
                <a16:creationId xmlns:a16="http://schemas.microsoft.com/office/drawing/2014/main" id="{25E8E64E-2B25-8498-E42E-C76A3C919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CBBE2CE8-E55E-4A1E-BAD8-BD89860AFB98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6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  <p:graphicFrame>
        <p:nvGraphicFramePr>
          <p:cNvPr id="17468" name="Table 17467"/>
          <p:cNvGraphicFramePr>
            <a:graphicFrameLocks noGrp="1"/>
          </p:cNvGraphicFramePr>
          <p:nvPr/>
        </p:nvGraphicFramePr>
        <p:xfrm>
          <a:off x="1371600" y="2194560"/>
          <a:ext cx="15544800" cy="57058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Franklin Gothic Medium"/>
                        </a:rPr>
                        <a:t>Característica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Franklin Gothic Medium"/>
                        </a:rPr>
                        <a:t>ULB Credit Card Fraud (2013)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Franklin Gothic Medium"/>
                        </a:rPr>
                        <a:t>IEEE-CIS Fraud Detection (2019)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566C"/>
                          </a:solidFill>
                          <a:latin typeface="Franklin Gothic Medium"/>
                        </a:rPr>
                        <a:t>Transacciones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284.807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590.540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566C"/>
                          </a:solidFill>
                          <a:latin typeface="Franklin Gothic Medium"/>
                        </a:rPr>
                        <a:t>Variables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30 (V1–V28 por PCA + Time y Amount)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434 (transacción + identidad)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566C"/>
                          </a:solidFill>
                          <a:latin typeface="Franklin Gothic Medium"/>
                        </a:rPr>
                        <a:t>Fraudes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492  (0,173 %)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20.663  (3,50 %)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566C"/>
                          </a:solidFill>
                          <a:latin typeface="Franklin Gothic Medium"/>
                        </a:rPr>
                        <a:t>Desbalance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578 : 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27 : 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566C"/>
                          </a:solidFill>
                          <a:latin typeface="Franklin Gothic Medium"/>
                        </a:rPr>
                        <a:t>Valores faltantes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0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115,5 millones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566C"/>
                          </a:solidFill>
                          <a:latin typeface="Franklin Gothic Medium"/>
                        </a:rPr>
                        <a:t>Origen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Tarjetas europeas, 2 días de sep-2013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Comercio electrónico (Vesta Corp.)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566C"/>
                          </a:solidFill>
                          <a:latin typeface="Franklin Gothic Medium"/>
                        </a:rPr>
                        <a:t>Rol en el TFM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Benchmark principal: 15 combinaciones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C3C48"/>
                          </a:solidFill>
                          <a:latin typeface="Franklin Gothic Book"/>
                        </a:rPr>
                        <a:t>Validación externa: 2 finalistas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7DB172-CECF-8AAC-CDA9-ECB67CD82136}"/>
              </a:ext>
            </a:extLst>
          </p:cNvPr>
          <p:cNvCxnSpPr>
            <a:endCxn id="18460" idx="7"/>
          </p:cNvCxnSpPr>
          <p:nvPr/>
        </p:nvCxnSpPr>
        <p:spPr>
          <a:xfrm flipH="1">
            <a:off x="1422400" y="5143500"/>
            <a:ext cx="15193963" cy="0"/>
          </a:xfrm>
          <a:prstGeom prst="line">
            <a:avLst/>
          </a:prstGeom>
          <a:ln w="25400">
            <a:solidFill>
              <a:schemeClr val="accent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7124B-ED40-7C55-399A-20770172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02 Metodología</a:t>
            </a:r>
            <a:br>
              <a:rPr lang="es-ES_tradnl"/>
            </a:br>
            <a:r>
              <a:rPr lang="es-ES_tradnl">
                <a:solidFill>
                  <a:srgbClr val="00566C"/>
                </a:solidFill>
              </a:rPr>
              <a:t>Protocolo experimental</a:t>
            </a:r>
            <a:endParaRPr lang="es-ES_tradnl">
              <a:solidFill>
                <a:schemeClr val="accent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2A3A84-53B2-7787-AA5E-F86BEDA58870}"/>
              </a:ext>
            </a:extLst>
          </p:cNvPr>
          <p:cNvSpPr/>
          <p:nvPr/>
        </p:nvSpPr>
        <p:spPr>
          <a:xfrm rot="10800000">
            <a:off x="337978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349A6A-B52E-A3D3-345C-ECB20835C975}"/>
              </a:ext>
            </a:extLst>
          </p:cNvPr>
          <p:cNvSpPr txBox="1"/>
          <p:nvPr/>
        </p:nvSpPr>
        <p:spPr>
          <a:xfrm>
            <a:off x="1698625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err="1">
                <a:solidFill>
                  <a:srgbClr val="219BC3"/>
                </a:solidFill>
                <a:latin typeface="+mj-lt"/>
              </a:rPr>
              <a:t>EDA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3BCDDA-A673-122D-2D2B-5D9D46284AFB}"/>
              </a:ext>
            </a:extLst>
          </p:cNvPr>
          <p:cNvSpPr txBox="1"/>
          <p:nvPr/>
        </p:nvSpPr>
        <p:spPr>
          <a:xfrm>
            <a:off x="2530793" y="4002088"/>
            <a:ext cx="201168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Paso 1</a:t>
            </a:r>
          </a:p>
        </p:txBody>
      </p:sp>
      <p:sp>
        <p:nvSpPr>
          <p:cNvPr id="18439" name="TextBox 23">
            <a:extLst>
              <a:ext uri="{FF2B5EF4-FFF2-40B4-BE49-F238E27FC236}">
                <a16:creationId xmlns:a16="http://schemas.microsoft.com/office/drawing/2014/main" id="{CCD0C67F-DB12-9F97-5AF9-031AD4C98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673" y="6319838"/>
            <a:ext cx="278892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1700">
                <a:solidFill>
                  <a:schemeClr val="tx2"/>
                </a:solidFill>
              </a:rPr>
              <a:t>Desbalance, tiempo, importe, variables PCA y outliers</a:t>
            </a:r>
          </a:p>
        </p:txBody>
      </p:sp>
      <p:grpSp>
        <p:nvGrpSpPr>
          <p:cNvPr id="18440" name="Agrupar 6">
            <a:extLst>
              <a:ext uri="{FF2B5EF4-FFF2-40B4-BE49-F238E27FC236}">
                <a16:creationId xmlns:a16="http://schemas.microsoft.com/office/drawing/2014/main" id="{0D5C12CC-8541-8D18-1EE5-220DBC6523E2}"/>
              </a:ext>
            </a:extLst>
          </p:cNvPr>
          <p:cNvGrpSpPr>
            <a:grpSpLocks/>
          </p:cNvGrpSpPr>
          <p:nvPr/>
        </p:nvGrpSpPr>
        <p:grpSpPr bwMode="auto">
          <a:xfrm>
            <a:off x="16175038" y="4427538"/>
            <a:ext cx="1431925" cy="1431925"/>
            <a:chOff x="15344997" y="3967844"/>
            <a:chExt cx="2351314" cy="235131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B325BB1-CEF8-3931-BAE5-60C12683B809}"/>
                </a:ext>
              </a:extLst>
            </p:cNvPr>
            <p:cNvSpPr/>
            <p:nvPr/>
          </p:nvSpPr>
          <p:spPr>
            <a:xfrm rot="10800000">
              <a:off x="15344997" y="3967844"/>
              <a:ext cx="2351314" cy="2351315"/>
            </a:xfrm>
            <a:prstGeom prst="ellipse">
              <a:avLst/>
            </a:prstGeom>
            <a:solidFill>
              <a:schemeClr val="accent1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>
                <a:solidFill>
                  <a:schemeClr val="tx1"/>
                </a:solidFill>
              </a:endParaRPr>
            </a:p>
          </p:txBody>
        </p:sp>
        <p:sp>
          <p:nvSpPr>
            <p:cNvPr id="18462" name="Freeform 427">
              <a:extLst>
                <a:ext uri="{FF2B5EF4-FFF2-40B4-BE49-F238E27FC236}">
                  <a16:creationId xmlns:a16="http://schemas.microsoft.com/office/drawing/2014/main" id="{190B8506-D54D-232C-B19F-EBD6DD07DE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97334" y="4472150"/>
              <a:ext cx="846498" cy="1342703"/>
            </a:xfrm>
            <a:custGeom>
              <a:avLst/>
              <a:gdLst>
                <a:gd name="T0" fmla="*/ 2147483646 w 112"/>
                <a:gd name="T1" fmla="*/ 0 h 176"/>
                <a:gd name="T2" fmla="*/ 228493996 w 112"/>
                <a:gd name="T3" fmla="*/ 0 h 176"/>
                <a:gd name="T4" fmla="*/ 0 w 112"/>
                <a:gd name="T5" fmla="*/ 232806391 h 176"/>
                <a:gd name="T6" fmla="*/ 0 w 112"/>
                <a:gd name="T7" fmla="*/ 2147483646 h 176"/>
                <a:gd name="T8" fmla="*/ 2147483646 w 112"/>
                <a:gd name="T9" fmla="*/ 2147483646 h 176"/>
                <a:gd name="T10" fmla="*/ 2147483646 w 112"/>
                <a:gd name="T11" fmla="*/ 2147483646 h 176"/>
                <a:gd name="T12" fmla="*/ 1142469979 w 112"/>
                <a:gd name="T13" fmla="*/ 2147483646 h 176"/>
                <a:gd name="T14" fmla="*/ 913975983 w 112"/>
                <a:gd name="T15" fmla="*/ 2147483646 h 176"/>
                <a:gd name="T16" fmla="*/ 1142469979 w 112"/>
                <a:gd name="T17" fmla="*/ 2147483646 h 176"/>
                <a:gd name="T18" fmla="*/ 2147483646 w 112"/>
                <a:gd name="T19" fmla="*/ 2147483646 h 176"/>
                <a:gd name="T20" fmla="*/ 2147483646 w 112"/>
                <a:gd name="T21" fmla="*/ 2147483646 h 176"/>
                <a:gd name="T22" fmla="*/ 2147483646 w 112"/>
                <a:gd name="T23" fmla="*/ 2147483646 h 176"/>
                <a:gd name="T24" fmla="*/ 2147483646 w 112"/>
                <a:gd name="T25" fmla="*/ 2147483646 h 176"/>
                <a:gd name="T26" fmla="*/ 2147483646 w 112"/>
                <a:gd name="T27" fmla="*/ 2147483646 h 176"/>
                <a:gd name="T28" fmla="*/ 2147483646 w 112"/>
                <a:gd name="T29" fmla="*/ 2147483646 h 176"/>
                <a:gd name="T30" fmla="*/ 2147483646 w 112"/>
                <a:gd name="T31" fmla="*/ 232806391 h 176"/>
                <a:gd name="T32" fmla="*/ 2147483646 w 112"/>
                <a:gd name="T33" fmla="*/ 0 h 176"/>
                <a:gd name="T34" fmla="*/ 2147483646 w 112"/>
                <a:gd name="T35" fmla="*/ 2147483646 h 176"/>
                <a:gd name="T36" fmla="*/ 2147483646 w 112"/>
                <a:gd name="T37" fmla="*/ 2147483646 h 176"/>
                <a:gd name="T38" fmla="*/ 456987992 w 112"/>
                <a:gd name="T39" fmla="*/ 2147483646 h 176"/>
                <a:gd name="T40" fmla="*/ 456987992 w 112"/>
                <a:gd name="T41" fmla="*/ 1746047930 h 176"/>
                <a:gd name="T42" fmla="*/ 1942206523 w 112"/>
                <a:gd name="T43" fmla="*/ 2095257516 h 176"/>
                <a:gd name="T44" fmla="*/ 2147483646 w 112"/>
                <a:gd name="T45" fmla="*/ 2147483646 h 176"/>
                <a:gd name="T46" fmla="*/ 2147483646 w 112"/>
                <a:gd name="T47" fmla="*/ 2147483646 h 176"/>
                <a:gd name="T48" fmla="*/ 2147483646 w 112"/>
                <a:gd name="T49" fmla="*/ 1978854320 h 176"/>
                <a:gd name="T50" fmla="*/ 2147483646 w 112"/>
                <a:gd name="T51" fmla="*/ 2147483646 h 176"/>
                <a:gd name="T52" fmla="*/ 2147483646 w 112"/>
                <a:gd name="T53" fmla="*/ 1338636746 h 176"/>
                <a:gd name="T54" fmla="*/ 2147483646 w 112"/>
                <a:gd name="T55" fmla="*/ 2147483646 h 176"/>
                <a:gd name="T56" fmla="*/ 2147483646 w 112"/>
                <a:gd name="T57" fmla="*/ 1687846332 h 176"/>
                <a:gd name="T58" fmla="*/ 456987992 w 112"/>
                <a:gd name="T59" fmla="*/ 1280435148 h 176"/>
                <a:gd name="T60" fmla="*/ 456987992 w 112"/>
                <a:gd name="T61" fmla="*/ 465612781 h 176"/>
                <a:gd name="T62" fmla="*/ 2147483646 w 112"/>
                <a:gd name="T63" fmla="*/ 465612781 h 176"/>
                <a:gd name="T64" fmla="*/ 2147483646 w 112"/>
                <a:gd name="T65" fmla="*/ 1338636746 h 1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176">
                  <a:moveTo>
                    <a:pt x="10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78"/>
                    <a:pt x="23" y="102"/>
                    <a:pt x="52" y="104"/>
                  </a:cubicBezTo>
                  <a:cubicBezTo>
                    <a:pt x="52" y="168"/>
                    <a:pt x="52" y="168"/>
                    <a:pt x="52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18" y="168"/>
                    <a:pt x="16" y="170"/>
                    <a:pt x="16" y="172"/>
                  </a:cubicBezTo>
                  <a:cubicBezTo>
                    <a:pt x="16" y="174"/>
                    <a:pt x="18" y="176"/>
                    <a:pt x="20" y="176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4" y="176"/>
                    <a:pt x="96" y="174"/>
                    <a:pt x="96" y="172"/>
                  </a:cubicBezTo>
                  <a:cubicBezTo>
                    <a:pt x="96" y="170"/>
                    <a:pt x="94" y="168"/>
                    <a:pt x="92" y="168"/>
                  </a:cubicBezTo>
                  <a:cubicBezTo>
                    <a:pt x="60" y="168"/>
                    <a:pt x="60" y="168"/>
                    <a:pt x="60" y="168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89" y="102"/>
                    <a:pt x="112" y="78"/>
                    <a:pt x="112" y="48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2"/>
                    <a:pt x="110" y="0"/>
                    <a:pt x="108" y="0"/>
                  </a:cubicBezTo>
                  <a:moveTo>
                    <a:pt x="104" y="48"/>
                  </a:moveTo>
                  <a:cubicBezTo>
                    <a:pt x="104" y="75"/>
                    <a:pt x="83" y="96"/>
                    <a:pt x="56" y="96"/>
                  </a:cubicBezTo>
                  <a:cubicBezTo>
                    <a:pt x="29" y="96"/>
                    <a:pt x="8" y="75"/>
                    <a:pt x="8" y="48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9" y="29"/>
                    <a:pt x="25" y="31"/>
                    <a:pt x="34" y="36"/>
                  </a:cubicBezTo>
                  <a:cubicBezTo>
                    <a:pt x="40" y="39"/>
                    <a:pt x="47" y="43"/>
                    <a:pt x="58" y="46"/>
                  </a:cubicBezTo>
                  <a:cubicBezTo>
                    <a:pt x="62" y="47"/>
                    <a:pt x="65" y="48"/>
                    <a:pt x="69" y="48"/>
                  </a:cubicBezTo>
                  <a:cubicBezTo>
                    <a:pt x="84" y="48"/>
                    <a:pt x="97" y="40"/>
                    <a:pt x="104" y="34"/>
                  </a:cubicBezTo>
                  <a:lnTo>
                    <a:pt x="104" y="48"/>
                  </a:lnTo>
                  <a:close/>
                  <a:moveTo>
                    <a:pt x="104" y="23"/>
                  </a:moveTo>
                  <a:cubicBezTo>
                    <a:pt x="103" y="24"/>
                    <a:pt x="81" y="45"/>
                    <a:pt x="60" y="38"/>
                  </a:cubicBezTo>
                  <a:cubicBezTo>
                    <a:pt x="50" y="35"/>
                    <a:pt x="44" y="32"/>
                    <a:pt x="38" y="29"/>
                  </a:cubicBezTo>
                  <a:cubicBezTo>
                    <a:pt x="28" y="24"/>
                    <a:pt x="21" y="20"/>
                    <a:pt x="8" y="2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04" y="8"/>
                    <a:pt x="104" y="8"/>
                    <a:pt x="104" y="8"/>
                  </a:cubicBezTo>
                  <a:lnTo>
                    <a:pt x="104" y="2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8" tIns="45713" rIns="91428" bIns="45713"/>
            <a:lstStyle/>
            <a:p>
              <a:endParaRPr lang="es-ES"/>
            </a:p>
          </p:txBody>
        </p:sp>
      </p:grpSp>
      <p:grpSp>
        <p:nvGrpSpPr>
          <p:cNvPr id="20" name="Group 5">
            <a:extLst>
              <a:ext uri="{FF2B5EF4-FFF2-40B4-BE49-F238E27FC236}">
                <a16:creationId xmlns:a16="http://schemas.microsoft.com/office/drawing/2014/main" id="{10E6340E-0AC0-F548-F7B8-32836BEEB50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427538"/>
            <a:ext cx="1433513" cy="1431925"/>
            <a:chOff x="2424793" y="4005943"/>
            <a:chExt cx="2351314" cy="2351314"/>
          </a:xfrm>
        </p:grpSpPr>
        <p:sp>
          <p:nvSpPr>
            <p:cNvPr id="21" name="Oval 3">
              <a:extLst>
                <a:ext uri="{FF2B5EF4-FFF2-40B4-BE49-F238E27FC236}">
                  <a16:creationId xmlns:a16="http://schemas.microsoft.com/office/drawing/2014/main" id="{9F182C16-2BD6-5D89-672D-FF68CF1EBB34}"/>
                </a:ext>
              </a:extLst>
            </p:cNvPr>
            <p:cNvSpPr/>
            <p:nvPr/>
          </p:nvSpPr>
          <p:spPr>
            <a:xfrm>
              <a:off x="2424793" y="4005943"/>
              <a:ext cx="2351314" cy="2351314"/>
            </a:xfrm>
            <a:prstGeom prst="ellipse">
              <a:avLst/>
            </a:prstGeom>
            <a:solidFill>
              <a:schemeClr val="accent1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sz="2800">
                <a:solidFill>
                  <a:schemeClr val="tx1"/>
                </a:solidFill>
              </a:endParaRPr>
            </a:p>
          </p:txBody>
        </p:sp>
        <p:sp>
          <p:nvSpPr>
            <p:cNvPr id="18460" name="Freeform 450">
              <a:extLst>
                <a:ext uri="{FF2B5EF4-FFF2-40B4-BE49-F238E27FC236}">
                  <a16:creationId xmlns:a16="http://schemas.microsoft.com/office/drawing/2014/main" id="{A2BD45D0-1983-1271-D668-A58BAD1BEB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5150" y="4686300"/>
              <a:ext cx="990600" cy="990600"/>
            </a:xfrm>
            <a:custGeom>
              <a:avLst/>
              <a:gdLst>
                <a:gd name="T0" fmla="*/ 2147483646 w 176"/>
                <a:gd name="T1" fmla="*/ 2147483646 h 176"/>
                <a:gd name="T2" fmla="*/ 2147483646 w 176"/>
                <a:gd name="T3" fmla="*/ 2027454266 h 176"/>
                <a:gd name="T4" fmla="*/ 2147483646 w 176"/>
                <a:gd name="T5" fmla="*/ 2147483646 h 176"/>
                <a:gd name="T6" fmla="*/ 2147483646 w 176"/>
                <a:gd name="T7" fmla="*/ 1774023890 h 176"/>
                <a:gd name="T8" fmla="*/ 2147483646 w 176"/>
                <a:gd name="T9" fmla="*/ 1647305888 h 176"/>
                <a:gd name="T10" fmla="*/ 2147483646 w 176"/>
                <a:gd name="T11" fmla="*/ 1520593514 h 176"/>
                <a:gd name="T12" fmla="*/ 2147483646 w 176"/>
                <a:gd name="T13" fmla="*/ 1774023890 h 176"/>
                <a:gd name="T14" fmla="*/ 2147483646 w 176"/>
                <a:gd name="T15" fmla="*/ 2147483646 h 176"/>
                <a:gd name="T16" fmla="*/ 2147483646 w 176"/>
                <a:gd name="T17" fmla="*/ 2147483646 h 176"/>
                <a:gd name="T18" fmla="*/ 2147483646 w 176"/>
                <a:gd name="T19" fmla="*/ 2147483646 h 176"/>
                <a:gd name="T20" fmla="*/ 1267157509 w 176"/>
                <a:gd name="T21" fmla="*/ 2147483646 h 176"/>
                <a:gd name="T22" fmla="*/ 2147483646 w 176"/>
                <a:gd name="T23" fmla="*/ 2147483646 h 176"/>
                <a:gd name="T24" fmla="*/ 2147483646 w 176"/>
                <a:gd name="T25" fmla="*/ 1520593514 h 176"/>
                <a:gd name="T26" fmla="*/ 1013727133 w 176"/>
                <a:gd name="T27" fmla="*/ 1774023890 h 176"/>
                <a:gd name="T28" fmla="*/ 1267157509 w 176"/>
                <a:gd name="T29" fmla="*/ 2147483646 h 176"/>
                <a:gd name="T30" fmla="*/ 2147483646 w 176"/>
                <a:gd name="T31" fmla="*/ 1774023890 h 176"/>
                <a:gd name="T32" fmla="*/ 1267157509 w 176"/>
                <a:gd name="T33" fmla="*/ 2147483646 h 176"/>
                <a:gd name="T34" fmla="*/ 2147483646 w 176"/>
                <a:gd name="T35" fmla="*/ 2147483646 h 176"/>
                <a:gd name="T36" fmla="*/ 2147483646 w 176"/>
                <a:gd name="T37" fmla="*/ 2147483646 h 176"/>
                <a:gd name="T38" fmla="*/ 2147483646 w 176"/>
                <a:gd name="T39" fmla="*/ 2147483646 h 176"/>
                <a:gd name="T40" fmla="*/ 2147483646 w 176"/>
                <a:gd name="T41" fmla="*/ 2147483646 h 176"/>
                <a:gd name="T42" fmla="*/ 2147483646 w 176"/>
                <a:gd name="T43" fmla="*/ 253430376 h 176"/>
                <a:gd name="T44" fmla="*/ 2147483646 w 176"/>
                <a:gd name="T45" fmla="*/ 253430376 h 176"/>
                <a:gd name="T46" fmla="*/ 0 w 176"/>
                <a:gd name="T47" fmla="*/ 506866381 h 176"/>
                <a:gd name="T48" fmla="*/ 253430376 w 176"/>
                <a:gd name="T49" fmla="*/ 1013727133 h 176"/>
                <a:gd name="T50" fmla="*/ 506866381 w 176"/>
                <a:gd name="T51" fmla="*/ 2147483646 h 176"/>
                <a:gd name="T52" fmla="*/ 2147483646 w 176"/>
                <a:gd name="T53" fmla="*/ 2147483646 h 176"/>
                <a:gd name="T54" fmla="*/ 1900741892 w 176"/>
                <a:gd name="T55" fmla="*/ 2147483646 h 176"/>
                <a:gd name="T56" fmla="*/ 2122489953 w 176"/>
                <a:gd name="T57" fmla="*/ 2147483646 h 176"/>
                <a:gd name="T58" fmla="*/ 2147483646 w 176"/>
                <a:gd name="T59" fmla="*/ 2147483646 h 176"/>
                <a:gd name="T60" fmla="*/ 2147483646 w 176"/>
                <a:gd name="T61" fmla="*/ 2147483646 h 176"/>
                <a:gd name="T62" fmla="*/ 2147483646 w 176"/>
                <a:gd name="T63" fmla="*/ 2147483646 h 176"/>
                <a:gd name="T64" fmla="*/ 2147483646 w 176"/>
                <a:gd name="T65" fmla="*/ 2147483646 h 176"/>
                <a:gd name="T66" fmla="*/ 2147483646 w 176"/>
                <a:gd name="T67" fmla="*/ 1013727133 h 176"/>
                <a:gd name="T68" fmla="*/ 2147483646 w 176"/>
                <a:gd name="T69" fmla="*/ 506866381 h 176"/>
                <a:gd name="T70" fmla="*/ 2147483646 w 176"/>
                <a:gd name="T71" fmla="*/ 2147483646 h 176"/>
                <a:gd name="T72" fmla="*/ 506866381 w 176"/>
                <a:gd name="T73" fmla="*/ 1013727133 h 176"/>
                <a:gd name="T74" fmla="*/ 2147483646 w 176"/>
                <a:gd name="T75" fmla="*/ 2147483646 h 176"/>
                <a:gd name="T76" fmla="*/ 253430376 w 176"/>
                <a:gd name="T77" fmla="*/ 760296757 h 176"/>
                <a:gd name="T78" fmla="*/ 2147483646 w 176"/>
                <a:gd name="T79" fmla="*/ 506866381 h 17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76" h="176">
                  <a:moveTo>
                    <a:pt x="100" y="72"/>
                  </a:moveTo>
                  <a:cubicBezTo>
                    <a:pt x="140" y="72"/>
                    <a:pt x="140" y="72"/>
                    <a:pt x="140" y="72"/>
                  </a:cubicBezTo>
                  <a:cubicBezTo>
                    <a:pt x="142" y="72"/>
                    <a:pt x="144" y="70"/>
                    <a:pt x="144" y="68"/>
                  </a:cubicBezTo>
                  <a:cubicBezTo>
                    <a:pt x="144" y="66"/>
                    <a:pt x="142" y="64"/>
                    <a:pt x="140" y="64"/>
                  </a:cubicBezTo>
                  <a:cubicBezTo>
                    <a:pt x="100" y="64"/>
                    <a:pt x="100" y="64"/>
                    <a:pt x="100" y="64"/>
                  </a:cubicBezTo>
                  <a:cubicBezTo>
                    <a:pt x="98" y="64"/>
                    <a:pt x="96" y="66"/>
                    <a:pt x="96" y="68"/>
                  </a:cubicBezTo>
                  <a:cubicBezTo>
                    <a:pt x="96" y="70"/>
                    <a:pt x="98" y="72"/>
                    <a:pt x="100" y="72"/>
                  </a:cubicBezTo>
                  <a:moveTo>
                    <a:pt x="100" y="56"/>
                  </a:moveTo>
                  <a:cubicBezTo>
                    <a:pt x="124" y="56"/>
                    <a:pt x="124" y="56"/>
                    <a:pt x="124" y="56"/>
                  </a:cubicBezTo>
                  <a:cubicBezTo>
                    <a:pt x="126" y="56"/>
                    <a:pt x="128" y="54"/>
                    <a:pt x="128" y="52"/>
                  </a:cubicBezTo>
                  <a:cubicBezTo>
                    <a:pt x="128" y="50"/>
                    <a:pt x="126" y="48"/>
                    <a:pt x="124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98" y="48"/>
                    <a:pt x="96" y="50"/>
                    <a:pt x="96" y="52"/>
                  </a:cubicBezTo>
                  <a:cubicBezTo>
                    <a:pt x="96" y="54"/>
                    <a:pt x="98" y="56"/>
                    <a:pt x="100" y="56"/>
                  </a:cubicBezTo>
                  <a:moveTo>
                    <a:pt x="100" y="88"/>
                  </a:moveTo>
                  <a:cubicBezTo>
                    <a:pt x="116" y="88"/>
                    <a:pt x="116" y="88"/>
                    <a:pt x="116" y="88"/>
                  </a:cubicBezTo>
                  <a:cubicBezTo>
                    <a:pt x="118" y="88"/>
                    <a:pt x="120" y="86"/>
                    <a:pt x="120" y="84"/>
                  </a:cubicBezTo>
                  <a:cubicBezTo>
                    <a:pt x="120" y="82"/>
                    <a:pt x="118" y="80"/>
                    <a:pt x="116" y="80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98" y="80"/>
                    <a:pt x="96" y="82"/>
                    <a:pt x="96" y="84"/>
                  </a:cubicBezTo>
                  <a:cubicBezTo>
                    <a:pt x="96" y="86"/>
                    <a:pt x="98" y="88"/>
                    <a:pt x="100" y="88"/>
                  </a:cubicBezTo>
                  <a:moveTo>
                    <a:pt x="40" y="104"/>
                  </a:moveTo>
                  <a:cubicBezTo>
                    <a:pt x="72" y="104"/>
                    <a:pt x="72" y="104"/>
                    <a:pt x="72" y="104"/>
                  </a:cubicBezTo>
                  <a:cubicBezTo>
                    <a:pt x="76" y="104"/>
                    <a:pt x="80" y="100"/>
                    <a:pt x="80" y="96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52"/>
                    <a:pt x="76" y="48"/>
                    <a:pt x="72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36" y="48"/>
                    <a:pt x="32" y="52"/>
                    <a:pt x="32" y="5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" y="100"/>
                    <a:pt x="36" y="104"/>
                    <a:pt x="40" y="104"/>
                  </a:cubicBezTo>
                  <a:moveTo>
                    <a:pt x="40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40" y="96"/>
                    <a:pt x="40" y="96"/>
                    <a:pt x="40" y="96"/>
                  </a:cubicBezTo>
                  <a:lnTo>
                    <a:pt x="40" y="56"/>
                  </a:lnTo>
                  <a:close/>
                  <a:moveTo>
                    <a:pt x="100" y="104"/>
                  </a:moveTo>
                  <a:cubicBezTo>
                    <a:pt x="140" y="104"/>
                    <a:pt x="140" y="104"/>
                    <a:pt x="140" y="104"/>
                  </a:cubicBezTo>
                  <a:cubicBezTo>
                    <a:pt x="142" y="104"/>
                    <a:pt x="144" y="102"/>
                    <a:pt x="144" y="100"/>
                  </a:cubicBezTo>
                  <a:cubicBezTo>
                    <a:pt x="144" y="98"/>
                    <a:pt x="142" y="96"/>
                    <a:pt x="140" y="96"/>
                  </a:cubicBezTo>
                  <a:cubicBezTo>
                    <a:pt x="100" y="96"/>
                    <a:pt x="100" y="96"/>
                    <a:pt x="100" y="96"/>
                  </a:cubicBezTo>
                  <a:cubicBezTo>
                    <a:pt x="98" y="96"/>
                    <a:pt x="96" y="98"/>
                    <a:pt x="96" y="100"/>
                  </a:cubicBezTo>
                  <a:cubicBezTo>
                    <a:pt x="96" y="102"/>
                    <a:pt x="98" y="104"/>
                    <a:pt x="100" y="104"/>
                  </a:cubicBezTo>
                  <a:moveTo>
                    <a:pt x="168" y="8"/>
                  </a:moveTo>
                  <a:cubicBezTo>
                    <a:pt x="96" y="8"/>
                    <a:pt x="96" y="8"/>
                    <a:pt x="96" y="8"/>
                  </a:cubicBezTo>
                  <a:cubicBezTo>
                    <a:pt x="96" y="4"/>
                    <a:pt x="92" y="0"/>
                    <a:pt x="88" y="0"/>
                  </a:cubicBezTo>
                  <a:cubicBezTo>
                    <a:pt x="84" y="0"/>
                    <a:pt x="80" y="4"/>
                    <a:pt x="80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" y="8"/>
                    <a:pt x="0" y="12"/>
                    <a:pt x="0" y="1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4" y="32"/>
                    <a:pt x="8" y="32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8" y="132"/>
                    <a:pt x="12" y="136"/>
                    <a:pt x="16" y="136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61" y="169"/>
                    <a:pt x="61" y="169"/>
                    <a:pt x="61" y="169"/>
                  </a:cubicBezTo>
                  <a:cubicBezTo>
                    <a:pt x="60" y="170"/>
                    <a:pt x="60" y="171"/>
                    <a:pt x="60" y="172"/>
                  </a:cubicBezTo>
                  <a:cubicBezTo>
                    <a:pt x="60" y="174"/>
                    <a:pt x="62" y="176"/>
                    <a:pt x="64" y="176"/>
                  </a:cubicBezTo>
                  <a:cubicBezTo>
                    <a:pt x="65" y="176"/>
                    <a:pt x="66" y="176"/>
                    <a:pt x="67" y="17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109" y="175"/>
                    <a:pt x="109" y="175"/>
                    <a:pt x="109" y="175"/>
                  </a:cubicBezTo>
                  <a:cubicBezTo>
                    <a:pt x="110" y="176"/>
                    <a:pt x="111" y="176"/>
                    <a:pt x="112" y="176"/>
                  </a:cubicBezTo>
                  <a:cubicBezTo>
                    <a:pt x="114" y="176"/>
                    <a:pt x="116" y="174"/>
                    <a:pt x="116" y="172"/>
                  </a:cubicBezTo>
                  <a:cubicBezTo>
                    <a:pt x="116" y="171"/>
                    <a:pt x="116" y="170"/>
                    <a:pt x="115" y="169"/>
                  </a:cubicBezTo>
                  <a:cubicBezTo>
                    <a:pt x="92" y="146"/>
                    <a:pt x="92" y="146"/>
                    <a:pt x="92" y="14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160" y="136"/>
                    <a:pt x="160" y="136"/>
                    <a:pt x="160" y="136"/>
                  </a:cubicBezTo>
                  <a:cubicBezTo>
                    <a:pt x="164" y="136"/>
                    <a:pt x="168" y="132"/>
                    <a:pt x="168" y="128"/>
                  </a:cubicBezTo>
                  <a:cubicBezTo>
                    <a:pt x="168" y="32"/>
                    <a:pt x="168" y="32"/>
                    <a:pt x="168" y="32"/>
                  </a:cubicBezTo>
                  <a:cubicBezTo>
                    <a:pt x="172" y="32"/>
                    <a:pt x="176" y="28"/>
                    <a:pt x="176" y="24"/>
                  </a:cubicBezTo>
                  <a:cubicBezTo>
                    <a:pt x="176" y="16"/>
                    <a:pt x="176" y="16"/>
                    <a:pt x="176" y="16"/>
                  </a:cubicBezTo>
                  <a:cubicBezTo>
                    <a:pt x="176" y="12"/>
                    <a:pt x="172" y="8"/>
                    <a:pt x="168" y="8"/>
                  </a:cubicBezTo>
                  <a:moveTo>
                    <a:pt x="160" y="128"/>
                  </a:moveTo>
                  <a:cubicBezTo>
                    <a:pt x="16" y="128"/>
                    <a:pt x="16" y="128"/>
                    <a:pt x="16" y="128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0" y="32"/>
                    <a:pt x="160" y="32"/>
                    <a:pt x="160" y="32"/>
                  </a:cubicBezTo>
                  <a:lnTo>
                    <a:pt x="160" y="128"/>
                  </a:lnTo>
                  <a:close/>
                  <a:moveTo>
                    <a:pt x="168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68" y="16"/>
                    <a:pt x="168" y="16"/>
                    <a:pt x="168" y="16"/>
                  </a:cubicBezTo>
                  <a:lnTo>
                    <a:pt x="168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7" name="Oval 12">
            <a:extLst>
              <a:ext uri="{FF2B5EF4-FFF2-40B4-BE49-F238E27FC236}">
                <a16:creationId xmlns:a16="http://schemas.microsoft.com/office/drawing/2014/main" id="{E09458CD-86D3-A135-999C-B9892CD64DD3}"/>
              </a:ext>
            </a:extLst>
          </p:cNvPr>
          <p:cNvSpPr/>
          <p:nvPr/>
        </p:nvSpPr>
        <p:spPr>
          <a:xfrm rot="10800000">
            <a:off x="614838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48" name="TextBox 21">
            <a:extLst>
              <a:ext uri="{FF2B5EF4-FFF2-40B4-BE49-F238E27FC236}">
                <a16:creationId xmlns:a16="http://schemas.microsoft.com/office/drawing/2014/main" id="{D76AB95A-7FCC-5893-6EFA-699FAFB33DC5}"/>
              </a:ext>
            </a:extLst>
          </p:cNvPr>
          <p:cNvSpPr txBox="1"/>
          <p:nvPr/>
        </p:nvSpPr>
        <p:spPr>
          <a:xfrm>
            <a:off x="4467225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err="1">
                <a:solidFill>
                  <a:srgbClr val="219BC3"/>
                </a:solidFill>
                <a:latin typeface="+mj-lt"/>
              </a:rPr>
              <a:t>Partición</a:t>
            </a: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2D476CE3-159C-4F37-3D97-07BE0ABFB23E}"/>
              </a:ext>
            </a:extLst>
          </p:cNvPr>
          <p:cNvSpPr txBox="1"/>
          <p:nvPr/>
        </p:nvSpPr>
        <p:spPr>
          <a:xfrm>
            <a:off x="5300980" y="4002088"/>
            <a:ext cx="201168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Paso 2</a:t>
            </a:r>
          </a:p>
        </p:txBody>
      </p:sp>
      <p:sp>
        <p:nvSpPr>
          <p:cNvPr id="18445" name="TextBox 23">
            <a:extLst>
              <a:ext uri="{FF2B5EF4-FFF2-40B4-BE49-F238E27FC236}">
                <a16:creationId xmlns:a16="http://schemas.microsoft.com/office/drawing/2014/main" id="{FD2D5A23-2A43-542B-A74E-9FC5AF55E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860" y="6319838"/>
            <a:ext cx="278892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1700">
                <a:solidFill>
                  <a:schemeClr val="tx2"/>
                </a:solidFill>
              </a:rPr>
              <a:t>Estratificada 80/20, escalado de Time y Amount, semilla 42</a:t>
            </a:r>
          </a:p>
        </p:txBody>
      </p:sp>
      <p:sp>
        <p:nvSpPr>
          <p:cNvPr id="51" name="Oval 12">
            <a:extLst>
              <a:ext uri="{FF2B5EF4-FFF2-40B4-BE49-F238E27FC236}">
                <a16:creationId xmlns:a16="http://schemas.microsoft.com/office/drawing/2014/main" id="{13B4EB0F-E62F-B798-1B70-988BE8D222BF}"/>
              </a:ext>
            </a:extLst>
          </p:cNvPr>
          <p:cNvSpPr/>
          <p:nvPr/>
        </p:nvSpPr>
        <p:spPr>
          <a:xfrm rot="10800000">
            <a:off x="8953500" y="4964113"/>
            <a:ext cx="360363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52" name="TextBox 21">
            <a:extLst>
              <a:ext uri="{FF2B5EF4-FFF2-40B4-BE49-F238E27FC236}">
                <a16:creationId xmlns:a16="http://schemas.microsoft.com/office/drawing/2014/main" id="{127ECD8D-0EA1-106A-DA36-EC61F14C1755}"/>
              </a:ext>
            </a:extLst>
          </p:cNvPr>
          <p:cNvSpPr txBox="1"/>
          <p:nvPr/>
        </p:nvSpPr>
        <p:spPr>
          <a:xfrm>
            <a:off x="7272338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err="1">
                <a:solidFill>
                  <a:srgbClr val="219BC3"/>
                </a:solidFill>
                <a:latin typeface="+mj-lt"/>
              </a:rPr>
              <a:t>Entrenamiento</a:t>
            </a:r>
          </a:p>
        </p:txBody>
      </p:sp>
      <p:sp>
        <p:nvSpPr>
          <p:cNvPr id="53" name="TextBox 22">
            <a:extLst>
              <a:ext uri="{FF2B5EF4-FFF2-40B4-BE49-F238E27FC236}">
                <a16:creationId xmlns:a16="http://schemas.microsoft.com/office/drawing/2014/main" id="{9AAB39B7-6114-5645-3575-AC48C86AC398}"/>
              </a:ext>
            </a:extLst>
          </p:cNvPr>
          <p:cNvSpPr txBox="1"/>
          <p:nvPr/>
        </p:nvSpPr>
        <p:spPr>
          <a:xfrm>
            <a:off x="8106093" y="4002088"/>
            <a:ext cx="201168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Paso 3</a:t>
            </a:r>
          </a:p>
        </p:txBody>
      </p:sp>
      <p:sp>
        <p:nvSpPr>
          <p:cNvPr id="18449" name="TextBox 23">
            <a:extLst>
              <a:ext uri="{FF2B5EF4-FFF2-40B4-BE49-F238E27FC236}">
                <a16:creationId xmlns:a16="http://schemas.microsoft.com/office/drawing/2014/main" id="{0C60BE6C-CFD1-1747-E2FD-E446646B0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0973" y="6319838"/>
            <a:ext cx="278892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1700">
                <a:solidFill>
                  <a:schemeClr val="tx2"/>
                </a:solidFill>
              </a:rPr>
              <a:t>GridSearchCV 5-fold estratificado; resampling solo dentro de cada fold</a:t>
            </a:r>
          </a:p>
        </p:txBody>
      </p:sp>
      <p:sp>
        <p:nvSpPr>
          <p:cNvPr id="55" name="Oval 12">
            <a:extLst>
              <a:ext uri="{FF2B5EF4-FFF2-40B4-BE49-F238E27FC236}">
                <a16:creationId xmlns:a16="http://schemas.microsoft.com/office/drawing/2014/main" id="{6B880D74-FA87-3351-7134-91AF0EB9EDC1}"/>
              </a:ext>
            </a:extLst>
          </p:cNvPr>
          <p:cNvSpPr/>
          <p:nvPr/>
        </p:nvSpPr>
        <p:spPr>
          <a:xfrm rot="10800000">
            <a:off x="11882438" y="4964113"/>
            <a:ext cx="358775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56" name="TextBox 21">
            <a:extLst>
              <a:ext uri="{FF2B5EF4-FFF2-40B4-BE49-F238E27FC236}">
                <a16:creationId xmlns:a16="http://schemas.microsoft.com/office/drawing/2014/main" id="{0C099793-693D-81CC-640B-DEF6DB466FAE}"/>
              </a:ext>
            </a:extLst>
          </p:cNvPr>
          <p:cNvSpPr txBox="1"/>
          <p:nvPr/>
        </p:nvSpPr>
        <p:spPr>
          <a:xfrm>
            <a:off x="10199688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err="1">
                <a:solidFill>
                  <a:srgbClr val="219BC3"/>
                </a:solidFill>
                <a:latin typeface="+mj-lt"/>
              </a:rPr>
              <a:t>Evaluación</a:t>
            </a:r>
          </a:p>
        </p:txBody>
      </p:sp>
      <p:sp>
        <p:nvSpPr>
          <p:cNvPr id="57" name="TextBox 22">
            <a:extLst>
              <a:ext uri="{FF2B5EF4-FFF2-40B4-BE49-F238E27FC236}">
                <a16:creationId xmlns:a16="http://schemas.microsoft.com/office/drawing/2014/main" id="{5CF1DE34-A912-1807-EE73-6539EA97A326}"/>
              </a:ext>
            </a:extLst>
          </p:cNvPr>
          <p:cNvSpPr txBox="1"/>
          <p:nvPr/>
        </p:nvSpPr>
        <p:spPr>
          <a:xfrm>
            <a:off x="11033443" y="4002088"/>
            <a:ext cx="201168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Paso 4</a:t>
            </a:r>
          </a:p>
        </p:txBody>
      </p:sp>
      <p:sp>
        <p:nvSpPr>
          <p:cNvPr id="18453" name="TextBox 23">
            <a:extLst>
              <a:ext uri="{FF2B5EF4-FFF2-40B4-BE49-F238E27FC236}">
                <a16:creationId xmlns:a16="http://schemas.microsoft.com/office/drawing/2014/main" id="{6E02662E-5C3A-8B3D-E23D-BE7778DFA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8323" y="6319838"/>
            <a:ext cx="278892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1700">
                <a:solidFill>
                  <a:schemeClr val="tx2"/>
                </a:solidFill>
              </a:rPr>
              <a:t>Una única vez sobre el test reservado (56.962 tx)</a:t>
            </a:r>
          </a:p>
        </p:txBody>
      </p:sp>
      <p:sp>
        <p:nvSpPr>
          <p:cNvPr id="59" name="Oval 12">
            <a:extLst>
              <a:ext uri="{FF2B5EF4-FFF2-40B4-BE49-F238E27FC236}">
                <a16:creationId xmlns:a16="http://schemas.microsoft.com/office/drawing/2014/main" id="{7ED5B202-DBA8-2210-EE2A-0D63540AB6E6}"/>
              </a:ext>
            </a:extLst>
          </p:cNvPr>
          <p:cNvSpPr/>
          <p:nvPr/>
        </p:nvSpPr>
        <p:spPr>
          <a:xfrm rot="10800000">
            <a:off x="1456213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60" name="TextBox 21">
            <a:extLst>
              <a:ext uri="{FF2B5EF4-FFF2-40B4-BE49-F238E27FC236}">
                <a16:creationId xmlns:a16="http://schemas.microsoft.com/office/drawing/2014/main" id="{7A5631F2-70E7-9B3A-C6EE-A0F7A05E19BB}"/>
              </a:ext>
            </a:extLst>
          </p:cNvPr>
          <p:cNvSpPr txBox="1"/>
          <p:nvPr/>
        </p:nvSpPr>
        <p:spPr>
          <a:xfrm>
            <a:off x="12880975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err="1">
                <a:solidFill>
                  <a:srgbClr val="219BC3"/>
                </a:solidFill>
                <a:latin typeface="+mj-lt"/>
              </a:rPr>
              <a:t>Análisis</a:t>
            </a:r>
          </a:p>
        </p:txBody>
      </p:sp>
      <p:sp>
        <p:nvSpPr>
          <p:cNvPr id="61" name="TextBox 22">
            <a:extLst>
              <a:ext uri="{FF2B5EF4-FFF2-40B4-BE49-F238E27FC236}">
                <a16:creationId xmlns:a16="http://schemas.microsoft.com/office/drawing/2014/main" id="{80F8578E-4DE8-BADD-7877-18D10A23760D}"/>
              </a:ext>
            </a:extLst>
          </p:cNvPr>
          <p:cNvSpPr txBox="1"/>
          <p:nvPr/>
        </p:nvSpPr>
        <p:spPr>
          <a:xfrm>
            <a:off x="13714730" y="4002088"/>
            <a:ext cx="201168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Paso 5</a:t>
            </a:r>
          </a:p>
        </p:txBody>
      </p:sp>
      <p:sp>
        <p:nvSpPr>
          <p:cNvPr id="18457" name="TextBox 23">
            <a:extLst>
              <a:ext uri="{FF2B5EF4-FFF2-40B4-BE49-F238E27FC236}">
                <a16:creationId xmlns:a16="http://schemas.microsoft.com/office/drawing/2014/main" id="{21811AC3-0759-C3E9-858B-CF393BD36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9610" y="6319838"/>
            <a:ext cx="278892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1700">
                <a:solidFill>
                  <a:schemeClr val="tx2"/>
                </a:solidFill>
              </a:rPr>
              <a:t>SHAP, coste computacional y validación externa en IEEE-CIS</a:t>
            </a:r>
          </a:p>
        </p:txBody>
      </p:sp>
      <p:sp>
        <p:nvSpPr>
          <p:cNvPr id="18458" name="Slide Number Placeholder 2">
            <a:extLst>
              <a:ext uri="{FF2B5EF4-FFF2-40B4-BE49-F238E27FC236}">
                <a16:creationId xmlns:a16="http://schemas.microsoft.com/office/drawing/2014/main" id="{AA3A95BA-BC71-594E-0229-ECB16ADEB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B87A44B9-8C49-42F0-9E9B-7AD66CADFE0C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7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25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F4AC-0242-C393-575C-E8973F63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02 Metodología</a:t>
            </a:r>
            <a:br>
              <a:rPr lang="es-ES_tradnl"/>
            </a:br>
            <a:r>
              <a:rPr lang="es-ES_tradnl">
                <a:solidFill>
                  <a:srgbClr val="00566C"/>
                </a:solidFill>
              </a:rPr>
              <a:t>Diseño experimental: 5 × 3 = 15 combinaciones</a:t>
            </a:r>
          </a:p>
        </p:txBody>
      </p:sp>
      <p:grpSp>
        <p:nvGrpSpPr>
          <p:cNvPr id="13315" name="Group 58">
            <a:extLst>
              <a:ext uri="{FF2B5EF4-FFF2-40B4-BE49-F238E27FC236}">
                <a16:creationId xmlns:a16="http://schemas.microsoft.com/office/drawing/2014/main" id="{8EAC4C2E-375E-A813-1C5C-076610D972CE}"/>
              </a:ext>
            </a:extLst>
          </p:cNvPr>
          <p:cNvGrpSpPr>
            <a:grpSpLocks/>
          </p:cNvGrpSpPr>
          <p:nvPr/>
        </p:nvGrpSpPr>
        <p:grpSpPr bwMode="auto">
          <a:xfrm>
            <a:off x="1370013" y="2933700"/>
            <a:ext cx="3694112" cy="4989513"/>
            <a:chOff x="1369272" y="3290036"/>
            <a:chExt cx="3694493" cy="498996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10A3DA-FB22-367C-6E60-7F5E2B729E57}"/>
                </a:ext>
              </a:extLst>
            </p:cNvPr>
            <p:cNvSpPr txBox="1"/>
            <p:nvPr/>
          </p:nvSpPr>
          <p:spPr>
            <a:xfrm>
              <a:off x="1369272" y="4104498"/>
              <a:ext cx="3694493" cy="6461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2600" err="1">
                  <a:solidFill>
                    <a:schemeClr val="accent1"/>
                  </a:solidFill>
                  <a:latin typeface="+mj-lt"/>
                </a:rPr>
                <a:t>Modelos</a:t>
              </a:r>
            </a:p>
          </p:txBody>
        </p:sp>
        <p:sp>
          <p:nvSpPr>
            <p:cNvPr id="13328" name="Freeform 122">
              <a:extLst>
                <a:ext uri="{FF2B5EF4-FFF2-40B4-BE49-F238E27FC236}">
                  <a16:creationId xmlns:a16="http://schemas.microsoft.com/office/drawing/2014/main" id="{89097637-F475-2103-1769-02A34896FD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9272" y="3290036"/>
              <a:ext cx="628506" cy="628506"/>
            </a:xfrm>
            <a:custGeom>
              <a:avLst/>
              <a:gdLst>
                <a:gd name="T0" fmla="*/ 2147483646 w 176"/>
                <a:gd name="T1" fmla="*/ 663127396 h 176"/>
                <a:gd name="T2" fmla="*/ 2147483646 w 176"/>
                <a:gd name="T3" fmla="*/ 637622908 h 176"/>
                <a:gd name="T4" fmla="*/ 2147483646 w 176"/>
                <a:gd name="T5" fmla="*/ 637622908 h 176"/>
                <a:gd name="T6" fmla="*/ 2147483646 w 176"/>
                <a:gd name="T7" fmla="*/ 624870664 h 176"/>
                <a:gd name="T8" fmla="*/ 2147483646 w 176"/>
                <a:gd name="T9" fmla="*/ 624870664 h 176"/>
                <a:gd name="T10" fmla="*/ 1619559972 w 176"/>
                <a:gd name="T11" fmla="*/ 25504488 h 176"/>
                <a:gd name="T12" fmla="*/ 1619559972 w 176"/>
                <a:gd name="T13" fmla="*/ 25504488 h 176"/>
                <a:gd name="T14" fmla="*/ 1581303241 w 176"/>
                <a:gd name="T15" fmla="*/ 0 h 176"/>
                <a:gd name="T16" fmla="*/ 663127396 w 176"/>
                <a:gd name="T17" fmla="*/ 0 h 176"/>
                <a:gd name="T18" fmla="*/ 624870664 w 176"/>
                <a:gd name="T19" fmla="*/ 25504488 h 176"/>
                <a:gd name="T20" fmla="*/ 624870664 w 176"/>
                <a:gd name="T21" fmla="*/ 25504488 h 176"/>
                <a:gd name="T22" fmla="*/ 12752244 w 176"/>
                <a:gd name="T23" fmla="*/ 624870664 h 176"/>
                <a:gd name="T24" fmla="*/ 12752244 w 176"/>
                <a:gd name="T25" fmla="*/ 624870664 h 176"/>
                <a:gd name="T26" fmla="*/ 12752244 w 176"/>
                <a:gd name="T27" fmla="*/ 637622908 h 176"/>
                <a:gd name="T28" fmla="*/ 12752244 w 176"/>
                <a:gd name="T29" fmla="*/ 637622908 h 176"/>
                <a:gd name="T30" fmla="*/ 0 w 176"/>
                <a:gd name="T31" fmla="*/ 663127396 h 176"/>
                <a:gd name="T32" fmla="*/ 12752244 w 176"/>
                <a:gd name="T33" fmla="*/ 688631884 h 176"/>
                <a:gd name="T34" fmla="*/ 12752244 w 176"/>
                <a:gd name="T35" fmla="*/ 701384128 h 176"/>
                <a:gd name="T36" fmla="*/ 1083958587 w 176"/>
                <a:gd name="T37" fmla="*/ 2147483646 h 176"/>
                <a:gd name="T38" fmla="*/ 1083958587 w 176"/>
                <a:gd name="T39" fmla="*/ 2147483646 h 176"/>
                <a:gd name="T40" fmla="*/ 1122215318 w 176"/>
                <a:gd name="T41" fmla="*/ 2147483646 h 176"/>
                <a:gd name="T42" fmla="*/ 1160472050 w 176"/>
                <a:gd name="T43" fmla="*/ 2147483646 h 176"/>
                <a:gd name="T44" fmla="*/ 1160472050 w 176"/>
                <a:gd name="T45" fmla="*/ 2147483646 h 176"/>
                <a:gd name="T46" fmla="*/ 2147483646 w 176"/>
                <a:gd name="T47" fmla="*/ 701384128 h 176"/>
                <a:gd name="T48" fmla="*/ 2147483646 w 176"/>
                <a:gd name="T49" fmla="*/ 688631884 h 176"/>
                <a:gd name="T50" fmla="*/ 2147483646 w 176"/>
                <a:gd name="T51" fmla="*/ 663127396 h 176"/>
                <a:gd name="T52" fmla="*/ 1555798753 w 176"/>
                <a:gd name="T53" fmla="*/ 102017951 h 176"/>
                <a:gd name="T54" fmla="*/ 2065895651 w 176"/>
                <a:gd name="T55" fmla="*/ 612118420 h 176"/>
                <a:gd name="T56" fmla="*/ 1606807729 w 176"/>
                <a:gd name="T57" fmla="*/ 612118420 h 176"/>
                <a:gd name="T58" fmla="*/ 1351759280 w 176"/>
                <a:gd name="T59" fmla="*/ 102017951 h 176"/>
                <a:gd name="T60" fmla="*/ 1555798753 w 176"/>
                <a:gd name="T61" fmla="*/ 102017951 h 176"/>
                <a:gd name="T62" fmla="*/ 1249741328 w 176"/>
                <a:gd name="T63" fmla="*/ 102017951 h 176"/>
                <a:gd name="T64" fmla="*/ 1504789777 w 176"/>
                <a:gd name="T65" fmla="*/ 612118420 h 176"/>
                <a:gd name="T66" fmla="*/ 739640859 w 176"/>
                <a:gd name="T67" fmla="*/ 612118420 h 176"/>
                <a:gd name="T68" fmla="*/ 994689308 w 176"/>
                <a:gd name="T69" fmla="*/ 102017951 h 176"/>
                <a:gd name="T70" fmla="*/ 1249741328 w 176"/>
                <a:gd name="T71" fmla="*/ 102017951 h 176"/>
                <a:gd name="T72" fmla="*/ 688631884 w 176"/>
                <a:gd name="T73" fmla="*/ 102017951 h 176"/>
                <a:gd name="T74" fmla="*/ 892671357 w 176"/>
                <a:gd name="T75" fmla="*/ 102017951 h 176"/>
                <a:gd name="T76" fmla="*/ 637622908 w 176"/>
                <a:gd name="T77" fmla="*/ 612118420 h 176"/>
                <a:gd name="T78" fmla="*/ 178534986 w 176"/>
                <a:gd name="T79" fmla="*/ 612118420 h 176"/>
                <a:gd name="T80" fmla="*/ 688631884 w 176"/>
                <a:gd name="T81" fmla="*/ 102017951 h 176"/>
                <a:gd name="T82" fmla="*/ 153030498 w 176"/>
                <a:gd name="T83" fmla="*/ 714136371 h 176"/>
                <a:gd name="T84" fmla="*/ 624870664 w 176"/>
                <a:gd name="T85" fmla="*/ 714136371 h 176"/>
                <a:gd name="T86" fmla="*/ 981937064 w 176"/>
                <a:gd name="T87" fmla="*/ 1900112909 h 176"/>
                <a:gd name="T88" fmla="*/ 153030498 w 176"/>
                <a:gd name="T89" fmla="*/ 714136371 h 176"/>
                <a:gd name="T90" fmla="*/ 1122215318 w 176"/>
                <a:gd name="T91" fmla="*/ 2014886675 h 176"/>
                <a:gd name="T92" fmla="*/ 726888615 w 176"/>
                <a:gd name="T93" fmla="*/ 714136371 h 176"/>
                <a:gd name="T94" fmla="*/ 1517542021 w 176"/>
                <a:gd name="T95" fmla="*/ 714136371 h 176"/>
                <a:gd name="T96" fmla="*/ 1122215318 w 176"/>
                <a:gd name="T97" fmla="*/ 2014886675 h 176"/>
                <a:gd name="T98" fmla="*/ 1262493572 w 176"/>
                <a:gd name="T99" fmla="*/ 1900112909 h 176"/>
                <a:gd name="T100" fmla="*/ 1619559972 w 176"/>
                <a:gd name="T101" fmla="*/ 714136371 h 176"/>
                <a:gd name="T102" fmla="*/ 2091400139 w 176"/>
                <a:gd name="T103" fmla="*/ 714136371 h 176"/>
                <a:gd name="T104" fmla="*/ 1262493572 w 176"/>
                <a:gd name="T105" fmla="*/ 1900112909 h 17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76" h="176">
                  <a:moveTo>
                    <a:pt x="176" y="52"/>
                  </a:moveTo>
                  <a:cubicBezTo>
                    <a:pt x="176" y="51"/>
                    <a:pt x="176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6" y="1"/>
                    <a:pt x="125" y="0"/>
                    <a:pt x="12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0" y="1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0" y="50"/>
                    <a:pt x="0" y="51"/>
                    <a:pt x="0" y="52"/>
                  </a:cubicBezTo>
                  <a:cubicBezTo>
                    <a:pt x="0" y="53"/>
                    <a:pt x="0" y="54"/>
                    <a:pt x="1" y="54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4"/>
                    <a:pt x="85" y="174"/>
                    <a:pt x="85" y="174"/>
                  </a:cubicBezTo>
                  <a:cubicBezTo>
                    <a:pt x="86" y="175"/>
                    <a:pt x="87" y="176"/>
                    <a:pt x="88" y="176"/>
                  </a:cubicBezTo>
                  <a:cubicBezTo>
                    <a:pt x="89" y="176"/>
                    <a:pt x="90" y="175"/>
                    <a:pt x="91" y="174"/>
                  </a:cubicBezTo>
                  <a:cubicBezTo>
                    <a:pt x="91" y="175"/>
                    <a:pt x="91" y="175"/>
                    <a:pt x="91" y="17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6" y="54"/>
                    <a:pt x="176" y="53"/>
                    <a:pt x="176" y="52"/>
                  </a:cubicBezTo>
                  <a:moveTo>
                    <a:pt x="122" y="8"/>
                  </a:moveTo>
                  <a:cubicBezTo>
                    <a:pt x="162" y="48"/>
                    <a:pt x="162" y="48"/>
                    <a:pt x="162" y="48"/>
                  </a:cubicBezTo>
                  <a:cubicBezTo>
                    <a:pt x="126" y="48"/>
                    <a:pt x="126" y="48"/>
                    <a:pt x="126" y="48"/>
                  </a:cubicBezTo>
                  <a:cubicBezTo>
                    <a:pt x="106" y="8"/>
                    <a:pt x="106" y="8"/>
                    <a:pt x="106" y="8"/>
                  </a:cubicBezTo>
                  <a:lnTo>
                    <a:pt x="122" y="8"/>
                  </a:lnTo>
                  <a:close/>
                  <a:moveTo>
                    <a:pt x="98" y="8"/>
                  </a:moveTo>
                  <a:cubicBezTo>
                    <a:pt x="118" y="48"/>
                    <a:pt x="118" y="48"/>
                    <a:pt x="11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78" y="8"/>
                    <a:pt x="78" y="8"/>
                    <a:pt x="78" y="8"/>
                  </a:cubicBezTo>
                  <a:lnTo>
                    <a:pt x="98" y="8"/>
                  </a:lnTo>
                  <a:close/>
                  <a:moveTo>
                    <a:pt x="54" y="8"/>
                  </a:moveTo>
                  <a:cubicBezTo>
                    <a:pt x="70" y="8"/>
                    <a:pt x="70" y="8"/>
                    <a:pt x="70" y="8"/>
                  </a:cubicBezTo>
                  <a:cubicBezTo>
                    <a:pt x="50" y="48"/>
                    <a:pt x="50" y="48"/>
                    <a:pt x="50" y="48"/>
                  </a:cubicBezTo>
                  <a:cubicBezTo>
                    <a:pt x="14" y="48"/>
                    <a:pt x="14" y="48"/>
                    <a:pt x="14" y="48"/>
                  </a:cubicBezTo>
                  <a:lnTo>
                    <a:pt x="54" y="8"/>
                  </a:lnTo>
                  <a:close/>
                  <a:moveTo>
                    <a:pt x="12" y="56"/>
                  </a:moveTo>
                  <a:cubicBezTo>
                    <a:pt x="49" y="56"/>
                    <a:pt x="49" y="56"/>
                    <a:pt x="49" y="56"/>
                  </a:cubicBezTo>
                  <a:cubicBezTo>
                    <a:pt x="77" y="149"/>
                    <a:pt x="77" y="149"/>
                    <a:pt x="77" y="149"/>
                  </a:cubicBezTo>
                  <a:lnTo>
                    <a:pt x="12" y="56"/>
                  </a:lnTo>
                  <a:close/>
                  <a:moveTo>
                    <a:pt x="88" y="158"/>
                  </a:moveTo>
                  <a:cubicBezTo>
                    <a:pt x="57" y="56"/>
                    <a:pt x="57" y="56"/>
                    <a:pt x="57" y="56"/>
                  </a:cubicBezTo>
                  <a:cubicBezTo>
                    <a:pt x="119" y="56"/>
                    <a:pt x="119" y="56"/>
                    <a:pt x="119" y="56"/>
                  </a:cubicBezTo>
                  <a:lnTo>
                    <a:pt x="88" y="158"/>
                  </a:lnTo>
                  <a:close/>
                  <a:moveTo>
                    <a:pt x="99" y="149"/>
                  </a:moveTo>
                  <a:cubicBezTo>
                    <a:pt x="127" y="56"/>
                    <a:pt x="127" y="56"/>
                    <a:pt x="127" y="56"/>
                  </a:cubicBezTo>
                  <a:cubicBezTo>
                    <a:pt x="164" y="56"/>
                    <a:pt x="164" y="56"/>
                    <a:pt x="164" y="56"/>
                  </a:cubicBezTo>
                  <a:lnTo>
                    <a:pt x="99" y="1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329" name="TextBox 52">
              <a:extLst>
                <a:ext uri="{FF2B5EF4-FFF2-40B4-BE49-F238E27FC236}">
                  <a16:creationId xmlns:a16="http://schemas.microsoft.com/office/drawing/2014/main" id="{9A2D1223-91DF-F1FE-0F66-AA6C25D32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9272" y="5094513"/>
              <a:ext cx="3583727" cy="3185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1313" indent="-341313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1900">
                  <a:solidFill>
                    <a:schemeClr val="tx2"/>
                  </a:solidFill>
                </a:rPr>
                <a:t>Regresión Logística y Árbol de Decisión (referencia)</a:t>
              </a:r>
            </a:p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1900">
                  <a:solidFill>
                    <a:schemeClr val="tx2"/>
                  </a:solidFill>
                </a:rPr>
                <a:t>Random Forest (bagging)</a:t>
              </a:r>
            </a:p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1900">
                  <a:solidFill>
                    <a:schemeClr val="tx2"/>
                  </a:solidFill>
                </a:rPr>
                <a:t>XGBoost y LightGBM (boosting)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AB93D08-7EEF-7AEE-D61F-80B83FB3F12C}"/>
              </a:ext>
            </a:extLst>
          </p:cNvPr>
          <p:cNvSpPr txBox="1"/>
          <p:nvPr/>
        </p:nvSpPr>
        <p:spPr>
          <a:xfrm>
            <a:off x="5357813" y="3709988"/>
            <a:ext cx="3640137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600" err="1">
                <a:solidFill>
                  <a:srgbClr val="00566C"/>
                </a:solidFill>
                <a:latin typeface="+mj-lt"/>
              </a:rPr>
              <a:t>Resampling</a:t>
            </a:r>
          </a:p>
        </p:txBody>
      </p:sp>
      <p:sp>
        <p:nvSpPr>
          <p:cNvPr id="47" name="Freeform 441">
            <a:extLst>
              <a:ext uri="{FF2B5EF4-FFF2-40B4-BE49-F238E27FC236}">
                <a16:creationId xmlns:a16="http://schemas.microsoft.com/office/drawing/2014/main" id="{ED40024D-125D-4961-C712-28F6A0A8AB19}"/>
              </a:ext>
            </a:extLst>
          </p:cNvPr>
          <p:cNvSpPr>
            <a:spLocks noEditPoints="1"/>
          </p:cNvSpPr>
          <p:nvPr/>
        </p:nvSpPr>
        <p:spPr bwMode="auto">
          <a:xfrm>
            <a:off x="5357813" y="2933700"/>
            <a:ext cx="573087" cy="573088"/>
          </a:xfrm>
          <a:custGeom>
            <a:avLst/>
            <a:gdLst>
              <a:gd name="T0" fmla="*/ 176 w 176"/>
              <a:gd name="T1" fmla="*/ 52 h 176"/>
              <a:gd name="T2" fmla="*/ 124 w 176"/>
              <a:gd name="T3" fmla="*/ 0 h 176"/>
              <a:gd name="T4" fmla="*/ 88 w 176"/>
              <a:gd name="T5" fmla="*/ 15 h 176"/>
              <a:gd name="T6" fmla="*/ 52 w 176"/>
              <a:gd name="T7" fmla="*/ 0 h 176"/>
              <a:gd name="T8" fmla="*/ 0 w 176"/>
              <a:gd name="T9" fmla="*/ 52 h 176"/>
              <a:gd name="T10" fmla="*/ 0 w 176"/>
              <a:gd name="T11" fmla="*/ 58 h 176"/>
              <a:gd name="T12" fmla="*/ 88 w 176"/>
              <a:gd name="T13" fmla="*/ 176 h 176"/>
              <a:gd name="T14" fmla="*/ 176 w 176"/>
              <a:gd name="T15" fmla="*/ 58 h 176"/>
              <a:gd name="T16" fmla="*/ 176 w 176"/>
              <a:gd name="T17" fmla="*/ 52 h 176"/>
              <a:gd name="T18" fmla="*/ 168 w 176"/>
              <a:gd name="T19" fmla="*/ 57 h 176"/>
              <a:gd name="T20" fmla="*/ 88 w 176"/>
              <a:gd name="T21" fmla="*/ 167 h 176"/>
              <a:gd name="T22" fmla="*/ 8 w 176"/>
              <a:gd name="T23" fmla="*/ 57 h 176"/>
              <a:gd name="T24" fmla="*/ 8 w 176"/>
              <a:gd name="T25" fmla="*/ 52 h 176"/>
              <a:gd name="T26" fmla="*/ 52 w 176"/>
              <a:gd name="T27" fmla="*/ 8 h 176"/>
              <a:gd name="T28" fmla="*/ 82 w 176"/>
              <a:gd name="T29" fmla="*/ 20 h 176"/>
              <a:gd name="T30" fmla="*/ 86 w 176"/>
              <a:gd name="T31" fmla="*/ 24 h 176"/>
              <a:gd name="T32" fmla="*/ 72 w 176"/>
              <a:gd name="T33" fmla="*/ 56 h 176"/>
              <a:gd name="T34" fmla="*/ 92 w 176"/>
              <a:gd name="T35" fmla="*/ 80 h 176"/>
              <a:gd name="T36" fmla="*/ 76 w 176"/>
              <a:gd name="T37" fmla="*/ 116 h 176"/>
              <a:gd name="T38" fmla="*/ 88 w 176"/>
              <a:gd name="T39" fmla="*/ 136 h 176"/>
              <a:gd name="T40" fmla="*/ 85 w 176"/>
              <a:gd name="T41" fmla="*/ 116 h 176"/>
              <a:gd name="T42" fmla="*/ 101 w 176"/>
              <a:gd name="T43" fmla="*/ 78 h 176"/>
              <a:gd name="T44" fmla="*/ 82 w 176"/>
              <a:gd name="T45" fmla="*/ 55 h 176"/>
              <a:gd name="T46" fmla="*/ 98 w 176"/>
              <a:gd name="T47" fmla="*/ 16 h 176"/>
              <a:gd name="T48" fmla="*/ 124 w 176"/>
              <a:gd name="T49" fmla="*/ 8 h 176"/>
              <a:gd name="T50" fmla="*/ 168 w 176"/>
              <a:gd name="T51" fmla="*/ 52 h 176"/>
              <a:gd name="T52" fmla="*/ 168 w 176"/>
              <a:gd name="T53" fmla="*/ 57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176" y="52"/>
                </a:moveTo>
                <a:cubicBezTo>
                  <a:pt x="176" y="23"/>
                  <a:pt x="153" y="0"/>
                  <a:pt x="124" y="0"/>
                </a:cubicBezTo>
                <a:cubicBezTo>
                  <a:pt x="110" y="0"/>
                  <a:pt x="97" y="6"/>
                  <a:pt x="88" y="15"/>
                </a:cubicBezTo>
                <a:cubicBezTo>
                  <a:pt x="79" y="6"/>
                  <a:pt x="66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55"/>
                  <a:pt x="1" y="59"/>
                  <a:pt x="0" y="58"/>
                </a:cubicBezTo>
                <a:cubicBezTo>
                  <a:pt x="6" y="109"/>
                  <a:pt x="80" y="176"/>
                  <a:pt x="88" y="176"/>
                </a:cubicBezTo>
                <a:cubicBezTo>
                  <a:pt x="96" y="176"/>
                  <a:pt x="170" y="109"/>
                  <a:pt x="176" y="58"/>
                </a:cubicBezTo>
                <a:cubicBezTo>
                  <a:pt x="175" y="59"/>
                  <a:pt x="176" y="55"/>
                  <a:pt x="176" y="52"/>
                </a:cubicBezTo>
                <a:moveTo>
                  <a:pt x="168" y="57"/>
                </a:moveTo>
                <a:cubicBezTo>
                  <a:pt x="163" y="100"/>
                  <a:pt x="103" y="158"/>
                  <a:pt x="88" y="167"/>
                </a:cubicBezTo>
                <a:cubicBezTo>
                  <a:pt x="73" y="158"/>
                  <a:pt x="13" y="100"/>
                  <a:pt x="8" y="57"/>
                </a:cubicBezTo>
                <a:cubicBezTo>
                  <a:pt x="8" y="57"/>
                  <a:pt x="8" y="55"/>
                  <a:pt x="8" y="52"/>
                </a:cubicBezTo>
                <a:cubicBezTo>
                  <a:pt x="8" y="28"/>
                  <a:pt x="28" y="8"/>
                  <a:pt x="52" y="8"/>
                </a:cubicBezTo>
                <a:cubicBezTo>
                  <a:pt x="63" y="8"/>
                  <a:pt x="74" y="12"/>
                  <a:pt x="82" y="20"/>
                </a:cubicBezTo>
                <a:cubicBezTo>
                  <a:pt x="86" y="24"/>
                  <a:pt x="86" y="24"/>
                  <a:pt x="86" y="24"/>
                </a:cubicBezTo>
                <a:cubicBezTo>
                  <a:pt x="72" y="56"/>
                  <a:pt x="72" y="56"/>
                  <a:pt x="72" y="56"/>
                </a:cubicBezTo>
                <a:cubicBezTo>
                  <a:pt x="92" y="80"/>
                  <a:pt x="92" y="80"/>
                  <a:pt x="92" y="80"/>
                </a:cubicBezTo>
                <a:cubicBezTo>
                  <a:pt x="76" y="116"/>
                  <a:pt x="76" y="116"/>
                  <a:pt x="76" y="116"/>
                </a:cubicBezTo>
                <a:cubicBezTo>
                  <a:pt x="88" y="136"/>
                  <a:pt x="88" y="136"/>
                  <a:pt x="88" y="136"/>
                </a:cubicBezTo>
                <a:cubicBezTo>
                  <a:pt x="85" y="116"/>
                  <a:pt x="85" y="116"/>
                  <a:pt x="85" y="116"/>
                </a:cubicBezTo>
                <a:cubicBezTo>
                  <a:pt x="101" y="78"/>
                  <a:pt x="101" y="78"/>
                  <a:pt x="101" y="78"/>
                </a:cubicBezTo>
                <a:cubicBezTo>
                  <a:pt x="82" y="55"/>
                  <a:pt x="82" y="55"/>
                  <a:pt x="82" y="55"/>
                </a:cubicBezTo>
                <a:cubicBezTo>
                  <a:pt x="98" y="16"/>
                  <a:pt x="98" y="16"/>
                  <a:pt x="98" y="16"/>
                </a:cubicBezTo>
                <a:cubicBezTo>
                  <a:pt x="106" y="11"/>
                  <a:pt x="115" y="8"/>
                  <a:pt x="124" y="8"/>
                </a:cubicBezTo>
                <a:cubicBezTo>
                  <a:pt x="148" y="8"/>
                  <a:pt x="168" y="28"/>
                  <a:pt x="168" y="52"/>
                </a:cubicBezTo>
                <a:cubicBezTo>
                  <a:pt x="168" y="55"/>
                  <a:pt x="168" y="57"/>
                  <a:pt x="168" y="57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latin typeface="+mn-lt"/>
            </a:endParaRPr>
          </a:p>
        </p:txBody>
      </p:sp>
      <p:sp>
        <p:nvSpPr>
          <p:cNvPr id="13318" name="TextBox 53">
            <a:extLst>
              <a:ext uri="{FF2B5EF4-FFF2-40B4-BE49-F238E27FC236}">
                <a16:creationId xmlns:a16="http://schemas.microsoft.com/office/drawing/2014/main" id="{9FD3894D-8C93-FA9D-C4CB-A9B2E2D66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4738688"/>
            <a:ext cx="3582987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1900">
                <a:solidFill>
                  <a:schemeClr val="tx2"/>
                </a:solidFill>
              </a:rPr>
              <a:t>Sin tratamiento: pesos de clase internos</a:t>
            </a:r>
          </a:p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1900">
                <a:solidFill>
                  <a:schemeClr val="tx2"/>
                </a:solidFill>
              </a:rPr>
              <a:t>SMOTE (k = 5)</a:t>
            </a:r>
          </a:p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1900">
                <a:solidFill>
                  <a:schemeClr val="tx2"/>
                </a:solidFill>
              </a:rPr>
              <a:t>ADASYN (n = 5)</a:t>
            </a:r>
          </a:p>
        </p:txBody>
      </p:sp>
      <p:grpSp>
        <p:nvGrpSpPr>
          <p:cNvPr id="13319" name="Group 61">
            <a:extLst>
              <a:ext uri="{FF2B5EF4-FFF2-40B4-BE49-F238E27FC236}">
                <a16:creationId xmlns:a16="http://schemas.microsoft.com/office/drawing/2014/main" id="{C3156ACE-08A6-4BFF-3949-13B9A5156286}"/>
              </a:ext>
            </a:extLst>
          </p:cNvPr>
          <p:cNvGrpSpPr>
            <a:grpSpLocks/>
          </p:cNvGrpSpPr>
          <p:nvPr/>
        </p:nvGrpSpPr>
        <p:grpSpPr bwMode="auto">
          <a:xfrm>
            <a:off x="9290050" y="2933700"/>
            <a:ext cx="3695700" cy="4989513"/>
            <a:chOff x="9194237" y="3290036"/>
            <a:chExt cx="3694492" cy="498996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45AE57-778F-715E-50D0-4ADC80B9A4A0}"/>
                </a:ext>
              </a:extLst>
            </p:cNvPr>
            <p:cNvSpPr txBox="1"/>
            <p:nvPr/>
          </p:nvSpPr>
          <p:spPr>
            <a:xfrm>
              <a:off x="9194237" y="4060044"/>
              <a:ext cx="3694492" cy="6461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2600" err="1">
                  <a:solidFill>
                    <a:schemeClr val="accent1"/>
                  </a:solidFill>
                  <a:latin typeface="+mj-lt"/>
                </a:rPr>
                <a:t>Validación</a:t>
              </a:r>
            </a:p>
          </p:txBody>
        </p:sp>
        <p:sp>
          <p:nvSpPr>
            <p:cNvPr id="13325" name="Freeform 355">
              <a:extLst>
                <a:ext uri="{FF2B5EF4-FFF2-40B4-BE49-F238E27FC236}">
                  <a16:creationId xmlns:a16="http://schemas.microsoft.com/office/drawing/2014/main" id="{724FCC71-BF36-0C27-7181-39B49BE702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94237" y="3290036"/>
              <a:ext cx="614728" cy="628384"/>
            </a:xfrm>
            <a:custGeom>
              <a:avLst/>
              <a:gdLst>
                <a:gd name="T0" fmla="*/ 585573826 w 176"/>
                <a:gd name="T1" fmla="*/ 611878209 h 176"/>
                <a:gd name="T2" fmla="*/ 378183460 w 176"/>
                <a:gd name="T3" fmla="*/ 331433286 h 176"/>
                <a:gd name="T4" fmla="*/ 317185677 w 176"/>
                <a:gd name="T5" fmla="*/ 395171418 h 176"/>
                <a:gd name="T6" fmla="*/ 390383715 w 176"/>
                <a:gd name="T7" fmla="*/ 1121779692 h 176"/>
                <a:gd name="T8" fmla="*/ 48797528 w 176"/>
                <a:gd name="T9" fmla="*/ 1070791329 h 176"/>
                <a:gd name="T10" fmla="*/ 48797528 w 176"/>
                <a:gd name="T11" fmla="*/ 1172768055 h 176"/>
                <a:gd name="T12" fmla="*/ 390383715 w 176"/>
                <a:gd name="T13" fmla="*/ 1121779692 h 176"/>
                <a:gd name="T14" fmla="*/ 1122350124 w 176"/>
                <a:gd name="T15" fmla="*/ 356929253 h 176"/>
                <a:gd name="T16" fmla="*/ 1073552597 w 176"/>
                <a:gd name="T17" fmla="*/ 0 h 176"/>
                <a:gd name="T18" fmla="*/ 1024755069 w 176"/>
                <a:gd name="T19" fmla="*/ 356929253 h 176"/>
                <a:gd name="T20" fmla="*/ 1622529150 w 176"/>
                <a:gd name="T21" fmla="*/ 611878209 h 176"/>
                <a:gd name="T22" fmla="*/ 1829919516 w 176"/>
                <a:gd name="T23" fmla="*/ 331433286 h 176"/>
                <a:gd name="T24" fmla="*/ 1561531367 w 176"/>
                <a:gd name="T25" fmla="*/ 548143648 h 176"/>
                <a:gd name="T26" fmla="*/ 1622529150 w 176"/>
                <a:gd name="T27" fmla="*/ 611878209 h 176"/>
                <a:gd name="T28" fmla="*/ 317185677 w 176"/>
                <a:gd name="T29" fmla="*/ 1848387966 h 176"/>
                <a:gd name="T30" fmla="*/ 378183460 w 176"/>
                <a:gd name="T31" fmla="*/ 1912126097 h 176"/>
                <a:gd name="T32" fmla="*/ 585573826 w 176"/>
                <a:gd name="T33" fmla="*/ 1631681174 h 176"/>
                <a:gd name="T34" fmla="*/ 2098307665 w 176"/>
                <a:gd name="T35" fmla="*/ 1070791329 h 176"/>
                <a:gd name="T36" fmla="*/ 1756721478 w 176"/>
                <a:gd name="T37" fmla="*/ 1121779692 h 176"/>
                <a:gd name="T38" fmla="*/ 2098307665 w 176"/>
                <a:gd name="T39" fmla="*/ 1172768055 h 176"/>
                <a:gd name="T40" fmla="*/ 2098307665 w 176"/>
                <a:gd name="T41" fmla="*/ 1070791329 h 176"/>
                <a:gd name="T42" fmla="*/ 1561531367 w 176"/>
                <a:gd name="T43" fmla="*/ 1631681174 h 176"/>
                <a:gd name="T44" fmla="*/ 1768921733 w 176"/>
                <a:gd name="T45" fmla="*/ 1912126097 h 176"/>
                <a:gd name="T46" fmla="*/ 1829919516 w 176"/>
                <a:gd name="T47" fmla="*/ 1848387966 h 176"/>
                <a:gd name="T48" fmla="*/ 1073552597 w 176"/>
                <a:gd name="T49" fmla="*/ 509901483 h 176"/>
                <a:gd name="T50" fmla="*/ 1073552597 w 176"/>
                <a:gd name="T51" fmla="*/ 1733657901 h 176"/>
                <a:gd name="T52" fmla="*/ 1073552597 w 176"/>
                <a:gd name="T53" fmla="*/ 509901483 h 176"/>
                <a:gd name="T54" fmla="*/ 585573826 w 176"/>
                <a:gd name="T55" fmla="*/ 1121779692 h 176"/>
                <a:gd name="T56" fmla="*/ 1561531367 w 176"/>
                <a:gd name="T57" fmla="*/ 1121779692 h 176"/>
                <a:gd name="T58" fmla="*/ 1073552597 w 176"/>
                <a:gd name="T59" fmla="*/ 1835638197 h 176"/>
                <a:gd name="T60" fmla="*/ 1024755069 w 176"/>
                <a:gd name="T61" fmla="*/ 2147483646 h 176"/>
                <a:gd name="T62" fmla="*/ 1122350124 w 176"/>
                <a:gd name="T63" fmla="*/ 2147483646 h 176"/>
                <a:gd name="T64" fmla="*/ 1073552597 w 176"/>
                <a:gd name="T65" fmla="*/ 1835638197 h 1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76" h="176">
                  <a:moveTo>
                    <a:pt x="43" y="48"/>
                  </a:moveTo>
                  <a:cubicBezTo>
                    <a:pt x="44" y="50"/>
                    <a:pt x="47" y="50"/>
                    <a:pt x="48" y="48"/>
                  </a:cubicBezTo>
                  <a:cubicBezTo>
                    <a:pt x="50" y="47"/>
                    <a:pt x="50" y="44"/>
                    <a:pt x="48" y="43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0" y="24"/>
                    <a:pt x="27" y="24"/>
                    <a:pt x="26" y="26"/>
                  </a:cubicBezTo>
                  <a:cubicBezTo>
                    <a:pt x="24" y="27"/>
                    <a:pt x="24" y="30"/>
                    <a:pt x="26" y="31"/>
                  </a:cubicBezTo>
                  <a:lnTo>
                    <a:pt x="43" y="48"/>
                  </a:lnTo>
                  <a:close/>
                  <a:moveTo>
                    <a:pt x="32" y="88"/>
                  </a:moveTo>
                  <a:cubicBezTo>
                    <a:pt x="32" y="86"/>
                    <a:pt x="30" y="84"/>
                    <a:pt x="28" y="84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2" y="84"/>
                    <a:pt x="0" y="86"/>
                    <a:pt x="0" y="88"/>
                  </a:cubicBezTo>
                  <a:cubicBezTo>
                    <a:pt x="0" y="90"/>
                    <a:pt x="2" y="92"/>
                    <a:pt x="4" y="92"/>
                  </a:cubicBezTo>
                  <a:cubicBezTo>
                    <a:pt x="28" y="92"/>
                    <a:pt x="28" y="92"/>
                    <a:pt x="28" y="92"/>
                  </a:cubicBezTo>
                  <a:cubicBezTo>
                    <a:pt x="30" y="92"/>
                    <a:pt x="32" y="90"/>
                    <a:pt x="32" y="88"/>
                  </a:cubicBezTo>
                  <a:moveTo>
                    <a:pt x="88" y="32"/>
                  </a:moveTo>
                  <a:cubicBezTo>
                    <a:pt x="90" y="32"/>
                    <a:pt x="92" y="30"/>
                    <a:pt x="92" y="28"/>
                  </a:cubicBezTo>
                  <a:cubicBezTo>
                    <a:pt x="92" y="4"/>
                    <a:pt x="92" y="4"/>
                    <a:pt x="92" y="4"/>
                  </a:cubicBezTo>
                  <a:cubicBezTo>
                    <a:pt x="92" y="2"/>
                    <a:pt x="90" y="0"/>
                    <a:pt x="88" y="0"/>
                  </a:cubicBezTo>
                  <a:cubicBezTo>
                    <a:pt x="86" y="0"/>
                    <a:pt x="84" y="2"/>
                    <a:pt x="84" y="4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4" y="30"/>
                    <a:pt x="86" y="32"/>
                    <a:pt x="88" y="32"/>
                  </a:cubicBezTo>
                  <a:moveTo>
                    <a:pt x="133" y="48"/>
                  </a:moveTo>
                  <a:cubicBezTo>
                    <a:pt x="150" y="31"/>
                    <a:pt x="150" y="31"/>
                    <a:pt x="150" y="31"/>
                  </a:cubicBezTo>
                  <a:cubicBezTo>
                    <a:pt x="152" y="30"/>
                    <a:pt x="152" y="27"/>
                    <a:pt x="150" y="26"/>
                  </a:cubicBezTo>
                  <a:cubicBezTo>
                    <a:pt x="149" y="24"/>
                    <a:pt x="146" y="24"/>
                    <a:pt x="145" y="26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6" y="44"/>
                    <a:pt x="126" y="47"/>
                    <a:pt x="128" y="48"/>
                  </a:cubicBezTo>
                  <a:cubicBezTo>
                    <a:pt x="129" y="50"/>
                    <a:pt x="132" y="50"/>
                    <a:pt x="133" y="48"/>
                  </a:cubicBezTo>
                  <a:moveTo>
                    <a:pt x="43" y="128"/>
                  </a:moveTo>
                  <a:cubicBezTo>
                    <a:pt x="26" y="145"/>
                    <a:pt x="26" y="145"/>
                    <a:pt x="26" y="145"/>
                  </a:cubicBezTo>
                  <a:cubicBezTo>
                    <a:pt x="24" y="146"/>
                    <a:pt x="24" y="149"/>
                    <a:pt x="26" y="150"/>
                  </a:cubicBezTo>
                  <a:cubicBezTo>
                    <a:pt x="27" y="152"/>
                    <a:pt x="30" y="152"/>
                    <a:pt x="31" y="150"/>
                  </a:cubicBezTo>
                  <a:cubicBezTo>
                    <a:pt x="48" y="133"/>
                    <a:pt x="48" y="133"/>
                    <a:pt x="48" y="133"/>
                  </a:cubicBezTo>
                  <a:cubicBezTo>
                    <a:pt x="50" y="132"/>
                    <a:pt x="50" y="129"/>
                    <a:pt x="48" y="128"/>
                  </a:cubicBezTo>
                  <a:cubicBezTo>
                    <a:pt x="47" y="126"/>
                    <a:pt x="44" y="126"/>
                    <a:pt x="43" y="128"/>
                  </a:cubicBezTo>
                  <a:moveTo>
                    <a:pt x="172" y="84"/>
                  </a:moveTo>
                  <a:cubicBezTo>
                    <a:pt x="148" y="84"/>
                    <a:pt x="148" y="84"/>
                    <a:pt x="148" y="84"/>
                  </a:cubicBezTo>
                  <a:cubicBezTo>
                    <a:pt x="146" y="84"/>
                    <a:pt x="144" y="86"/>
                    <a:pt x="144" y="88"/>
                  </a:cubicBezTo>
                  <a:cubicBezTo>
                    <a:pt x="144" y="90"/>
                    <a:pt x="146" y="92"/>
                    <a:pt x="148" y="92"/>
                  </a:cubicBezTo>
                  <a:cubicBezTo>
                    <a:pt x="172" y="92"/>
                    <a:pt x="172" y="92"/>
                    <a:pt x="172" y="92"/>
                  </a:cubicBezTo>
                  <a:cubicBezTo>
                    <a:pt x="174" y="92"/>
                    <a:pt x="176" y="90"/>
                    <a:pt x="176" y="88"/>
                  </a:cubicBezTo>
                  <a:cubicBezTo>
                    <a:pt x="176" y="86"/>
                    <a:pt x="174" y="84"/>
                    <a:pt x="172" y="84"/>
                  </a:cubicBezTo>
                  <a:moveTo>
                    <a:pt x="133" y="128"/>
                  </a:moveTo>
                  <a:cubicBezTo>
                    <a:pt x="132" y="126"/>
                    <a:pt x="129" y="126"/>
                    <a:pt x="128" y="128"/>
                  </a:cubicBezTo>
                  <a:cubicBezTo>
                    <a:pt x="126" y="129"/>
                    <a:pt x="126" y="132"/>
                    <a:pt x="128" y="133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46" y="152"/>
                    <a:pt x="149" y="152"/>
                    <a:pt x="150" y="150"/>
                  </a:cubicBezTo>
                  <a:cubicBezTo>
                    <a:pt x="152" y="149"/>
                    <a:pt x="152" y="146"/>
                    <a:pt x="150" y="145"/>
                  </a:cubicBezTo>
                  <a:lnTo>
                    <a:pt x="133" y="128"/>
                  </a:lnTo>
                  <a:close/>
                  <a:moveTo>
                    <a:pt x="88" y="40"/>
                  </a:moveTo>
                  <a:cubicBezTo>
                    <a:pt x="61" y="40"/>
                    <a:pt x="40" y="61"/>
                    <a:pt x="40" y="88"/>
                  </a:cubicBezTo>
                  <a:cubicBezTo>
                    <a:pt x="40" y="115"/>
                    <a:pt x="61" y="136"/>
                    <a:pt x="88" y="136"/>
                  </a:cubicBezTo>
                  <a:cubicBezTo>
                    <a:pt x="115" y="136"/>
                    <a:pt x="136" y="115"/>
                    <a:pt x="136" y="88"/>
                  </a:cubicBezTo>
                  <a:cubicBezTo>
                    <a:pt x="136" y="61"/>
                    <a:pt x="115" y="40"/>
                    <a:pt x="88" y="40"/>
                  </a:cubicBezTo>
                  <a:moveTo>
                    <a:pt x="88" y="128"/>
                  </a:moveTo>
                  <a:cubicBezTo>
                    <a:pt x="66" y="128"/>
                    <a:pt x="48" y="110"/>
                    <a:pt x="48" y="88"/>
                  </a:cubicBezTo>
                  <a:cubicBezTo>
                    <a:pt x="48" y="66"/>
                    <a:pt x="66" y="48"/>
                    <a:pt x="88" y="48"/>
                  </a:cubicBezTo>
                  <a:cubicBezTo>
                    <a:pt x="110" y="48"/>
                    <a:pt x="128" y="66"/>
                    <a:pt x="128" y="88"/>
                  </a:cubicBezTo>
                  <a:cubicBezTo>
                    <a:pt x="128" y="110"/>
                    <a:pt x="110" y="128"/>
                    <a:pt x="88" y="128"/>
                  </a:cubicBezTo>
                  <a:moveTo>
                    <a:pt x="88" y="144"/>
                  </a:moveTo>
                  <a:cubicBezTo>
                    <a:pt x="86" y="144"/>
                    <a:pt x="84" y="146"/>
                    <a:pt x="84" y="148"/>
                  </a:cubicBezTo>
                  <a:cubicBezTo>
                    <a:pt x="84" y="172"/>
                    <a:pt x="84" y="172"/>
                    <a:pt x="84" y="172"/>
                  </a:cubicBezTo>
                  <a:cubicBezTo>
                    <a:pt x="84" y="174"/>
                    <a:pt x="86" y="176"/>
                    <a:pt x="88" y="176"/>
                  </a:cubicBezTo>
                  <a:cubicBezTo>
                    <a:pt x="90" y="176"/>
                    <a:pt x="92" y="174"/>
                    <a:pt x="92" y="172"/>
                  </a:cubicBezTo>
                  <a:cubicBezTo>
                    <a:pt x="92" y="148"/>
                    <a:pt x="92" y="148"/>
                    <a:pt x="92" y="148"/>
                  </a:cubicBezTo>
                  <a:cubicBezTo>
                    <a:pt x="92" y="146"/>
                    <a:pt x="90" y="144"/>
                    <a:pt x="88" y="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326" name="TextBox 54">
              <a:extLst>
                <a:ext uri="{FF2B5EF4-FFF2-40B4-BE49-F238E27FC236}">
                  <a16:creationId xmlns:a16="http://schemas.microsoft.com/office/drawing/2014/main" id="{ACBF8C90-7CEB-32A5-8212-004D9E219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94237" y="5094513"/>
              <a:ext cx="3583726" cy="3185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1313" indent="-341313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1900">
                  <a:solidFill>
                    <a:schemeClr val="tx2"/>
                  </a:solidFill>
                </a:rPr>
                <a:t>GridSearchCV, 5 folds estratificados</a:t>
              </a:r>
            </a:p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1900">
                  <a:solidFill>
                    <a:schemeClr val="tx2"/>
                  </a:solidFill>
                </a:rPr>
                <a:t>Resampling dentro de cada fold (sin leakage)</a:t>
              </a:r>
            </a:p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1900">
                  <a:solidFill>
                    <a:schemeClr val="tx2"/>
                  </a:solidFill>
                </a:rPr>
                <a:t>Test reservado 20 %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C41E2B4-4C72-BAC1-F672-DB10CB32325E}"/>
              </a:ext>
            </a:extLst>
          </p:cNvPr>
          <p:cNvSpPr txBox="1"/>
          <p:nvPr/>
        </p:nvSpPr>
        <p:spPr>
          <a:xfrm>
            <a:off x="13277850" y="3706813"/>
            <a:ext cx="3640138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600" err="1">
                <a:solidFill>
                  <a:srgbClr val="00566C"/>
                </a:solidFill>
                <a:latin typeface="+mj-lt"/>
              </a:rPr>
              <a:t>Métricas</a:t>
            </a:r>
          </a:p>
        </p:txBody>
      </p:sp>
      <p:sp>
        <p:nvSpPr>
          <p:cNvPr id="46" name="Freeform 371">
            <a:extLst>
              <a:ext uri="{FF2B5EF4-FFF2-40B4-BE49-F238E27FC236}">
                <a16:creationId xmlns:a16="http://schemas.microsoft.com/office/drawing/2014/main" id="{1A4DF130-CEC9-966D-66C3-5A8D5C8711AB}"/>
              </a:ext>
            </a:extLst>
          </p:cNvPr>
          <p:cNvSpPr>
            <a:spLocks noEditPoints="1"/>
          </p:cNvSpPr>
          <p:nvPr/>
        </p:nvSpPr>
        <p:spPr bwMode="auto">
          <a:xfrm>
            <a:off x="13277850" y="2933700"/>
            <a:ext cx="628650" cy="628650"/>
          </a:xfrm>
          <a:custGeom>
            <a:avLst/>
            <a:gdLst>
              <a:gd name="T0" fmla="*/ 96 w 176"/>
              <a:gd name="T1" fmla="*/ 124 h 176"/>
              <a:gd name="T2" fmla="*/ 92 w 176"/>
              <a:gd name="T3" fmla="*/ 120 h 176"/>
              <a:gd name="T4" fmla="*/ 89 w 176"/>
              <a:gd name="T5" fmla="*/ 121 h 176"/>
              <a:gd name="T6" fmla="*/ 65 w 176"/>
              <a:gd name="T7" fmla="*/ 145 h 176"/>
              <a:gd name="T8" fmla="*/ 64 w 176"/>
              <a:gd name="T9" fmla="*/ 148 h 176"/>
              <a:gd name="T10" fmla="*/ 68 w 176"/>
              <a:gd name="T11" fmla="*/ 152 h 176"/>
              <a:gd name="T12" fmla="*/ 82 w 176"/>
              <a:gd name="T13" fmla="*/ 152 h 176"/>
              <a:gd name="T14" fmla="*/ 65 w 176"/>
              <a:gd name="T15" fmla="*/ 169 h 176"/>
              <a:gd name="T16" fmla="*/ 64 w 176"/>
              <a:gd name="T17" fmla="*/ 172 h 176"/>
              <a:gd name="T18" fmla="*/ 68 w 176"/>
              <a:gd name="T19" fmla="*/ 176 h 176"/>
              <a:gd name="T20" fmla="*/ 71 w 176"/>
              <a:gd name="T21" fmla="*/ 175 h 176"/>
              <a:gd name="T22" fmla="*/ 95 w 176"/>
              <a:gd name="T23" fmla="*/ 151 h 176"/>
              <a:gd name="T24" fmla="*/ 96 w 176"/>
              <a:gd name="T25" fmla="*/ 148 h 176"/>
              <a:gd name="T26" fmla="*/ 92 w 176"/>
              <a:gd name="T27" fmla="*/ 144 h 176"/>
              <a:gd name="T28" fmla="*/ 92 w 176"/>
              <a:gd name="T29" fmla="*/ 144 h 176"/>
              <a:gd name="T30" fmla="*/ 78 w 176"/>
              <a:gd name="T31" fmla="*/ 144 h 176"/>
              <a:gd name="T32" fmla="*/ 95 w 176"/>
              <a:gd name="T33" fmla="*/ 127 h 176"/>
              <a:gd name="T34" fmla="*/ 96 w 176"/>
              <a:gd name="T35" fmla="*/ 124 h 176"/>
              <a:gd name="T36" fmla="*/ 52 w 176"/>
              <a:gd name="T37" fmla="*/ 128 h 176"/>
              <a:gd name="T38" fmla="*/ 49 w 176"/>
              <a:gd name="T39" fmla="*/ 129 h 176"/>
              <a:gd name="T40" fmla="*/ 25 w 176"/>
              <a:gd name="T41" fmla="*/ 153 h 176"/>
              <a:gd name="T42" fmla="*/ 24 w 176"/>
              <a:gd name="T43" fmla="*/ 156 h 176"/>
              <a:gd name="T44" fmla="*/ 28 w 176"/>
              <a:gd name="T45" fmla="*/ 160 h 176"/>
              <a:gd name="T46" fmla="*/ 31 w 176"/>
              <a:gd name="T47" fmla="*/ 159 h 176"/>
              <a:gd name="T48" fmla="*/ 55 w 176"/>
              <a:gd name="T49" fmla="*/ 135 h 176"/>
              <a:gd name="T50" fmla="*/ 56 w 176"/>
              <a:gd name="T51" fmla="*/ 132 h 176"/>
              <a:gd name="T52" fmla="*/ 52 w 176"/>
              <a:gd name="T53" fmla="*/ 128 h 176"/>
              <a:gd name="T54" fmla="*/ 152 w 176"/>
              <a:gd name="T55" fmla="*/ 41 h 176"/>
              <a:gd name="T56" fmla="*/ 152 w 176"/>
              <a:gd name="T57" fmla="*/ 40 h 176"/>
              <a:gd name="T58" fmla="*/ 128 w 176"/>
              <a:gd name="T59" fmla="*/ 16 h 176"/>
              <a:gd name="T60" fmla="*/ 112 w 176"/>
              <a:gd name="T61" fmla="*/ 22 h 176"/>
              <a:gd name="T62" fmla="*/ 72 w 176"/>
              <a:gd name="T63" fmla="*/ 0 h 176"/>
              <a:gd name="T64" fmla="*/ 25 w 176"/>
              <a:gd name="T65" fmla="*/ 41 h 176"/>
              <a:gd name="T66" fmla="*/ 0 w 176"/>
              <a:gd name="T67" fmla="*/ 72 h 176"/>
              <a:gd name="T68" fmla="*/ 32 w 176"/>
              <a:gd name="T69" fmla="*/ 104 h 176"/>
              <a:gd name="T70" fmla="*/ 144 w 176"/>
              <a:gd name="T71" fmla="*/ 104 h 176"/>
              <a:gd name="T72" fmla="*/ 176 w 176"/>
              <a:gd name="T73" fmla="*/ 72 h 176"/>
              <a:gd name="T74" fmla="*/ 152 w 176"/>
              <a:gd name="T75" fmla="*/ 41 h 176"/>
              <a:gd name="T76" fmla="*/ 144 w 176"/>
              <a:gd name="T77" fmla="*/ 96 h 176"/>
              <a:gd name="T78" fmla="*/ 32 w 176"/>
              <a:gd name="T79" fmla="*/ 96 h 176"/>
              <a:gd name="T80" fmla="*/ 8 w 176"/>
              <a:gd name="T81" fmla="*/ 72 h 176"/>
              <a:gd name="T82" fmla="*/ 26 w 176"/>
              <a:gd name="T83" fmla="*/ 49 h 176"/>
              <a:gd name="T84" fmla="*/ 32 w 176"/>
              <a:gd name="T85" fmla="*/ 42 h 176"/>
              <a:gd name="T86" fmla="*/ 72 w 176"/>
              <a:gd name="T87" fmla="*/ 8 h 176"/>
              <a:gd name="T88" fmla="*/ 102 w 176"/>
              <a:gd name="T89" fmla="*/ 22 h 176"/>
              <a:gd name="T90" fmla="*/ 111 w 176"/>
              <a:gd name="T91" fmla="*/ 30 h 176"/>
              <a:gd name="T92" fmla="*/ 112 w 176"/>
              <a:gd name="T93" fmla="*/ 30 h 176"/>
              <a:gd name="T94" fmla="*/ 117 w 176"/>
              <a:gd name="T95" fmla="*/ 28 h 176"/>
              <a:gd name="T96" fmla="*/ 128 w 176"/>
              <a:gd name="T97" fmla="*/ 24 h 176"/>
              <a:gd name="T98" fmla="*/ 144 w 176"/>
              <a:gd name="T99" fmla="*/ 40 h 176"/>
              <a:gd name="T100" fmla="*/ 144 w 176"/>
              <a:gd name="T101" fmla="*/ 41 h 176"/>
              <a:gd name="T102" fmla="*/ 150 w 176"/>
              <a:gd name="T103" fmla="*/ 49 h 176"/>
              <a:gd name="T104" fmla="*/ 168 w 176"/>
              <a:gd name="T105" fmla="*/ 72 h 176"/>
              <a:gd name="T106" fmla="*/ 144 w 176"/>
              <a:gd name="T107" fmla="*/ 96 h 176"/>
              <a:gd name="T108" fmla="*/ 136 w 176"/>
              <a:gd name="T109" fmla="*/ 128 h 176"/>
              <a:gd name="T110" fmla="*/ 133 w 176"/>
              <a:gd name="T111" fmla="*/ 129 h 176"/>
              <a:gd name="T112" fmla="*/ 109 w 176"/>
              <a:gd name="T113" fmla="*/ 153 h 176"/>
              <a:gd name="T114" fmla="*/ 108 w 176"/>
              <a:gd name="T115" fmla="*/ 156 h 176"/>
              <a:gd name="T116" fmla="*/ 112 w 176"/>
              <a:gd name="T117" fmla="*/ 160 h 176"/>
              <a:gd name="T118" fmla="*/ 115 w 176"/>
              <a:gd name="T119" fmla="*/ 159 h 176"/>
              <a:gd name="T120" fmla="*/ 139 w 176"/>
              <a:gd name="T121" fmla="*/ 135 h 176"/>
              <a:gd name="T122" fmla="*/ 140 w 176"/>
              <a:gd name="T123" fmla="*/ 132 h 176"/>
              <a:gd name="T124" fmla="*/ 136 w 176"/>
              <a:gd name="T125" fmla="*/ 12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76" h="176">
                <a:moveTo>
                  <a:pt x="96" y="124"/>
                </a:moveTo>
                <a:cubicBezTo>
                  <a:pt x="96" y="122"/>
                  <a:pt x="94" y="120"/>
                  <a:pt x="92" y="120"/>
                </a:cubicBezTo>
                <a:cubicBezTo>
                  <a:pt x="91" y="120"/>
                  <a:pt x="90" y="120"/>
                  <a:pt x="89" y="121"/>
                </a:cubicBezTo>
                <a:cubicBezTo>
                  <a:pt x="65" y="145"/>
                  <a:pt x="65" y="145"/>
                  <a:pt x="65" y="145"/>
                </a:cubicBezTo>
                <a:cubicBezTo>
                  <a:pt x="64" y="146"/>
                  <a:pt x="64" y="147"/>
                  <a:pt x="64" y="148"/>
                </a:cubicBezTo>
                <a:cubicBezTo>
                  <a:pt x="64" y="150"/>
                  <a:pt x="66" y="152"/>
                  <a:pt x="68" y="152"/>
                </a:cubicBezTo>
                <a:cubicBezTo>
                  <a:pt x="82" y="152"/>
                  <a:pt x="82" y="152"/>
                  <a:pt x="82" y="152"/>
                </a:cubicBezTo>
                <a:cubicBezTo>
                  <a:pt x="65" y="169"/>
                  <a:pt x="65" y="169"/>
                  <a:pt x="65" y="169"/>
                </a:cubicBezTo>
                <a:cubicBezTo>
                  <a:pt x="64" y="170"/>
                  <a:pt x="64" y="171"/>
                  <a:pt x="64" y="172"/>
                </a:cubicBezTo>
                <a:cubicBezTo>
                  <a:pt x="64" y="174"/>
                  <a:pt x="66" y="176"/>
                  <a:pt x="68" y="176"/>
                </a:cubicBezTo>
                <a:cubicBezTo>
                  <a:pt x="69" y="176"/>
                  <a:pt x="70" y="176"/>
                  <a:pt x="71" y="175"/>
                </a:cubicBezTo>
                <a:cubicBezTo>
                  <a:pt x="95" y="151"/>
                  <a:pt x="95" y="151"/>
                  <a:pt x="95" y="151"/>
                </a:cubicBezTo>
                <a:cubicBezTo>
                  <a:pt x="96" y="150"/>
                  <a:pt x="96" y="149"/>
                  <a:pt x="96" y="148"/>
                </a:cubicBezTo>
                <a:cubicBezTo>
                  <a:pt x="96" y="146"/>
                  <a:pt x="94" y="144"/>
                  <a:pt x="92" y="144"/>
                </a:cubicBezTo>
                <a:cubicBezTo>
                  <a:pt x="92" y="144"/>
                  <a:pt x="92" y="144"/>
                  <a:pt x="92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95" y="127"/>
                  <a:pt x="95" y="127"/>
                  <a:pt x="95" y="127"/>
                </a:cubicBezTo>
                <a:cubicBezTo>
                  <a:pt x="96" y="126"/>
                  <a:pt x="96" y="125"/>
                  <a:pt x="96" y="124"/>
                </a:cubicBezTo>
                <a:moveTo>
                  <a:pt x="52" y="128"/>
                </a:moveTo>
                <a:cubicBezTo>
                  <a:pt x="51" y="128"/>
                  <a:pt x="50" y="128"/>
                  <a:pt x="49" y="129"/>
                </a:cubicBezTo>
                <a:cubicBezTo>
                  <a:pt x="25" y="153"/>
                  <a:pt x="25" y="153"/>
                  <a:pt x="25" y="153"/>
                </a:cubicBezTo>
                <a:cubicBezTo>
                  <a:pt x="24" y="154"/>
                  <a:pt x="24" y="155"/>
                  <a:pt x="24" y="156"/>
                </a:cubicBezTo>
                <a:cubicBezTo>
                  <a:pt x="24" y="158"/>
                  <a:pt x="26" y="160"/>
                  <a:pt x="28" y="160"/>
                </a:cubicBezTo>
                <a:cubicBezTo>
                  <a:pt x="29" y="160"/>
                  <a:pt x="30" y="160"/>
                  <a:pt x="31" y="159"/>
                </a:cubicBezTo>
                <a:cubicBezTo>
                  <a:pt x="55" y="135"/>
                  <a:pt x="55" y="135"/>
                  <a:pt x="55" y="135"/>
                </a:cubicBezTo>
                <a:cubicBezTo>
                  <a:pt x="56" y="134"/>
                  <a:pt x="56" y="133"/>
                  <a:pt x="56" y="132"/>
                </a:cubicBezTo>
                <a:cubicBezTo>
                  <a:pt x="56" y="130"/>
                  <a:pt x="54" y="128"/>
                  <a:pt x="52" y="128"/>
                </a:cubicBezTo>
                <a:moveTo>
                  <a:pt x="152" y="41"/>
                </a:moveTo>
                <a:cubicBezTo>
                  <a:pt x="152" y="41"/>
                  <a:pt x="152" y="40"/>
                  <a:pt x="152" y="40"/>
                </a:cubicBezTo>
                <a:cubicBezTo>
                  <a:pt x="152" y="27"/>
                  <a:pt x="141" y="16"/>
                  <a:pt x="128" y="16"/>
                </a:cubicBezTo>
                <a:cubicBezTo>
                  <a:pt x="122" y="16"/>
                  <a:pt x="116" y="18"/>
                  <a:pt x="112" y="22"/>
                </a:cubicBezTo>
                <a:cubicBezTo>
                  <a:pt x="104" y="9"/>
                  <a:pt x="89" y="0"/>
                  <a:pt x="72" y="0"/>
                </a:cubicBezTo>
                <a:cubicBezTo>
                  <a:pt x="48" y="0"/>
                  <a:pt x="28" y="18"/>
                  <a:pt x="25" y="41"/>
                </a:cubicBezTo>
                <a:cubicBezTo>
                  <a:pt x="10" y="44"/>
                  <a:pt x="0" y="57"/>
                  <a:pt x="0" y="72"/>
                </a:cubicBezTo>
                <a:cubicBezTo>
                  <a:pt x="0" y="90"/>
                  <a:pt x="14" y="104"/>
                  <a:pt x="32" y="104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62" y="104"/>
                  <a:pt x="176" y="90"/>
                  <a:pt x="176" y="72"/>
                </a:cubicBezTo>
                <a:cubicBezTo>
                  <a:pt x="176" y="57"/>
                  <a:pt x="166" y="45"/>
                  <a:pt x="152" y="41"/>
                </a:cubicBezTo>
                <a:moveTo>
                  <a:pt x="144" y="96"/>
                </a:moveTo>
                <a:cubicBezTo>
                  <a:pt x="32" y="96"/>
                  <a:pt x="32" y="96"/>
                  <a:pt x="32" y="96"/>
                </a:cubicBezTo>
                <a:cubicBezTo>
                  <a:pt x="19" y="96"/>
                  <a:pt x="8" y="85"/>
                  <a:pt x="8" y="72"/>
                </a:cubicBezTo>
                <a:cubicBezTo>
                  <a:pt x="8" y="61"/>
                  <a:pt x="16" y="51"/>
                  <a:pt x="26" y="49"/>
                </a:cubicBezTo>
                <a:cubicBezTo>
                  <a:pt x="30" y="48"/>
                  <a:pt x="32" y="45"/>
                  <a:pt x="32" y="42"/>
                </a:cubicBezTo>
                <a:cubicBezTo>
                  <a:pt x="35" y="23"/>
                  <a:pt x="52" y="8"/>
                  <a:pt x="72" y="8"/>
                </a:cubicBezTo>
                <a:cubicBezTo>
                  <a:pt x="86" y="8"/>
                  <a:pt x="94" y="11"/>
                  <a:pt x="102" y="22"/>
                </a:cubicBezTo>
                <a:cubicBezTo>
                  <a:pt x="103" y="24"/>
                  <a:pt x="109" y="30"/>
                  <a:pt x="111" y="30"/>
                </a:cubicBezTo>
                <a:cubicBezTo>
                  <a:pt x="111" y="30"/>
                  <a:pt x="112" y="30"/>
                  <a:pt x="112" y="30"/>
                </a:cubicBezTo>
                <a:cubicBezTo>
                  <a:pt x="114" y="30"/>
                  <a:pt x="116" y="29"/>
                  <a:pt x="117" y="28"/>
                </a:cubicBezTo>
                <a:cubicBezTo>
                  <a:pt x="120" y="25"/>
                  <a:pt x="124" y="24"/>
                  <a:pt x="128" y="24"/>
                </a:cubicBezTo>
                <a:cubicBezTo>
                  <a:pt x="137" y="24"/>
                  <a:pt x="144" y="31"/>
                  <a:pt x="144" y="40"/>
                </a:cubicBezTo>
                <a:cubicBezTo>
                  <a:pt x="144" y="41"/>
                  <a:pt x="144" y="41"/>
                  <a:pt x="144" y="41"/>
                </a:cubicBezTo>
                <a:cubicBezTo>
                  <a:pt x="144" y="44"/>
                  <a:pt x="146" y="48"/>
                  <a:pt x="150" y="49"/>
                </a:cubicBezTo>
                <a:cubicBezTo>
                  <a:pt x="161" y="52"/>
                  <a:pt x="168" y="61"/>
                  <a:pt x="168" y="72"/>
                </a:cubicBezTo>
                <a:cubicBezTo>
                  <a:pt x="168" y="85"/>
                  <a:pt x="157" y="96"/>
                  <a:pt x="144" y="96"/>
                </a:cubicBezTo>
                <a:moveTo>
                  <a:pt x="136" y="128"/>
                </a:moveTo>
                <a:cubicBezTo>
                  <a:pt x="135" y="128"/>
                  <a:pt x="134" y="128"/>
                  <a:pt x="133" y="129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8" y="154"/>
                  <a:pt x="108" y="155"/>
                  <a:pt x="108" y="156"/>
                </a:cubicBezTo>
                <a:cubicBezTo>
                  <a:pt x="108" y="158"/>
                  <a:pt x="110" y="160"/>
                  <a:pt x="112" y="160"/>
                </a:cubicBezTo>
                <a:cubicBezTo>
                  <a:pt x="113" y="160"/>
                  <a:pt x="114" y="160"/>
                  <a:pt x="115" y="159"/>
                </a:cubicBezTo>
                <a:cubicBezTo>
                  <a:pt x="139" y="135"/>
                  <a:pt x="139" y="135"/>
                  <a:pt x="139" y="135"/>
                </a:cubicBezTo>
                <a:cubicBezTo>
                  <a:pt x="140" y="134"/>
                  <a:pt x="140" y="133"/>
                  <a:pt x="140" y="132"/>
                </a:cubicBezTo>
                <a:cubicBezTo>
                  <a:pt x="140" y="130"/>
                  <a:pt x="138" y="128"/>
                  <a:pt x="136" y="128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latin typeface="+mn-lt"/>
            </a:endParaRPr>
          </a:p>
        </p:txBody>
      </p:sp>
      <p:sp>
        <p:nvSpPr>
          <p:cNvPr id="13322" name="TextBox 55">
            <a:extLst>
              <a:ext uri="{FF2B5EF4-FFF2-40B4-BE49-F238E27FC236}">
                <a16:creationId xmlns:a16="http://schemas.microsoft.com/office/drawing/2014/main" id="{09D37F1A-7954-E610-ADEE-CA39FF10A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7850" y="4721225"/>
            <a:ext cx="3584575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1900">
                <a:solidFill>
                  <a:schemeClr val="tx2"/>
                </a:solidFill>
              </a:rPr>
              <a:t>AUC-PR (principal)</a:t>
            </a:r>
          </a:p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1900">
                <a:solidFill>
                  <a:schemeClr val="tx2"/>
                </a:solidFill>
              </a:rPr>
              <a:t>Recall, Precisión, F1, AUC-ROC</a:t>
            </a:r>
          </a:p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1900">
                <a:solidFill>
                  <a:schemeClr val="tx2"/>
                </a:solidFill>
              </a:rPr>
              <a:t>Tiempo de entrenamiento e inferencia</a:t>
            </a:r>
          </a:p>
        </p:txBody>
      </p:sp>
      <p:sp>
        <p:nvSpPr>
          <p:cNvPr id="13323" name="Slide Number Placeholder 2">
            <a:extLst>
              <a:ext uri="{FF2B5EF4-FFF2-40B4-BE49-F238E27FC236}">
                <a16:creationId xmlns:a16="http://schemas.microsoft.com/office/drawing/2014/main" id="{AD9160EA-A06C-C203-8732-C5C03A023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3EC6AF7F-45D3-438C-9023-7245B52F502F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8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F874-3A7A-36AF-D850-E8FF6CFC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 dirty="0">
                <a:solidFill>
                  <a:schemeClr val="accent1"/>
                </a:solidFill>
              </a:rPr>
              <a:t>03 Resultados</a:t>
            </a:r>
            <a:br>
              <a:rPr lang="es-ES_tradnl" dirty="0"/>
            </a:br>
            <a:r>
              <a:rPr lang="es-ES_tradnl" dirty="0">
                <a:solidFill>
                  <a:srgbClr val="00566C"/>
                </a:solidFill>
              </a:rPr>
              <a:t>Hallazgos del análisis exploratorio</a:t>
            </a: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07D3DA6B-98AD-FE61-3DA2-672D34367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0</a:t>
            </a:r>
            <a:fld id="{EB48EA59-A2D3-4BAB-8B35-26AD123258B3}" type="slidenum"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9</a:t>
            </a:fld>
            <a:endParaRPr lang="es-ES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  <p:sp>
        <p:nvSpPr>
          <p:cNvPr id="12294" name="TextBox 12293"/>
          <p:cNvSpPr txBox="1"/>
          <p:nvPr/>
        </p:nvSpPr>
        <p:spPr>
          <a:xfrm>
            <a:off x="914400" y="2103120"/>
            <a:ext cx="1645920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800"/>
              </a:spcAft>
              <a:buClr>
                <a:srgbClr val="219BC3"/>
              </a:buClr>
              <a:buFont typeface="Arial"/>
              <a:buChar char="•"/>
            </a:pPr>
            <a:r>
              <a:rPr sz="2000" b="1" dirty="0" err="1">
                <a:solidFill>
                  <a:srgbClr val="00566C"/>
                </a:solidFill>
                <a:latin typeface="Franklin Gothic Book"/>
              </a:rPr>
              <a:t>Desbalance</a:t>
            </a:r>
            <a:r>
              <a:rPr sz="2000" b="1" dirty="0">
                <a:solidFill>
                  <a:srgbClr val="00566C"/>
                </a:solidFill>
                <a:latin typeface="Franklin Gothic Book"/>
              </a:rPr>
              <a:t> 578:1: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predecir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siempre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'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legítima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' da 99,83 % de accuracy y 0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fraudes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detectados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.</a:t>
            </a:r>
          </a:p>
          <a:p>
            <a:pPr marL="274320" indent="-274320" algn="l">
              <a:spcAft>
                <a:spcPts val="800"/>
              </a:spcAft>
              <a:buClr>
                <a:srgbClr val="219BC3"/>
              </a:buClr>
              <a:buFont typeface="Arial"/>
              <a:buChar char="•"/>
            </a:pPr>
            <a:r>
              <a:rPr sz="2000" b="1" dirty="0" err="1">
                <a:solidFill>
                  <a:srgbClr val="00566C"/>
                </a:solidFill>
                <a:latin typeface="Franklin Gothic Book"/>
              </a:rPr>
              <a:t>Importe</a:t>
            </a:r>
            <a:r>
              <a:rPr sz="2000" b="1" dirty="0">
                <a:solidFill>
                  <a:srgbClr val="00566C"/>
                </a:solidFill>
                <a:latin typeface="Franklin Gothic Book"/>
              </a:rPr>
              <a:t>: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mediana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del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fraude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9,25 €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frente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a 22 €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en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legítimas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; el 35 % de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los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fraudes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es &lt; 1 € (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pruebas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de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tarjeta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).</a:t>
            </a:r>
          </a:p>
          <a:p>
            <a:pPr marL="274320" indent="-274320" algn="l">
              <a:spcAft>
                <a:spcPts val="800"/>
              </a:spcAft>
              <a:buClr>
                <a:srgbClr val="219BC3"/>
              </a:buClr>
              <a:buFont typeface="Arial"/>
              <a:buChar char="•"/>
            </a:pPr>
            <a:r>
              <a:rPr sz="2000" b="1" dirty="0" err="1">
                <a:solidFill>
                  <a:srgbClr val="00566C"/>
                </a:solidFill>
                <a:latin typeface="Franklin Gothic Book"/>
              </a:rPr>
              <a:t>Horario</a:t>
            </a:r>
            <a:r>
              <a:rPr sz="2000" b="1" dirty="0">
                <a:solidFill>
                  <a:srgbClr val="00566C"/>
                </a:solidFill>
                <a:latin typeface="Franklin Gothic Book"/>
              </a:rPr>
              <a:t> y variables: 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el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fraude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no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cae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de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noche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; V14, V17, V12 y V10 son las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más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2000" b="0" dirty="0" err="1">
                <a:solidFill>
                  <a:srgbClr val="3C3C48"/>
                </a:solidFill>
                <a:latin typeface="Franklin Gothic Book"/>
              </a:rPr>
              <a:t>discriminativas</a:t>
            </a:r>
            <a:r>
              <a:rPr sz="2000" b="0" dirty="0">
                <a:solidFill>
                  <a:srgbClr val="3C3C48"/>
                </a:solidFill>
                <a:latin typeface="Franklin Gothic Book"/>
              </a:rPr>
              <a:t>.</a:t>
            </a:r>
          </a:p>
        </p:txBody>
      </p:sp>
      <p:pic>
        <p:nvPicPr>
          <p:cNvPr id="12295" name="Picture 12294" descr="fig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977639"/>
            <a:ext cx="15361920" cy="3900622"/>
          </a:xfrm>
          <a:prstGeom prst="rect">
            <a:avLst/>
          </a:prstGeom>
        </p:spPr>
      </p:pic>
      <p:sp>
        <p:nvSpPr>
          <p:cNvPr id="12296" name="TextBox 12295"/>
          <p:cNvSpPr txBox="1"/>
          <p:nvPr/>
        </p:nvSpPr>
        <p:spPr>
          <a:xfrm>
            <a:off x="1463040" y="8229600"/>
            <a:ext cx="12801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200" b="0">
                <a:solidFill>
                  <a:srgbClr val="858591"/>
                </a:solidFill>
                <a:latin typeface="Franklin Gothic Book"/>
              </a:rPr>
              <a:t>Figura 3 del TFM: variable Amount por clase (escala log, boxplot y distribución acumulada).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5A2E-21EA-4CF3-DA10-2B6986D2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03 Resultados</a:t>
            </a:r>
            <a:br>
              <a:rPr lang="es-ES_tradnl">
                <a:solidFill>
                  <a:schemeClr val="accent1"/>
                </a:solidFill>
              </a:rPr>
            </a:br>
            <a:r>
              <a:rPr lang="es-ES_tradnl" err="1">
                <a:solidFill>
                  <a:srgbClr val="00566C"/>
                </a:solidFill>
              </a:rPr>
              <a:t>Comparativa sobre ULB (test: 98 fraudes)</a:t>
            </a:r>
          </a:p>
        </p:txBody>
      </p:sp>
      <p:sp>
        <p:nvSpPr>
          <p:cNvPr id="17467" name="Slide Number Placeholder 2">
            <a:extLst>
              <a:ext uri="{FF2B5EF4-FFF2-40B4-BE49-F238E27FC236}">
                <a16:creationId xmlns:a16="http://schemas.microsoft.com/office/drawing/2014/main" id="{25E8E64E-2B25-8498-E42E-C76A3C919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fld id="{CBBE2CE8-E55E-4A1E-BAD8-BD89860AFB98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10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  <p:graphicFrame>
        <p:nvGraphicFramePr>
          <p:cNvPr id="17468" name="Table 17467"/>
          <p:cNvGraphicFramePr>
            <a:graphicFrameLocks noGrp="1"/>
          </p:cNvGraphicFramePr>
          <p:nvPr/>
        </p:nvGraphicFramePr>
        <p:xfrm>
          <a:off x="1371600" y="2103120"/>
          <a:ext cx="15544800" cy="5852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Modelo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Estrategia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AUC-PR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Recall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Precisión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F1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Fraudes detect.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Falsas alarmas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XGBoost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Sin tratamiento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0,883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0,837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0,882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0,859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82 / 98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11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Random Forest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SMOTE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0,876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0,837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0,854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0,845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82 / 98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14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Random Forest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ADASYN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0,867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0,806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0,840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0,823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79 / 98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15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Random Forest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Sin tratamiento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0,859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0,755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0,961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0,846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3C3C48"/>
                          </a:solidFill>
                          <a:latin typeface="Franklin Gothic Book"/>
                        </a:rPr>
                        <a:t>74 / 98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LightGBM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ADASYN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3C3C48"/>
                          </a:solidFill>
                          <a:latin typeface="Franklin Gothic Book"/>
                        </a:rPr>
                        <a:t>0,858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0,816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0,792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0,804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80 / 98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21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XGBoost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SMOTE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0,843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0,878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0,261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0,403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86 / 98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243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Reg. Logística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3C3C48"/>
                          </a:solidFill>
                          <a:latin typeface="Franklin Gothic Book"/>
                        </a:rPr>
                        <a:t>ADASYN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0,732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0,918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0,018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0,035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90 / 98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3C3C48"/>
                          </a:solidFill>
                          <a:latin typeface="Franklin Gothic Book"/>
                        </a:rPr>
                        <a:t>4.886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Árbol Decisión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Sin tratamiento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0,612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0,735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0,610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0,667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72 / 98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46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LightGBM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Sin tratamiento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0,121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0,827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0,100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0,179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81 / 98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3C3C48"/>
                          </a:solidFill>
                          <a:latin typeface="Franklin Gothic Book"/>
                        </a:rPr>
                        <a:t>727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469" name="TextBox 17468"/>
          <p:cNvSpPr txBox="1"/>
          <p:nvPr/>
        </p:nvSpPr>
        <p:spPr>
          <a:xfrm>
            <a:off x="1371600" y="8092440"/>
            <a:ext cx="155448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400" b="0">
                <a:solidFill>
                  <a:srgbClr val="858591"/>
                </a:solidFill>
                <a:latin typeface="Franklin Gothic Book"/>
              </a:rPr>
              <a:t>Selección de finalistas: mayor AUC-PR en test (desempate por Recall). Tabla completa de las 15 combinaciones: Tablas 3 y 4 del TFM.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F874-3A7A-36AF-D850-E8FF6CFC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 dirty="0">
                <a:solidFill>
                  <a:schemeClr val="accent1"/>
                </a:solidFill>
              </a:rPr>
              <a:t>03 Resultados</a:t>
            </a:r>
            <a:br>
              <a:rPr lang="es-ES_tradnl" dirty="0"/>
            </a:br>
            <a:r>
              <a:rPr lang="es-ES_tradnl" dirty="0">
                <a:solidFill>
                  <a:srgbClr val="00566C"/>
                </a:solidFill>
              </a:rPr>
              <a:t>El resampling no ayuda igual a todos los modelos</a:t>
            </a: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07D3DA6B-98AD-FE61-3DA2-672D34367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fld id="{EB48EA59-A2D3-4BAB-8B35-26AD123258B3}" type="slidenum"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11</a:t>
            </a:fld>
            <a:endParaRPr lang="es-ES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  <p:pic>
        <p:nvPicPr>
          <p:cNvPr id="12294" name="Picture 12293" descr="fig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965960"/>
            <a:ext cx="15727680" cy="4658526"/>
          </a:xfrm>
          <a:prstGeom prst="rect">
            <a:avLst/>
          </a:prstGeom>
        </p:spPr>
      </p:pic>
      <p:sp>
        <p:nvSpPr>
          <p:cNvPr id="12295" name="TextBox 12294"/>
          <p:cNvSpPr txBox="1"/>
          <p:nvPr/>
        </p:nvSpPr>
        <p:spPr>
          <a:xfrm>
            <a:off x="914400" y="6812280"/>
            <a:ext cx="822960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800"/>
              </a:spcAft>
              <a:buClr>
                <a:srgbClr val="219BC3"/>
              </a:buClr>
              <a:buFont typeface="Arial"/>
              <a:buChar char="•"/>
            </a:pPr>
            <a:r>
              <a:rPr sz="1700" b="1">
                <a:solidFill>
                  <a:srgbClr val="00566C"/>
                </a:solidFill>
                <a:latin typeface="Franklin Gothic Book"/>
              </a:rPr>
              <a:t>XGBoost </a:t>
            </a:r>
            <a:r>
              <a:rPr sz="1700" b="0">
                <a:solidFill>
                  <a:srgbClr val="3C3C48"/>
                </a:solidFill>
                <a:latin typeface="Franklin Gothic Book"/>
              </a:rPr>
              <a:t>rinde mejor sin resampling: scale_pos_weight ya compensa; SMOTE sube a 243 falsas alarmas.</a:t>
            </a:r>
          </a:p>
          <a:p>
            <a:pPr marL="274320" indent="-274320" algn="l">
              <a:spcAft>
                <a:spcPts val="800"/>
              </a:spcAft>
              <a:buClr>
                <a:srgbClr val="219BC3"/>
              </a:buClr>
              <a:buFont typeface="Arial"/>
              <a:buChar char="•"/>
            </a:pPr>
            <a:r>
              <a:rPr sz="1700" b="1">
                <a:solidFill>
                  <a:srgbClr val="00566C"/>
                </a:solidFill>
                <a:latin typeface="Franklin Gothic Book"/>
              </a:rPr>
              <a:t>Random Forest </a:t>
            </a:r>
            <a:r>
              <a:rPr sz="1700" b="0">
                <a:solidFill>
                  <a:srgbClr val="3C3C48"/>
                </a:solidFill>
                <a:latin typeface="Franklin Gothic Book"/>
              </a:rPr>
              <a:t>sí mejora con SMOTE: AUC-PR 0,859 → 0,876 y Recall 0,755 → 0,837.</a:t>
            </a:r>
          </a:p>
        </p:txBody>
      </p:sp>
      <p:sp>
        <p:nvSpPr>
          <p:cNvPr id="12296" name="TextBox 12295"/>
          <p:cNvSpPr txBox="1"/>
          <p:nvPr/>
        </p:nvSpPr>
        <p:spPr>
          <a:xfrm>
            <a:off x="9326880" y="6812280"/>
            <a:ext cx="8046720" cy="94282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800"/>
              </a:spcAft>
              <a:buClr>
                <a:srgbClr val="219BC3"/>
              </a:buClr>
              <a:buFont typeface="Arial"/>
              <a:buChar char="•"/>
            </a:pPr>
            <a:r>
              <a:rPr sz="1700" b="1" dirty="0">
                <a:solidFill>
                  <a:srgbClr val="00566C"/>
                </a:solidFill>
                <a:latin typeface="Franklin Gothic Book"/>
              </a:rPr>
              <a:t>Árbol de </a:t>
            </a:r>
            <a:r>
              <a:rPr sz="1700" b="1" dirty="0" err="1">
                <a:solidFill>
                  <a:srgbClr val="00566C"/>
                </a:solidFill>
                <a:latin typeface="Franklin Gothic Book"/>
              </a:rPr>
              <a:t>Decisión</a:t>
            </a:r>
            <a:r>
              <a:rPr sz="1700" b="1" dirty="0">
                <a:solidFill>
                  <a:srgbClr val="00566C"/>
                </a:solidFill>
                <a:latin typeface="Franklin Gothic Book"/>
              </a:rPr>
              <a:t> </a:t>
            </a:r>
            <a:r>
              <a:rPr sz="1700" b="0" dirty="0">
                <a:solidFill>
                  <a:srgbClr val="3C3C48"/>
                </a:solidFill>
                <a:latin typeface="Franklin Gothic Book"/>
              </a:rPr>
              <a:t>es el </a:t>
            </a:r>
            <a:r>
              <a:rPr sz="1700" b="0" dirty="0" err="1">
                <a:solidFill>
                  <a:srgbClr val="3C3C48"/>
                </a:solidFill>
                <a:latin typeface="Franklin Gothic Book"/>
              </a:rPr>
              <a:t>más</a:t>
            </a:r>
            <a:r>
              <a:rPr sz="17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700" b="0" dirty="0" err="1">
                <a:solidFill>
                  <a:srgbClr val="3C3C48"/>
                </a:solidFill>
                <a:latin typeface="Franklin Gothic Book"/>
              </a:rPr>
              <a:t>inestable</a:t>
            </a:r>
            <a:r>
              <a:rPr sz="1700" b="0" dirty="0">
                <a:solidFill>
                  <a:srgbClr val="3C3C48"/>
                </a:solidFill>
                <a:latin typeface="Franklin Gothic Book"/>
              </a:rPr>
              <a:t>: </a:t>
            </a:r>
            <a:r>
              <a:rPr sz="1700" b="0" dirty="0" err="1">
                <a:solidFill>
                  <a:srgbClr val="3C3C48"/>
                </a:solidFill>
                <a:latin typeface="Franklin Gothic Book"/>
              </a:rPr>
              <a:t>sobreajusta</a:t>
            </a:r>
            <a:r>
              <a:rPr sz="1700" b="0" dirty="0">
                <a:solidFill>
                  <a:srgbClr val="3C3C48"/>
                </a:solidFill>
                <a:latin typeface="Franklin Gothic Book"/>
              </a:rPr>
              <a:t> a </a:t>
            </a:r>
            <a:r>
              <a:rPr sz="1700" b="0" dirty="0" err="1">
                <a:solidFill>
                  <a:srgbClr val="3C3C48"/>
                </a:solidFill>
                <a:latin typeface="Franklin Gothic Book"/>
              </a:rPr>
              <a:t>los</a:t>
            </a:r>
            <a:r>
              <a:rPr sz="17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700" b="0" dirty="0" err="1">
                <a:solidFill>
                  <a:srgbClr val="3C3C48"/>
                </a:solidFill>
                <a:latin typeface="Franklin Gothic Book"/>
              </a:rPr>
              <a:t>datos</a:t>
            </a:r>
            <a:r>
              <a:rPr sz="17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700" b="0" dirty="0" err="1">
                <a:solidFill>
                  <a:srgbClr val="3C3C48"/>
                </a:solidFill>
                <a:latin typeface="Franklin Gothic Book"/>
              </a:rPr>
              <a:t>sintéticos</a:t>
            </a:r>
            <a:r>
              <a:rPr sz="1700" b="0" dirty="0">
                <a:solidFill>
                  <a:srgbClr val="3C3C48"/>
                </a:solidFill>
                <a:latin typeface="Franklin Gothic Book"/>
              </a:rPr>
              <a:t>.</a:t>
            </a:r>
          </a:p>
          <a:p>
            <a:pPr marL="274320" indent="-274320" algn="l">
              <a:spcAft>
                <a:spcPts val="800"/>
              </a:spcAft>
              <a:buClr>
                <a:srgbClr val="219BC3"/>
              </a:buClr>
              <a:buFont typeface="Arial"/>
              <a:buChar char="•"/>
            </a:pPr>
            <a:r>
              <a:rPr sz="1700" b="1" dirty="0" err="1">
                <a:solidFill>
                  <a:srgbClr val="00566C"/>
                </a:solidFill>
                <a:latin typeface="Franklin Gothic Book"/>
              </a:rPr>
              <a:t>LightGBM</a:t>
            </a:r>
            <a:r>
              <a:rPr sz="1700" b="1" dirty="0">
                <a:solidFill>
                  <a:srgbClr val="00566C"/>
                </a:solidFill>
                <a:latin typeface="Franklin Gothic Book"/>
              </a:rPr>
              <a:t> sin resampling </a:t>
            </a:r>
            <a:r>
              <a:rPr sz="1700" b="0" dirty="0">
                <a:solidFill>
                  <a:srgbClr val="3C3C48"/>
                </a:solidFill>
                <a:latin typeface="Franklin Gothic Book"/>
              </a:rPr>
              <a:t>(0,121) se </a:t>
            </a:r>
            <a:r>
              <a:rPr lang="en-US" sz="1700" b="0" dirty="0" err="1">
                <a:solidFill>
                  <a:srgbClr val="3C3C48"/>
                </a:solidFill>
                <a:latin typeface="Franklin Gothic Book"/>
              </a:rPr>
              <a:t>asocia</a:t>
            </a:r>
            <a:r>
              <a:rPr sz="17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700" b="0" dirty="0" err="1">
                <a:solidFill>
                  <a:srgbClr val="3C3C48"/>
                </a:solidFill>
                <a:latin typeface="Franklin Gothic Book"/>
              </a:rPr>
              <a:t>por</a:t>
            </a:r>
            <a:r>
              <a:rPr sz="17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700" b="0" dirty="0" err="1">
                <a:solidFill>
                  <a:srgbClr val="3C3C48"/>
                </a:solidFill>
                <a:latin typeface="Franklin Gothic Book"/>
              </a:rPr>
              <a:t>is_unbalance</a:t>
            </a:r>
            <a:r>
              <a:rPr sz="1700" b="0" dirty="0">
                <a:solidFill>
                  <a:srgbClr val="3C3C48"/>
                </a:solidFill>
                <a:latin typeface="Franklin Gothic Book"/>
              </a:rPr>
              <a:t>=True: con False </a:t>
            </a:r>
            <a:r>
              <a:rPr sz="1700" b="0" dirty="0" err="1">
                <a:solidFill>
                  <a:srgbClr val="3C3C48"/>
                </a:solidFill>
                <a:latin typeface="Franklin Gothic Book"/>
              </a:rPr>
              <a:t>sube</a:t>
            </a:r>
            <a:r>
              <a:rPr sz="1700" b="0" dirty="0">
                <a:solidFill>
                  <a:srgbClr val="3C3C48"/>
                </a:solidFill>
                <a:latin typeface="Franklin Gothic Book"/>
              </a:rPr>
              <a:t> a 0,651.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8D671ABC-8F72-5D3C-F0F2-E2CA6A06281C}"/>
              </a:ext>
            </a:extLst>
          </p:cNvPr>
          <p:cNvSpPr txBox="1"/>
          <p:nvPr/>
        </p:nvSpPr>
        <p:spPr>
          <a:xfrm>
            <a:off x="8161338" y="1581150"/>
            <a:ext cx="9509760" cy="144621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800" b="1">
                <a:solidFill>
                  <a:srgbClr val="00566C"/>
                </a:solidFill>
                <a:latin typeface="+mj-lt"/>
              </a:rPr>
              <a:t>AUC-PR de XGBoost sin resampling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000" b="0">
                <a:solidFill>
                  <a:srgbClr val="858591"/>
                </a:solidFill>
                <a:latin typeface="+mj-lt"/>
              </a:rPr>
              <a:t>Mejor combinación · 82 de 98 fraudes detectados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9EBC2E-B47E-9206-8ECF-2BB5F02D9F14}"/>
              </a:ext>
            </a:extLst>
          </p:cNvPr>
          <p:cNvCxnSpPr/>
          <p:nvPr/>
        </p:nvCxnSpPr>
        <p:spPr>
          <a:xfrm>
            <a:off x="7627938" y="1427163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B2A6FEE-C97A-D992-7BDC-57D43D29EA19}"/>
              </a:ext>
            </a:extLst>
          </p:cNvPr>
          <p:cNvSpPr txBox="1"/>
          <p:nvPr/>
        </p:nvSpPr>
        <p:spPr>
          <a:xfrm>
            <a:off x="822960" y="1519238"/>
            <a:ext cx="6583680" cy="155416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000" b="1">
                <a:solidFill>
                  <a:schemeClr val="accent1"/>
                </a:solidFill>
                <a:latin typeface="+mj-lt"/>
              </a:rPr>
              <a:t>0,883</a:t>
            </a:r>
          </a:p>
        </p:txBody>
      </p:sp>
      <p:sp>
        <p:nvSpPr>
          <p:cNvPr id="7" name="TextBox 30">
            <a:extLst>
              <a:ext uri="{FF2B5EF4-FFF2-40B4-BE49-F238E27FC236}">
                <a16:creationId xmlns:a16="http://schemas.microsoft.com/office/drawing/2014/main" id="{2840F444-CDC1-97C5-66E3-A3DD0AE95600}"/>
              </a:ext>
            </a:extLst>
          </p:cNvPr>
          <p:cNvSpPr txBox="1"/>
          <p:nvPr/>
        </p:nvSpPr>
        <p:spPr>
          <a:xfrm>
            <a:off x="8161338" y="4049713"/>
            <a:ext cx="9509760" cy="144621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800" b="1">
                <a:solidFill>
                  <a:srgbClr val="00566C"/>
                </a:solidFill>
                <a:latin typeface="+mj-lt"/>
              </a:rPr>
              <a:t>AUC-PR de Random Forest + SMOTE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000" b="0">
                <a:solidFill>
                  <a:srgbClr val="858591"/>
                </a:solidFill>
                <a:latin typeface="+mj-lt"/>
              </a:rPr>
              <a:t>Segundo finalista · 82 de 98 fraudes detectados</a:t>
            </a:r>
          </a:p>
        </p:txBody>
      </p:sp>
      <p:cxnSp>
        <p:nvCxnSpPr>
          <p:cNvPr id="8" name="Straight Connector 2">
            <a:extLst>
              <a:ext uri="{FF2B5EF4-FFF2-40B4-BE49-F238E27FC236}">
                <a16:creationId xmlns:a16="http://schemas.microsoft.com/office/drawing/2014/main" id="{0D96BEE1-F4C0-5B5B-F34B-656D44E3F335}"/>
              </a:ext>
            </a:extLst>
          </p:cNvPr>
          <p:cNvCxnSpPr/>
          <p:nvPr/>
        </p:nvCxnSpPr>
        <p:spPr>
          <a:xfrm>
            <a:off x="7627938" y="3897313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">
            <a:extLst>
              <a:ext uri="{FF2B5EF4-FFF2-40B4-BE49-F238E27FC236}">
                <a16:creationId xmlns:a16="http://schemas.microsoft.com/office/drawing/2014/main" id="{B3BA1805-5F06-26B6-AD4B-28B7DE390745}"/>
              </a:ext>
            </a:extLst>
          </p:cNvPr>
          <p:cNvSpPr txBox="1"/>
          <p:nvPr/>
        </p:nvSpPr>
        <p:spPr>
          <a:xfrm>
            <a:off x="822960" y="3987800"/>
            <a:ext cx="6583680" cy="15541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000" b="1">
                <a:solidFill>
                  <a:schemeClr val="accent1"/>
                </a:solidFill>
                <a:latin typeface="+mj-lt"/>
              </a:rPr>
              <a:t>0,876</a:t>
            </a:r>
          </a:p>
        </p:txBody>
      </p:sp>
      <p:sp>
        <p:nvSpPr>
          <p:cNvPr id="10" name="TextBox 30">
            <a:extLst>
              <a:ext uri="{FF2B5EF4-FFF2-40B4-BE49-F238E27FC236}">
                <a16:creationId xmlns:a16="http://schemas.microsoft.com/office/drawing/2014/main" id="{E71ED9F7-0615-D94B-3FA6-335030EC9CAA}"/>
              </a:ext>
            </a:extLst>
          </p:cNvPr>
          <p:cNvSpPr txBox="1"/>
          <p:nvPr/>
        </p:nvSpPr>
        <p:spPr>
          <a:xfrm>
            <a:off x="8161338" y="6519863"/>
            <a:ext cx="9509760" cy="1446212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800" b="1">
                <a:solidFill>
                  <a:srgbClr val="00566C"/>
                </a:solidFill>
                <a:latin typeface="+mj-lt"/>
              </a:rPr>
              <a:t>falsas alarmas de XGBoost entre 56.864 legítimas</a:t>
            </a:r>
          </a:p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000" b="0">
                <a:solidFill>
                  <a:srgbClr val="858591"/>
                </a:solidFill>
                <a:latin typeface="+mj-lt"/>
              </a:rPr>
              <a:t>Precisión 0,882 · Recall 0,837 · F1 0,859</a:t>
            </a:r>
          </a:p>
        </p:txBody>
      </p:sp>
      <p:cxnSp>
        <p:nvCxnSpPr>
          <p:cNvPr id="11" name="Straight Connector 2">
            <a:extLst>
              <a:ext uri="{FF2B5EF4-FFF2-40B4-BE49-F238E27FC236}">
                <a16:creationId xmlns:a16="http://schemas.microsoft.com/office/drawing/2014/main" id="{05500EE1-53AD-C7A1-B1D2-4D65AF0184CD}"/>
              </a:ext>
            </a:extLst>
          </p:cNvPr>
          <p:cNvCxnSpPr/>
          <p:nvPr/>
        </p:nvCxnSpPr>
        <p:spPr>
          <a:xfrm>
            <a:off x="7627938" y="6365875"/>
            <a:ext cx="0" cy="1752600"/>
          </a:xfrm>
          <a:prstGeom prst="line">
            <a:avLst/>
          </a:prstGeom>
          <a:ln w="25400" cap="sq">
            <a:solidFill>
              <a:schemeClr val="accent2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3">
            <a:extLst>
              <a:ext uri="{FF2B5EF4-FFF2-40B4-BE49-F238E27FC236}">
                <a16:creationId xmlns:a16="http://schemas.microsoft.com/office/drawing/2014/main" id="{18C1ABE4-EDE3-3336-CFA9-9653188945F3}"/>
              </a:ext>
            </a:extLst>
          </p:cNvPr>
          <p:cNvSpPr txBox="1"/>
          <p:nvPr/>
        </p:nvSpPr>
        <p:spPr>
          <a:xfrm>
            <a:off x="822960" y="6457950"/>
            <a:ext cx="6583680" cy="1554163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000" b="1">
                <a:solidFill>
                  <a:schemeClr val="accent1"/>
                </a:solidFill>
                <a:latin typeface="+mj-lt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C032-086B-F166-282C-7DF2BCD84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03 Resultados</a:t>
            </a:r>
            <a:br>
              <a:rPr lang="es-ES_tradnl"/>
            </a:br>
            <a:r>
              <a:rPr lang="es-ES_tradnl" err="1">
                <a:solidFill>
                  <a:srgbClr val="00566C"/>
                </a:solidFill>
              </a:rPr>
              <a:t>Coste computacional</a:t>
            </a:r>
            <a:endParaRPr lang="es-ES_tradnl">
              <a:solidFill>
                <a:srgbClr val="00566C"/>
              </a:solidFill>
            </a:endParaRPr>
          </a:p>
        </p:txBody>
      </p:sp>
      <p:sp>
        <p:nvSpPr>
          <p:cNvPr id="14343" name="Slide Number Placeholder 2">
            <a:extLst>
              <a:ext uri="{FF2B5EF4-FFF2-40B4-BE49-F238E27FC236}">
                <a16:creationId xmlns:a16="http://schemas.microsoft.com/office/drawing/2014/main" id="{B83A4AD3-2F6E-635C-0BB0-31DA0757F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fld id="{0F6805BB-1305-4C36-982C-367CCC8CB60D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13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  <p:graphicFrame>
        <p:nvGraphicFramePr>
          <p:cNvPr id="14344" name="Chart 14343"/>
          <p:cNvGraphicFramePr>
            <a:graphicFrameLocks noGrp="1"/>
          </p:cNvGraphicFramePr>
          <p:nvPr/>
        </p:nvGraphicFramePr>
        <p:xfrm>
          <a:off x="1188720" y="1920240"/>
          <a:ext cx="15910559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345" name="TextBox 14344"/>
          <p:cNvSpPr txBox="1"/>
          <p:nvPr/>
        </p:nvSpPr>
        <p:spPr>
          <a:xfrm>
            <a:off x="1371600" y="7178040"/>
            <a:ext cx="49377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400" b="0">
                <a:solidFill>
                  <a:srgbClr val="219BC3"/>
                </a:solidFill>
                <a:latin typeface="Franklin Gothic Medium"/>
              </a:rPr>
              <a:t>XGBoost: 18 s</a:t>
            </a:r>
          </a:p>
        </p:txBody>
      </p:sp>
      <p:sp>
        <p:nvSpPr>
          <p:cNvPr id="14346" name="TextBox 14345"/>
          <p:cNvSpPr txBox="1"/>
          <p:nvPr/>
        </p:nvSpPr>
        <p:spPr>
          <a:xfrm>
            <a:off x="1371600" y="7772400"/>
            <a:ext cx="493776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600" b="0" dirty="0">
                <a:solidFill>
                  <a:srgbClr val="3C3C48"/>
                </a:solidFill>
                <a:latin typeface="Franklin Gothic Book"/>
              </a:rPr>
              <a:t>29× </a:t>
            </a:r>
            <a:r>
              <a:rPr sz="1600" b="0" dirty="0" err="1">
                <a:solidFill>
                  <a:srgbClr val="3C3C48"/>
                </a:solidFill>
                <a:latin typeface="Franklin Gothic Book"/>
              </a:rPr>
              <a:t>más</a:t>
            </a:r>
            <a:r>
              <a:rPr sz="16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600" b="0" dirty="0" err="1">
                <a:solidFill>
                  <a:srgbClr val="3C3C48"/>
                </a:solidFill>
                <a:latin typeface="Franklin Gothic Book"/>
              </a:rPr>
              <a:t>rápido</a:t>
            </a:r>
            <a:r>
              <a:rPr sz="16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600" b="0" dirty="0" err="1">
                <a:solidFill>
                  <a:srgbClr val="3C3C48"/>
                </a:solidFill>
                <a:latin typeface="Franklin Gothic Book"/>
              </a:rPr>
              <a:t>que</a:t>
            </a:r>
            <a:r>
              <a:rPr sz="1600" b="0" dirty="0">
                <a:solidFill>
                  <a:srgbClr val="3C3C48"/>
                </a:solidFill>
                <a:latin typeface="Franklin Gothic Book"/>
              </a:rPr>
              <a:t> RF sin </a:t>
            </a:r>
            <a:r>
              <a:rPr sz="1600" b="0" dirty="0" err="1">
                <a:solidFill>
                  <a:srgbClr val="3C3C48"/>
                </a:solidFill>
                <a:latin typeface="Franklin Gothic Book"/>
              </a:rPr>
              <a:t>tratamiento</a:t>
            </a:r>
            <a:r>
              <a:rPr sz="1600" b="0" dirty="0">
                <a:solidFill>
                  <a:srgbClr val="3C3C48"/>
                </a:solidFill>
                <a:latin typeface="Franklin Gothic Book"/>
              </a:rPr>
              <a:t> y 43× </a:t>
            </a:r>
            <a:r>
              <a:rPr sz="1600" b="0" dirty="0" err="1">
                <a:solidFill>
                  <a:srgbClr val="3C3C48"/>
                </a:solidFill>
                <a:latin typeface="Franklin Gothic Book"/>
              </a:rPr>
              <a:t>más</a:t>
            </a:r>
            <a:r>
              <a:rPr sz="16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600" b="0" dirty="0" err="1">
                <a:solidFill>
                  <a:srgbClr val="3C3C48"/>
                </a:solidFill>
                <a:latin typeface="Franklin Gothic Book"/>
              </a:rPr>
              <a:t>que</a:t>
            </a:r>
            <a:r>
              <a:rPr sz="1600" b="0" dirty="0">
                <a:solidFill>
                  <a:srgbClr val="3C3C48"/>
                </a:solidFill>
                <a:latin typeface="Franklin Gothic Book"/>
              </a:rPr>
              <a:t> RF + SMOTE</a:t>
            </a:r>
          </a:p>
        </p:txBody>
      </p:sp>
      <p:sp>
        <p:nvSpPr>
          <p:cNvPr id="14347" name="TextBox 14346"/>
          <p:cNvSpPr txBox="1"/>
          <p:nvPr/>
        </p:nvSpPr>
        <p:spPr>
          <a:xfrm>
            <a:off x="6949440" y="7178040"/>
            <a:ext cx="49377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400" b="0">
                <a:solidFill>
                  <a:srgbClr val="219BC3"/>
                </a:solidFill>
                <a:latin typeface="Franklin Gothic Medium"/>
              </a:rPr>
              <a:t>RF: 527–1.558 s</a:t>
            </a:r>
          </a:p>
        </p:txBody>
      </p:sp>
      <p:sp>
        <p:nvSpPr>
          <p:cNvPr id="14348" name="TextBox 14347"/>
          <p:cNvSpPr txBox="1"/>
          <p:nvPr/>
        </p:nvSpPr>
        <p:spPr>
          <a:xfrm>
            <a:off x="6949440" y="7772400"/>
            <a:ext cx="493776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600" b="0">
                <a:solidFill>
                  <a:srgbClr val="3C3C48"/>
                </a:solidFill>
                <a:latin typeface="Franklin Gothic Book"/>
              </a:rPr>
              <a:t>El resampling triplica su tiempo al agrandar el conjunto de entrenamiento</a:t>
            </a:r>
          </a:p>
        </p:txBody>
      </p:sp>
      <p:sp>
        <p:nvSpPr>
          <p:cNvPr id="14349" name="TextBox 14348"/>
          <p:cNvSpPr txBox="1"/>
          <p:nvPr/>
        </p:nvSpPr>
        <p:spPr>
          <a:xfrm>
            <a:off x="12527280" y="7178040"/>
            <a:ext cx="493776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400" b="0">
                <a:solidFill>
                  <a:srgbClr val="219BC3"/>
                </a:solidFill>
                <a:latin typeface="Franklin Gothic Medium"/>
              </a:rPr>
              <a:t>Inferencia &lt; 0,002 ms</a:t>
            </a:r>
          </a:p>
        </p:txBody>
      </p:sp>
      <p:sp>
        <p:nvSpPr>
          <p:cNvPr id="14350" name="TextBox 14349"/>
          <p:cNvSpPr txBox="1"/>
          <p:nvPr/>
        </p:nvSpPr>
        <p:spPr>
          <a:xfrm>
            <a:off x="12527280" y="7772400"/>
            <a:ext cx="493776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600" b="0">
                <a:solidFill>
                  <a:srgbClr val="3C3C48"/>
                </a:solidFill>
                <a:latin typeface="Franklin Gothic Book"/>
              </a:rPr>
              <a:t>Por transacción en todos los modelos: viables en tiempo real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F874-3A7A-36AF-D850-E8FF6CFC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 dirty="0">
                <a:solidFill>
                  <a:schemeClr val="accent1"/>
                </a:solidFill>
              </a:rPr>
              <a:t>03 Resultados</a:t>
            </a:r>
            <a:br>
              <a:rPr lang="es-ES_tradnl" dirty="0"/>
            </a:br>
            <a:r>
              <a:rPr lang="es-ES_tradnl" dirty="0">
                <a:solidFill>
                  <a:srgbClr val="00566C"/>
                </a:solidFill>
              </a:rPr>
              <a:t>Interpretabilidad SHAP: importancia global</a:t>
            </a: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07D3DA6B-98AD-FE61-3DA2-672D34367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fld id="{EB48EA59-A2D3-4BAB-8B35-26AD123258B3}" type="slidenum"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14</a:t>
            </a:fld>
            <a:endParaRPr lang="es-ES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  <p:pic>
        <p:nvPicPr>
          <p:cNvPr id="12294" name="Picture 12293" descr="fig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11338560" cy="4125811"/>
          </a:xfrm>
          <a:prstGeom prst="rect">
            <a:avLst/>
          </a:prstGeom>
        </p:spPr>
      </p:pic>
      <p:sp>
        <p:nvSpPr>
          <p:cNvPr id="12295" name="TextBox 12294"/>
          <p:cNvSpPr txBox="1"/>
          <p:nvPr/>
        </p:nvSpPr>
        <p:spPr>
          <a:xfrm>
            <a:off x="12710160" y="2651760"/>
            <a:ext cx="4846320" cy="6217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1600"/>
              </a:spcAft>
              <a:buClr>
                <a:srgbClr val="219BC3"/>
              </a:buClr>
              <a:buFont typeface="Arial"/>
              <a:buChar char="•"/>
            </a:pPr>
            <a:r>
              <a:rPr sz="2000" b="1">
                <a:solidFill>
                  <a:srgbClr val="00566C"/>
                </a:solidFill>
                <a:latin typeface="Franklin Gothic Book"/>
              </a:rPr>
              <a:t>V14, V4, V12 y V10 </a:t>
            </a:r>
            <a:r>
              <a:rPr sz="2000" b="0">
                <a:solidFill>
                  <a:srgbClr val="3C3C48"/>
                </a:solidFill>
                <a:latin typeface="Franklin Gothic Book"/>
              </a:rPr>
              <a:t>están en el top 5 de ambos modelos.</a:t>
            </a:r>
          </a:p>
          <a:p>
            <a:pPr marL="274320" indent="-274320" algn="l">
              <a:spcAft>
                <a:spcPts val="1600"/>
              </a:spcAft>
              <a:buClr>
                <a:srgbClr val="219BC3"/>
              </a:buClr>
              <a:buFont typeface="Arial"/>
              <a:buChar char="•"/>
            </a:pPr>
            <a:r>
              <a:rPr sz="2000" b="1">
                <a:solidFill>
                  <a:srgbClr val="00566C"/>
                </a:solidFill>
                <a:latin typeface="Franklin Gothic Book"/>
              </a:rPr>
              <a:t>XGBoost concentra la señal: </a:t>
            </a:r>
            <a:r>
              <a:rPr sz="2000" b="0">
                <a:solidFill>
                  <a:srgbClr val="3C3C48"/>
                </a:solidFill>
                <a:latin typeface="Franklin Gothic Book"/>
              </a:rPr>
              <a:t>V14 (3,20) duplica a V4 (1,86).</a:t>
            </a:r>
          </a:p>
          <a:p>
            <a:pPr marL="274320" indent="-274320" algn="l">
              <a:spcAft>
                <a:spcPts val="1600"/>
              </a:spcAft>
              <a:buClr>
                <a:srgbClr val="219BC3"/>
              </a:buClr>
              <a:buFont typeface="Arial"/>
              <a:buChar char="•"/>
            </a:pPr>
            <a:r>
              <a:rPr sz="2000" b="1">
                <a:solidFill>
                  <a:srgbClr val="00566C"/>
                </a:solidFill>
                <a:latin typeface="Franklin Gothic Book"/>
              </a:rPr>
              <a:t>Random Forest reparte </a:t>
            </a:r>
            <a:r>
              <a:rPr sz="2000" b="0">
                <a:solidFill>
                  <a:srgbClr val="3C3C48"/>
                </a:solidFill>
                <a:latin typeface="Franklin Gothic Book"/>
              </a:rPr>
              <a:t>la importancia de forma más homogénea (bagging).</a:t>
            </a:r>
          </a:p>
          <a:p>
            <a:pPr marL="274320" indent="-274320" algn="l">
              <a:spcAft>
                <a:spcPts val="1600"/>
              </a:spcAft>
              <a:buClr>
                <a:srgbClr val="219BC3"/>
              </a:buClr>
              <a:buFont typeface="Arial"/>
              <a:buChar char="•"/>
            </a:pPr>
            <a:r>
              <a:rPr sz="2000" b="1">
                <a:solidFill>
                  <a:srgbClr val="00566C"/>
                </a:solidFill>
                <a:latin typeface="Franklin Gothic Book"/>
              </a:rPr>
              <a:t>Coherente </a:t>
            </a:r>
            <a:r>
              <a:rPr sz="2000" b="0">
                <a:solidFill>
                  <a:srgbClr val="3C3C48"/>
                </a:solidFill>
                <a:latin typeface="Franklin Gothic Book"/>
              </a:rPr>
              <a:t>con el EDA y con Ikermane et al. (2025).</a:t>
            </a:r>
          </a:p>
        </p:txBody>
      </p:sp>
      <p:sp>
        <p:nvSpPr>
          <p:cNvPr id="12296" name="TextBox 12295"/>
          <p:cNvSpPr txBox="1"/>
          <p:nvPr/>
        </p:nvSpPr>
        <p:spPr>
          <a:xfrm>
            <a:off x="914400" y="7223760"/>
            <a:ext cx="11338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1200" b="0">
                <a:solidFill>
                  <a:srgbClr val="858591"/>
                </a:solidFill>
                <a:latin typeface="Franklin Gothic Book"/>
              </a:rPr>
              <a:t>Importancia SHAP media |valor| sobre 2.000 transacciones de test. Escalas distintas: log-odds (XGB) y probabilidad (RF).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F874-3A7A-36AF-D850-E8FF6CFC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 dirty="0">
                <a:solidFill>
                  <a:schemeClr val="accent1"/>
                </a:solidFill>
              </a:rPr>
              <a:t>03 Resultados</a:t>
            </a:r>
            <a:br>
              <a:rPr lang="es-ES_tradnl" dirty="0"/>
            </a:br>
            <a:r>
              <a:rPr lang="es-ES_tradnl" dirty="0">
                <a:solidFill>
                  <a:srgbClr val="00566C"/>
                </a:solidFill>
              </a:rPr>
              <a:t>SHAP local: por qué se marcó esta transacción</a:t>
            </a: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07D3DA6B-98AD-FE61-3DA2-672D34367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fld id="{EB48EA59-A2D3-4BAB-8B35-26AD123258B3}" type="slidenum"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15</a:t>
            </a:fld>
            <a:endParaRPr lang="es-ES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  <p:pic>
        <p:nvPicPr>
          <p:cNvPr id="12294" name="Picture 12293" descr="fig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7881431" cy="6766560"/>
          </a:xfrm>
          <a:prstGeom prst="rect">
            <a:avLst/>
          </a:prstGeom>
        </p:spPr>
      </p:pic>
      <p:sp>
        <p:nvSpPr>
          <p:cNvPr id="12295" name="TextBox 12294"/>
          <p:cNvSpPr txBox="1"/>
          <p:nvPr/>
        </p:nvSpPr>
        <p:spPr>
          <a:xfrm>
            <a:off x="9418320" y="2286000"/>
            <a:ext cx="7955279" cy="6400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sz="2000" b="1">
                <a:solidFill>
                  <a:srgbClr val="00566C"/>
                </a:solidFill>
                <a:latin typeface="Franklin Gothic Book"/>
              </a:rPr>
              <a:t>Fraude real detectado </a:t>
            </a:r>
            <a:r>
              <a:rPr sz="2000" b="0">
                <a:solidFill>
                  <a:srgbClr val="3C3C48"/>
                </a:solidFill>
                <a:latin typeface="Franklin Gothic Book"/>
              </a:rPr>
              <a:t>por XGBoost con P(fraude) = 1,00.</a:t>
            </a:r>
          </a:p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sz="2000" b="1">
                <a:solidFill>
                  <a:srgbClr val="00566C"/>
                </a:solidFill>
                <a:latin typeface="Franklin Gothic Book"/>
              </a:rPr>
              <a:t>Parte del valor base </a:t>
            </a:r>
            <a:r>
              <a:rPr sz="2000" b="0">
                <a:solidFill>
                  <a:srgbClr val="3C3C48"/>
                </a:solidFill>
                <a:latin typeface="Franklin Gothic Book"/>
              </a:rPr>
              <a:t>E[f(X)] = −0,287 y suma contribuciones hasta f(x) = 14,22.</a:t>
            </a:r>
          </a:p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sz="2000" b="1">
                <a:solidFill>
                  <a:srgbClr val="00566C"/>
                </a:solidFill>
                <a:latin typeface="Franklin Gothic Book"/>
              </a:rPr>
              <a:t>Empujan a fraude: </a:t>
            </a:r>
            <a:r>
              <a:rPr sz="2000" b="0">
                <a:solidFill>
                  <a:srgbClr val="3C3C48"/>
                </a:solidFill>
                <a:latin typeface="Franklin Gothic Book"/>
              </a:rPr>
              <a:t>V14 (+6,44), V10 (+2,05), V4 (+1,67), V7 y V12.</a:t>
            </a:r>
          </a:p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sz="2000" b="1">
                <a:solidFill>
                  <a:srgbClr val="00566C"/>
                </a:solidFill>
                <a:latin typeface="Franklin Gothic Book"/>
              </a:rPr>
              <a:t>Atenúan: </a:t>
            </a:r>
            <a:r>
              <a:rPr sz="2000" b="0">
                <a:solidFill>
                  <a:srgbClr val="3C3C48"/>
                </a:solidFill>
                <a:latin typeface="Franklin Gothic Book"/>
              </a:rPr>
              <a:t>V28 (−1,07) y V5 (−0,68).</a:t>
            </a:r>
          </a:p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sz="2000" b="1">
                <a:solidFill>
                  <a:srgbClr val="219BC3"/>
                </a:solidFill>
                <a:latin typeface="Franklin Gothic Book"/>
              </a:rPr>
              <a:t>En un banco: </a:t>
            </a:r>
            <a:r>
              <a:rPr sz="2000" b="0">
                <a:solidFill>
                  <a:srgbClr val="3C3C48"/>
                </a:solidFill>
                <a:latin typeface="Franklin Gothic Book"/>
              </a:rPr>
              <a:t>el analista ve por qué se bloqueó la operación: trazabilidad para auditoría y la LOPDP (2021).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95A2E-21EA-4CF3-DA10-2B6986D2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03 Resultados</a:t>
            </a:r>
            <a:br>
              <a:rPr lang="es-ES_tradnl">
                <a:solidFill>
                  <a:schemeClr val="accent1"/>
                </a:solidFill>
              </a:rPr>
            </a:br>
            <a:r>
              <a:rPr lang="es-ES_tradnl" err="1">
                <a:solidFill>
                  <a:srgbClr val="00566C"/>
                </a:solidFill>
              </a:rPr>
              <a:t>Validación externa del protocolo en IEEE-CIS</a:t>
            </a:r>
          </a:p>
        </p:txBody>
      </p:sp>
      <p:sp>
        <p:nvSpPr>
          <p:cNvPr id="17467" name="Slide Number Placeholder 2">
            <a:extLst>
              <a:ext uri="{FF2B5EF4-FFF2-40B4-BE49-F238E27FC236}">
                <a16:creationId xmlns:a16="http://schemas.microsoft.com/office/drawing/2014/main" id="{25E8E64E-2B25-8498-E42E-C76A3C919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fld id="{CBBE2CE8-E55E-4A1E-BAD8-BD89860AFB98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16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  <p:graphicFrame>
        <p:nvGraphicFramePr>
          <p:cNvPr id="17468" name="Table 17467"/>
          <p:cNvGraphicFramePr>
            <a:graphicFrameLocks noGrp="1"/>
          </p:cNvGraphicFramePr>
          <p:nvPr/>
        </p:nvGraphicFramePr>
        <p:xfrm>
          <a:off x="1371600" y="2103120"/>
          <a:ext cx="15544800" cy="3017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Modelo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Dataset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AUC-PR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AUC-ROC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Recall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Precisión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F1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Franklin Gothic Medium"/>
                        </a:rPr>
                        <a:t>Fraudes no detect.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19B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XGBoost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ULB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0,883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0,960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0,837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0,882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0,859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16 / 98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XGBoost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IEEE-CIS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0,614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0,927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0,831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0,187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0,306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699 / 4.133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Random Forest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ULB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0,876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0,967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0,837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0,854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0,845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3C3C48"/>
                          </a:solidFill>
                          <a:latin typeface="Franklin Gothic Book"/>
                        </a:rPr>
                        <a:t>16 / 98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2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Random Forest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IEEE-CIS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0,624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0,911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0,445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0,852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0,584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566C"/>
                          </a:solidFill>
                          <a:latin typeface="Franklin Gothic Medium"/>
                        </a:rPr>
                        <a:t>2.296 / 4.133</a:t>
                      </a:r>
                    </a:p>
                  </a:txBody>
                  <a:tcPr marT="36576" marB="36576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6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469" name="TextBox 17468"/>
          <p:cNvSpPr txBox="1"/>
          <p:nvPr/>
        </p:nvSpPr>
        <p:spPr>
          <a:xfrm>
            <a:off x="914400" y="5486400"/>
            <a:ext cx="8229600" cy="3474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1200"/>
              </a:spcAft>
              <a:buClr>
                <a:srgbClr val="219BC3"/>
              </a:buClr>
              <a:buFont typeface="Arial"/>
              <a:buChar char="•"/>
            </a:pPr>
            <a:r>
              <a:rPr sz="1700" b="1">
                <a:solidFill>
                  <a:srgbClr val="00566C"/>
                </a:solidFill>
                <a:latin typeface="Franklin Gothic Book"/>
              </a:rPr>
              <a:t>Ranking invertido: </a:t>
            </a:r>
            <a:r>
              <a:rPr sz="1700" b="0">
                <a:solidFill>
                  <a:srgbClr val="3C3C48"/>
                </a:solidFill>
                <a:latin typeface="Franklin Gothic Book"/>
              </a:rPr>
              <a:t>en IEEE-CIS Random Forest (0,624) supera a XGBoost (0,614).</a:t>
            </a:r>
          </a:p>
          <a:p>
            <a:pPr marL="274320" indent="-274320" algn="l">
              <a:spcAft>
                <a:spcPts val="1200"/>
              </a:spcAft>
              <a:buClr>
                <a:srgbClr val="219BC3"/>
              </a:buClr>
              <a:buFont typeface="Arial"/>
              <a:buChar char="•"/>
            </a:pPr>
            <a:r>
              <a:rPr sz="1700" b="1">
                <a:solidFill>
                  <a:srgbClr val="00566C"/>
                </a:solidFill>
                <a:latin typeface="Franklin Gothic Book"/>
              </a:rPr>
              <a:t>Perfiles opuestos: </a:t>
            </a:r>
            <a:r>
              <a:rPr sz="1700" b="0">
                <a:solidFill>
                  <a:srgbClr val="3C3C48"/>
                </a:solidFill>
                <a:latin typeface="Franklin Gothic Book"/>
              </a:rPr>
              <a:t>XGBoost detecta más fraude pero con 14.915 falsas alarmas; RF es preciso pero deja escapar 2.296 fraudes.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9326880" y="5486400"/>
            <a:ext cx="8046720" cy="3474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1200"/>
              </a:spcAft>
              <a:buClr>
                <a:srgbClr val="219BC3"/>
              </a:buClr>
              <a:buFont typeface="Arial"/>
              <a:buChar char="•"/>
            </a:pPr>
            <a:r>
              <a:rPr sz="1700" b="1">
                <a:solidFill>
                  <a:srgbClr val="00566C"/>
                </a:solidFill>
                <a:latin typeface="Franklin Gothic Book"/>
              </a:rPr>
              <a:t>AUC-ROC apenas cae (≈ −0,03) </a:t>
            </a:r>
            <a:r>
              <a:rPr sz="1700" b="0">
                <a:solidFill>
                  <a:srgbClr val="3C3C48"/>
                </a:solidFill>
                <a:latin typeface="Franklin Gothic Book"/>
              </a:rPr>
              <a:t>mientras AUC-PR cae ≈ −0,26: confirma por qué AUC-PR es la métrica principal.</a:t>
            </a:r>
          </a:p>
          <a:p>
            <a:pPr marL="274320" indent="-274320" algn="l">
              <a:spcAft>
                <a:spcPts val="1200"/>
              </a:spcAft>
              <a:buClr>
                <a:srgbClr val="219BC3"/>
              </a:buClr>
              <a:buFont typeface="Arial"/>
              <a:buChar char="•"/>
            </a:pPr>
            <a:r>
              <a:rPr sz="1700" b="1">
                <a:solidFill>
                  <a:srgbClr val="00566C"/>
                </a:solidFill>
                <a:latin typeface="Franklin Gothic Book"/>
              </a:rPr>
              <a:t>Escenarios A y B idénticos: </a:t>
            </a:r>
            <a:r>
              <a:rPr sz="1700" b="0">
                <a:solidFill>
                  <a:srgbClr val="3C3C48"/>
                </a:solidFill>
                <a:latin typeface="Franklin Gothic Book"/>
              </a:rPr>
              <a:t>el GridSearch converge a la configuración heredada. Lectura prudente: tasas base distintas (0,17 % vs 3,5 %).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F4AC-0242-C393-575C-E8973F63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04 Conclusiones</a:t>
            </a:r>
            <a:br>
              <a:rPr lang="es-ES_tradnl"/>
            </a:br>
            <a:r>
              <a:rPr lang="es-ES_tradnl">
                <a:solidFill>
                  <a:srgbClr val="00566C"/>
                </a:solidFill>
              </a:rPr>
              <a:t>Conclusiones</a:t>
            </a:r>
          </a:p>
        </p:txBody>
      </p:sp>
      <p:grpSp>
        <p:nvGrpSpPr>
          <p:cNvPr id="13315" name="Group 58">
            <a:extLst>
              <a:ext uri="{FF2B5EF4-FFF2-40B4-BE49-F238E27FC236}">
                <a16:creationId xmlns:a16="http://schemas.microsoft.com/office/drawing/2014/main" id="{8EAC4C2E-375E-A813-1C5C-076610D972CE}"/>
              </a:ext>
            </a:extLst>
          </p:cNvPr>
          <p:cNvGrpSpPr>
            <a:grpSpLocks/>
          </p:cNvGrpSpPr>
          <p:nvPr/>
        </p:nvGrpSpPr>
        <p:grpSpPr bwMode="auto">
          <a:xfrm>
            <a:off x="1370013" y="2933700"/>
            <a:ext cx="3694112" cy="3322678"/>
            <a:chOff x="1369272" y="3290036"/>
            <a:chExt cx="3694493" cy="3322978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10A3DA-FB22-367C-6E60-7F5E2B729E57}"/>
                </a:ext>
              </a:extLst>
            </p:cNvPr>
            <p:cNvSpPr txBox="1"/>
            <p:nvPr/>
          </p:nvSpPr>
          <p:spPr>
            <a:xfrm>
              <a:off x="1369272" y="4104498"/>
              <a:ext cx="3694493" cy="4924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600" dirty="0" err="1">
                  <a:solidFill>
                    <a:schemeClr val="accent1"/>
                  </a:solidFill>
                  <a:latin typeface="+mj-lt"/>
                </a:rPr>
                <a:t>Empate</a:t>
              </a:r>
              <a:r>
                <a:rPr lang="en-US" sz="2600" dirty="0">
                  <a:solidFill>
                    <a:schemeClr val="accent1"/>
                  </a:solidFill>
                  <a:latin typeface="+mj-lt"/>
                </a:rPr>
                <a:t> </a:t>
              </a:r>
              <a:r>
                <a:rPr lang="en-US" sz="2600" dirty="0" err="1">
                  <a:solidFill>
                    <a:schemeClr val="accent1"/>
                  </a:solidFill>
                  <a:latin typeface="+mj-lt"/>
                </a:rPr>
                <a:t>en</a:t>
              </a:r>
              <a:r>
                <a:rPr lang="en-US" sz="2600" dirty="0">
                  <a:solidFill>
                    <a:schemeClr val="accent1"/>
                  </a:solidFill>
                  <a:latin typeface="+mj-lt"/>
                </a:rPr>
                <a:t> </a:t>
              </a:r>
              <a:r>
                <a:rPr lang="en-US" sz="2600" dirty="0" err="1">
                  <a:solidFill>
                    <a:schemeClr val="accent1"/>
                  </a:solidFill>
                  <a:latin typeface="+mj-lt"/>
                </a:rPr>
                <a:t>deteccion</a:t>
              </a:r>
              <a:endParaRPr lang="es-ES_tradnl" sz="2600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3328" name="Freeform 122">
              <a:extLst>
                <a:ext uri="{FF2B5EF4-FFF2-40B4-BE49-F238E27FC236}">
                  <a16:creationId xmlns:a16="http://schemas.microsoft.com/office/drawing/2014/main" id="{89097637-F475-2103-1769-02A34896FD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9272" y="3290036"/>
              <a:ext cx="628506" cy="628506"/>
            </a:xfrm>
            <a:custGeom>
              <a:avLst/>
              <a:gdLst>
                <a:gd name="T0" fmla="*/ 2147483646 w 176"/>
                <a:gd name="T1" fmla="*/ 663127396 h 176"/>
                <a:gd name="T2" fmla="*/ 2147483646 w 176"/>
                <a:gd name="T3" fmla="*/ 637622908 h 176"/>
                <a:gd name="T4" fmla="*/ 2147483646 w 176"/>
                <a:gd name="T5" fmla="*/ 637622908 h 176"/>
                <a:gd name="T6" fmla="*/ 2147483646 w 176"/>
                <a:gd name="T7" fmla="*/ 624870664 h 176"/>
                <a:gd name="T8" fmla="*/ 2147483646 w 176"/>
                <a:gd name="T9" fmla="*/ 624870664 h 176"/>
                <a:gd name="T10" fmla="*/ 1619559972 w 176"/>
                <a:gd name="T11" fmla="*/ 25504488 h 176"/>
                <a:gd name="T12" fmla="*/ 1619559972 w 176"/>
                <a:gd name="T13" fmla="*/ 25504488 h 176"/>
                <a:gd name="T14" fmla="*/ 1581303241 w 176"/>
                <a:gd name="T15" fmla="*/ 0 h 176"/>
                <a:gd name="T16" fmla="*/ 663127396 w 176"/>
                <a:gd name="T17" fmla="*/ 0 h 176"/>
                <a:gd name="T18" fmla="*/ 624870664 w 176"/>
                <a:gd name="T19" fmla="*/ 25504488 h 176"/>
                <a:gd name="T20" fmla="*/ 624870664 w 176"/>
                <a:gd name="T21" fmla="*/ 25504488 h 176"/>
                <a:gd name="T22" fmla="*/ 12752244 w 176"/>
                <a:gd name="T23" fmla="*/ 624870664 h 176"/>
                <a:gd name="T24" fmla="*/ 12752244 w 176"/>
                <a:gd name="T25" fmla="*/ 624870664 h 176"/>
                <a:gd name="T26" fmla="*/ 12752244 w 176"/>
                <a:gd name="T27" fmla="*/ 637622908 h 176"/>
                <a:gd name="T28" fmla="*/ 12752244 w 176"/>
                <a:gd name="T29" fmla="*/ 637622908 h 176"/>
                <a:gd name="T30" fmla="*/ 0 w 176"/>
                <a:gd name="T31" fmla="*/ 663127396 h 176"/>
                <a:gd name="T32" fmla="*/ 12752244 w 176"/>
                <a:gd name="T33" fmla="*/ 688631884 h 176"/>
                <a:gd name="T34" fmla="*/ 12752244 w 176"/>
                <a:gd name="T35" fmla="*/ 701384128 h 176"/>
                <a:gd name="T36" fmla="*/ 1083958587 w 176"/>
                <a:gd name="T37" fmla="*/ 2147483646 h 176"/>
                <a:gd name="T38" fmla="*/ 1083958587 w 176"/>
                <a:gd name="T39" fmla="*/ 2147483646 h 176"/>
                <a:gd name="T40" fmla="*/ 1122215318 w 176"/>
                <a:gd name="T41" fmla="*/ 2147483646 h 176"/>
                <a:gd name="T42" fmla="*/ 1160472050 w 176"/>
                <a:gd name="T43" fmla="*/ 2147483646 h 176"/>
                <a:gd name="T44" fmla="*/ 1160472050 w 176"/>
                <a:gd name="T45" fmla="*/ 2147483646 h 176"/>
                <a:gd name="T46" fmla="*/ 2147483646 w 176"/>
                <a:gd name="T47" fmla="*/ 701384128 h 176"/>
                <a:gd name="T48" fmla="*/ 2147483646 w 176"/>
                <a:gd name="T49" fmla="*/ 688631884 h 176"/>
                <a:gd name="T50" fmla="*/ 2147483646 w 176"/>
                <a:gd name="T51" fmla="*/ 663127396 h 176"/>
                <a:gd name="T52" fmla="*/ 1555798753 w 176"/>
                <a:gd name="T53" fmla="*/ 102017951 h 176"/>
                <a:gd name="T54" fmla="*/ 2065895651 w 176"/>
                <a:gd name="T55" fmla="*/ 612118420 h 176"/>
                <a:gd name="T56" fmla="*/ 1606807729 w 176"/>
                <a:gd name="T57" fmla="*/ 612118420 h 176"/>
                <a:gd name="T58" fmla="*/ 1351759280 w 176"/>
                <a:gd name="T59" fmla="*/ 102017951 h 176"/>
                <a:gd name="T60" fmla="*/ 1555798753 w 176"/>
                <a:gd name="T61" fmla="*/ 102017951 h 176"/>
                <a:gd name="T62" fmla="*/ 1249741328 w 176"/>
                <a:gd name="T63" fmla="*/ 102017951 h 176"/>
                <a:gd name="T64" fmla="*/ 1504789777 w 176"/>
                <a:gd name="T65" fmla="*/ 612118420 h 176"/>
                <a:gd name="T66" fmla="*/ 739640859 w 176"/>
                <a:gd name="T67" fmla="*/ 612118420 h 176"/>
                <a:gd name="T68" fmla="*/ 994689308 w 176"/>
                <a:gd name="T69" fmla="*/ 102017951 h 176"/>
                <a:gd name="T70" fmla="*/ 1249741328 w 176"/>
                <a:gd name="T71" fmla="*/ 102017951 h 176"/>
                <a:gd name="T72" fmla="*/ 688631884 w 176"/>
                <a:gd name="T73" fmla="*/ 102017951 h 176"/>
                <a:gd name="T74" fmla="*/ 892671357 w 176"/>
                <a:gd name="T75" fmla="*/ 102017951 h 176"/>
                <a:gd name="T76" fmla="*/ 637622908 w 176"/>
                <a:gd name="T77" fmla="*/ 612118420 h 176"/>
                <a:gd name="T78" fmla="*/ 178534986 w 176"/>
                <a:gd name="T79" fmla="*/ 612118420 h 176"/>
                <a:gd name="T80" fmla="*/ 688631884 w 176"/>
                <a:gd name="T81" fmla="*/ 102017951 h 176"/>
                <a:gd name="T82" fmla="*/ 153030498 w 176"/>
                <a:gd name="T83" fmla="*/ 714136371 h 176"/>
                <a:gd name="T84" fmla="*/ 624870664 w 176"/>
                <a:gd name="T85" fmla="*/ 714136371 h 176"/>
                <a:gd name="T86" fmla="*/ 981937064 w 176"/>
                <a:gd name="T87" fmla="*/ 1900112909 h 176"/>
                <a:gd name="T88" fmla="*/ 153030498 w 176"/>
                <a:gd name="T89" fmla="*/ 714136371 h 176"/>
                <a:gd name="T90" fmla="*/ 1122215318 w 176"/>
                <a:gd name="T91" fmla="*/ 2014886675 h 176"/>
                <a:gd name="T92" fmla="*/ 726888615 w 176"/>
                <a:gd name="T93" fmla="*/ 714136371 h 176"/>
                <a:gd name="T94" fmla="*/ 1517542021 w 176"/>
                <a:gd name="T95" fmla="*/ 714136371 h 176"/>
                <a:gd name="T96" fmla="*/ 1122215318 w 176"/>
                <a:gd name="T97" fmla="*/ 2014886675 h 176"/>
                <a:gd name="T98" fmla="*/ 1262493572 w 176"/>
                <a:gd name="T99" fmla="*/ 1900112909 h 176"/>
                <a:gd name="T100" fmla="*/ 1619559972 w 176"/>
                <a:gd name="T101" fmla="*/ 714136371 h 176"/>
                <a:gd name="T102" fmla="*/ 2091400139 w 176"/>
                <a:gd name="T103" fmla="*/ 714136371 h 176"/>
                <a:gd name="T104" fmla="*/ 1262493572 w 176"/>
                <a:gd name="T105" fmla="*/ 1900112909 h 17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76" h="176">
                  <a:moveTo>
                    <a:pt x="176" y="52"/>
                  </a:moveTo>
                  <a:cubicBezTo>
                    <a:pt x="176" y="51"/>
                    <a:pt x="176" y="50"/>
                    <a:pt x="175" y="50"/>
                  </a:cubicBezTo>
                  <a:cubicBezTo>
                    <a:pt x="175" y="50"/>
                    <a:pt x="175" y="50"/>
                    <a:pt x="175" y="50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7" y="2"/>
                    <a:pt x="127" y="2"/>
                    <a:pt x="127" y="2"/>
                  </a:cubicBezTo>
                  <a:cubicBezTo>
                    <a:pt x="126" y="1"/>
                    <a:pt x="125" y="0"/>
                    <a:pt x="12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0" y="1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0" y="50"/>
                    <a:pt x="0" y="51"/>
                    <a:pt x="0" y="52"/>
                  </a:cubicBezTo>
                  <a:cubicBezTo>
                    <a:pt x="0" y="53"/>
                    <a:pt x="0" y="54"/>
                    <a:pt x="1" y="54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4"/>
                    <a:pt x="85" y="174"/>
                    <a:pt x="85" y="174"/>
                  </a:cubicBezTo>
                  <a:cubicBezTo>
                    <a:pt x="86" y="175"/>
                    <a:pt x="87" y="176"/>
                    <a:pt x="88" y="176"/>
                  </a:cubicBezTo>
                  <a:cubicBezTo>
                    <a:pt x="89" y="176"/>
                    <a:pt x="90" y="175"/>
                    <a:pt x="91" y="174"/>
                  </a:cubicBezTo>
                  <a:cubicBezTo>
                    <a:pt x="91" y="175"/>
                    <a:pt x="91" y="175"/>
                    <a:pt x="91" y="175"/>
                  </a:cubicBezTo>
                  <a:cubicBezTo>
                    <a:pt x="175" y="55"/>
                    <a:pt x="175" y="55"/>
                    <a:pt x="175" y="55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6" y="54"/>
                    <a:pt x="176" y="53"/>
                    <a:pt x="176" y="52"/>
                  </a:cubicBezTo>
                  <a:moveTo>
                    <a:pt x="122" y="8"/>
                  </a:moveTo>
                  <a:cubicBezTo>
                    <a:pt x="162" y="48"/>
                    <a:pt x="162" y="48"/>
                    <a:pt x="162" y="48"/>
                  </a:cubicBezTo>
                  <a:cubicBezTo>
                    <a:pt x="126" y="48"/>
                    <a:pt x="126" y="48"/>
                    <a:pt x="126" y="48"/>
                  </a:cubicBezTo>
                  <a:cubicBezTo>
                    <a:pt x="106" y="8"/>
                    <a:pt x="106" y="8"/>
                    <a:pt x="106" y="8"/>
                  </a:cubicBezTo>
                  <a:lnTo>
                    <a:pt x="122" y="8"/>
                  </a:lnTo>
                  <a:close/>
                  <a:moveTo>
                    <a:pt x="98" y="8"/>
                  </a:moveTo>
                  <a:cubicBezTo>
                    <a:pt x="118" y="48"/>
                    <a:pt x="118" y="48"/>
                    <a:pt x="118" y="48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78" y="8"/>
                    <a:pt x="78" y="8"/>
                    <a:pt x="78" y="8"/>
                  </a:cubicBezTo>
                  <a:lnTo>
                    <a:pt x="98" y="8"/>
                  </a:lnTo>
                  <a:close/>
                  <a:moveTo>
                    <a:pt x="54" y="8"/>
                  </a:moveTo>
                  <a:cubicBezTo>
                    <a:pt x="70" y="8"/>
                    <a:pt x="70" y="8"/>
                    <a:pt x="70" y="8"/>
                  </a:cubicBezTo>
                  <a:cubicBezTo>
                    <a:pt x="50" y="48"/>
                    <a:pt x="50" y="48"/>
                    <a:pt x="50" y="48"/>
                  </a:cubicBezTo>
                  <a:cubicBezTo>
                    <a:pt x="14" y="48"/>
                    <a:pt x="14" y="48"/>
                    <a:pt x="14" y="48"/>
                  </a:cubicBezTo>
                  <a:lnTo>
                    <a:pt x="54" y="8"/>
                  </a:lnTo>
                  <a:close/>
                  <a:moveTo>
                    <a:pt x="12" y="56"/>
                  </a:moveTo>
                  <a:cubicBezTo>
                    <a:pt x="49" y="56"/>
                    <a:pt x="49" y="56"/>
                    <a:pt x="49" y="56"/>
                  </a:cubicBezTo>
                  <a:cubicBezTo>
                    <a:pt x="77" y="149"/>
                    <a:pt x="77" y="149"/>
                    <a:pt x="77" y="149"/>
                  </a:cubicBezTo>
                  <a:lnTo>
                    <a:pt x="12" y="56"/>
                  </a:lnTo>
                  <a:close/>
                  <a:moveTo>
                    <a:pt x="88" y="158"/>
                  </a:moveTo>
                  <a:cubicBezTo>
                    <a:pt x="57" y="56"/>
                    <a:pt x="57" y="56"/>
                    <a:pt x="57" y="56"/>
                  </a:cubicBezTo>
                  <a:cubicBezTo>
                    <a:pt x="119" y="56"/>
                    <a:pt x="119" y="56"/>
                    <a:pt x="119" y="56"/>
                  </a:cubicBezTo>
                  <a:lnTo>
                    <a:pt x="88" y="158"/>
                  </a:lnTo>
                  <a:close/>
                  <a:moveTo>
                    <a:pt x="99" y="149"/>
                  </a:moveTo>
                  <a:cubicBezTo>
                    <a:pt x="127" y="56"/>
                    <a:pt x="127" y="56"/>
                    <a:pt x="127" y="56"/>
                  </a:cubicBezTo>
                  <a:cubicBezTo>
                    <a:pt x="164" y="56"/>
                    <a:pt x="164" y="56"/>
                    <a:pt x="164" y="56"/>
                  </a:cubicBezTo>
                  <a:lnTo>
                    <a:pt x="99" y="1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329" name="TextBox 52">
              <a:extLst>
                <a:ext uri="{FF2B5EF4-FFF2-40B4-BE49-F238E27FC236}">
                  <a16:creationId xmlns:a16="http://schemas.microsoft.com/office/drawing/2014/main" id="{9A2D1223-91DF-F1FE-0F66-AA6C25D32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9272" y="5094513"/>
              <a:ext cx="3583727" cy="1518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1313" indent="-341313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1900" dirty="0" err="1">
                  <a:solidFill>
                    <a:schemeClr val="tx2"/>
                  </a:solidFill>
                </a:rPr>
                <a:t>XGBoost</a:t>
              </a:r>
              <a:r>
                <a:rPr lang="es-ES_tradnl" altLang="es-ES" sz="1900" dirty="0">
                  <a:solidFill>
                    <a:schemeClr val="tx2"/>
                  </a:solidFill>
                </a:rPr>
                <a:t> sin </a:t>
              </a:r>
              <a:r>
                <a:rPr lang="es-ES_tradnl" altLang="es-ES" sz="1900" dirty="0" err="1">
                  <a:solidFill>
                    <a:schemeClr val="tx2"/>
                  </a:solidFill>
                </a:rPr>
                <a:t>resampling</a:t>
              </a:r>
              <a:r>
                <a:rPr lang="es-ES_tradnl" altLang="es-ES" sz="1900" dirty="0">
                  <a:solidFill>
                    <a:schemeClr val="tx2"/>
                  </a:solidFill>
                </a:rPr>
                <a:t>: gana en coste.</a:t>
              </a:r>
            </a:p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1900" dirty="0">
                  <a:solidFill>
                    <a:schemeClr val="tx2"/>
                  </a:solidFill>
                </a:rPr>
                <a:t>Solo 11 falsas alarmas</a:t>
              </a:r>
            </a:p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1900" dirty="0">
                  <a:solidFill>
                    <a:schemeClr val="tx2"/>
                  </a:solidFill>
                </a:rPr>
                <a:t>29× más rápido que RF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AB93D08-7EEF-7AEE-D61F-80B83FB3F12C}"/>
              </a:ext>
            </a:extLst>
          </p:cNvPr>
          <p:cNvSpPr txBox="1"/>
          <p:nvPr/>
        </p:nvSpPr>
        <p:spPr>
          <a:xfrm>
            <a:off x="5357813" y="3709988"/>
            <a:ext cx="3640137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600" err="1">
                <a:solidFill>
                  <a:srgbClr val="00566C"/>
                </a:solidFill>
                <a:latin typeface="+mj-lt"/>
              </a:rPr>
              <a:t>Resampling</a:t>
            </a:r>
          </a:p>
        </p:txBody>
      </p:sp>
      <p:sp>
        <p:nvSpPr>
          <p:cNvPr id="47" name="Freeform 441">
            <a:extLst>
              <a:ext uri="{FF2B5EF4-FFF2-40B4-BE49-F238E27FC236}">
                <a16:creationId xmlns:a16="http://schemas.microsoft.com/office/drawing/2014/main" id="{ED40024D-125D-4961-C712-28F6A0A8AB19}"/>
              </a:ext>
            </a:extLst>
          </p:cNvPr>
          <p:cNvSpPr>
            <a:spLocks noEditPoints="1"/>
          </p:cNvSpPr>
          <p:nvPr/>
        </p:nvSpPr>
        <p:spPr bwMode="auto">
          <a:xfrm>
            <a:off x="5357813" y="2933700"/>
            <a:ext cx="573087" cy="573088"/>
          </a:xfrm>
          <a:custGeom>
            <a:avLst/>
            <a:gdLst>
              <a:gd name="T0" fmla="*/ 176 w 176"/>
              <a:gd name="T1" fmla="*/ 52 h 176"/>
              <a:gd name="T2" fmla="*/ 124 w 176"/>
              <a:gd name="T3" fmla="*/ 0 h 176"/>
              <a:gd name="T4" fmla="*/ 88 w 176"/>
              <a:gd name="T5" fmla="*/ 15 h 176"/>
              <a:gd name="T6" fmla="*/ 52 w 176"/>
              <a:gd name="T7" fmla="*/ 0 h 176"/>
              <a:gd name="T8" fmla="*/ 0 w 176"/>
              <a:gd name="T9" fmla="*/ 52 h 176"/>
              <a:gd name="T10" fmla="*/ 0 w 176"/>
              <a:gd name="T11" fmla="*/ 58 h 176"/>
              <a:gd name="T12" fmla="*/ 88 w 176"/>
              <a:gd name="T13" fmla="*/ 176 h 176"/>
              <a:gd name="T14" fmla="*/ 176 w 176"/>
              <a:gd name="T15" fmla="*/ 58 h 176"/>
              <a:gd name="T16" fmla="*/ 176 w 176"/>
              <a:gd name="T17" fmla="*/ 52 h 176"/>
              <a:gd name="T18" fmla="*/ 168 w 176"/>
              <a:gd name="T19" fmla="*/ 57 h 176"/>
              <a:gd name="T20" fmla="*/ 88 w 176"/>
              <a:gd name="T21" fmla="*/ 167 h 176"/>
              <a:gd name="T22" fmla="*/ 8 w 176"/>
              <a:gd name="T23" fmla="*/ 57 h 176"/>
              <a:gd name="T24" fmla="*/ 8 w 176"/>
              <a:gd name="T25" fmla="*/ 52 h 176"/>
              <a:gd name="T26" fmla="*/ 52 w 176"/>
              <a:gd name="T27" fmla="*/ 8 h 176"/>
              <a:gd name="T28" fmla="*/ 82 w 176"/>
              <a:gd name="T29" fmla="*/ 20 h 176"/>
              <a:gd name="T30" fmla="*/ 86 w 176"/>
              <a:gd name="T31" fmla="*/ 24 h 176"/>
              <a:gd name="T32" fmla="*/ 72 w 176"/>
              <a:gd name="T33" fmla="*/ 56 h 176"/>
              <a:gd name="T34" fmla="*/ 92 w 176"/>
              <a:gd name="T35" fmla="*/ 80 h 176"/>
              <a:gd name="T36" fmla="*/ 76 w 176"/>
              <a:gd name="T37" fmla="*/ 116 h 176"/>
              <a:gd name="T38" fmla="*/ 88 w 176"/>
              <a:gd name="T39" fmla="*/ 136 h 176"/>
              <a:gd name="T40" fmla="*/ 85 w 176"/>
              <a:gd name="T41" fmla="*/ 116 h 176"/>
              <a:gd name="T42" fmla="*/ 101 w 176"/>
              <a:gd name="T43" fmla="*/ 78 h 176"/>
              <a:gd name="T44" fmla="*/ 82 w 176"/>
              <a:gd name="T45" fmla="*/ 55 h 176"/>
              <a:gd name="T46" fmla="*/ 98 w 176"/>
              <a:gd name="T47" fmla="*/ 16 h 176"/>
              <a:gd name="T48" fmla="*/ 124 w 176"/>
              <a:gd name="T49" fmla="*/ 8 h 176"/>
              <a:gd name="T50" fmla="*/ 168 w 176"/>
              <a:gd name="T51" fmla="*/ 52 h 176"/>
              <a:gd name="T52" fmla="*/ 168 w 176"/>
              <a:gd name="T53" fmla="*/ 57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6" h="176">
                <a:moveTo>
                  <a:pt x="176" y="52"/>
                </a:moveTo>
                <a:cubicBezTo>
                  <a:pt x="176" y="23"/>
                  <a:pt x="153" y="0"/>
                  <a:pt x="124" y="0"/>
                </a:cubicBezTo>
                <a:cubicBezTo>
                  <a:pt x="110" y="0"/>
                  <a:pt x="97" y="6"/>
                  <a:pt x="88" y="15"/>
                </a:cubicBezTo>
                <a:cubicBezTo>
                  <a:pt x="79" y="6"/>
                  <a:pt x="66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55"/>
                  <a:pt x="1" y="59"/>
                  <a:pt x="0" y="58"/>
                </a:cubicBezTo>
                <a:cubicBezTo>
                  <a:pt x="6" y="109"/>
                  <a:pt x="80" y="176"/>
                  <a:pt x="88" y="176"/>
                </a:cubicBezTo>
                <a:cubicBezTo>
                  <a:pt x="96" y="176"/>
                  <a:pt x="170" y="109"/>
                  <a:pt x="176" y="58"/>
                </a:cubicBezTo>
                <a:cubicBezTo>
                  <a:pt x="175" y="59"/>
                  <a:pt x="176" y="55"/>
                  <a:pt x="176" y="52"/>
                </a:cubicBezTo>
                <a:moveTo>
                  <a:pt x="168" y="57"/>
                </a:moveTo>
                <a:cubicBezTo>
                  <a:pt x="163" y="100"/>
                  <a:pt x="103" y="158"/>
                  <a:pt x="88" y="167"/>
                </a:cubicBezTo>
                <a:cubicBezTo>
                  <a:pt x="73" y="158"/>
                  <a:pt x="13" y="100"/>
                  <a:pt x="8" y="57"/>
                </a:cubicBezTo>
                <a:cubicBezTo>
                  <a:pt x="8" y="57"/>
                  <a:pt x="8" y="55"/>
                  <a:pt x="8" y="52"/>
                </a:cubicBezTo>
                <a:cubicBezTo>
                  <a:pt x="8" y="28"/>
                  <a:pt x="28" y="8"/>
                  <a:pt x="52" y="8"/>
                </a:cubicBezTo>
                <a:cubicBezTo>
                  <a:pt x="63" y="8"/>
                  <a:pt x="74" y="12"/>
                  <a:pt x="82" y="20"/>
                </a:cubicBezTo>
                <a:cubicBezTo>
                  <a:pt x="86" y="24"/>
                  <a:pt x="86" y="24"/>
                  <a:pt x="86" y="24"/>
                </a:cubicBezTo>
                <a:cubicBezTo>
                  <a:pt x="72" y="56"/>
                  <a:pt x="72" y="56"/>
                  <a:pt x="72" y="56"/>
                </a:cubicBezTo>
                <a:cubicBezTo>
                  <a:pt x="92" y="80"/>
                  <a:pt x="92" y="80"/>
                  <a:pt x="92" y="80"/>
                </a:cubicBezTo>
                <a:cubicBezTo>
                  <a:pt x="76" y="116"/>
                  <a:pt x="76" y="116"/>
                  <a:pt x="76" y="116"/>
                </a:cubicBezTo>
                <a:cubicBezTo>
                  <a:pt x="88" y="136"/>
                  <a:pt x="88" y="136"/>
                  <a:pt x="88" y="136"/>
                </a:cubicBezTo>
                <a:cubicBezTo>
                  <a:pt x="85" y="116"/>
                  <a:pt x="85" y="116"/>
                  <a:pt x="85" y="116"/>
                </a:cubicBezTo>
                <a:cubicBezTo>
                  <a:pt x="101" y="78"/>
                  <a:pt x="101" y="78"/>
                  <a:pt x="101" y="78"/>
                </a:cubicBezTo>
                <a:cubicBezTo>
                  <a:pt x="82" y="55"/>
                  <a:pt x="82" y="55"/>
                  <a:pt x="82" y="55"/>
                </a:cubicBezTo>
                <a:cubicBezTo>
                  <a:pt x="98" y="16"/>
                  <a:pt x="98" y="16"/>
                  <a:pt x="98" y="16"/>
                </a:cubicBezTo>
                <a:cubicBezTo>
                  <a:pt x="106" y="11"/>
                  <a:pt x="115" y="8"/>
                  <a:pt x="124" y="8"/>
                </a:cubicBezTo>
                <a:cubicBezTo>
                  <a:pt x="148" y="8"/>
                  <a:pt x="168" y="28"/>
                  <a:pt x="168" y="52"/>
                </a:cubicBezTo>
                <a:cubicBezTo>
                  <a:pt x="168" y="55"/>
                  <a:pt x="168" y="57"/>
                  <a:pt x="168" y="57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latin typeface="+mn-lt"/>
            </a:endParaRPr>
          </a:p>
        </p:txBody>
      </p:sp>
      <p:sp>
        <p:nvSpPr>
          <p:cNvPr id="13318" name="TextBox 53">
            <a:extLst>
              <a:ext uri="{FF2B5EF4-FFF2-40B4-BE49-F238E27FC236}">
                <a16:creationId xmlns:a16="http://schemas.microsoft.com/office/drawing/2014/main" id="{9FD3894D-8C93-FA9D-C4CB-A9B2E2D66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4738688"/>
            <a:ext cx="3582987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1900" dirty="0">
                <a:solidFill>
                  <a:schemeClr val="tx2"/>
                </a:solidFill>
              </a:rPr>
              <a:t>Su efecto depende del modelo</a:t>
            </a:r>
          </a:p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1900" dirty="0">
                <a:solidFill>
                  <a:schemeClr val="tx2"/>
                </a:solidFill>
              </a:rPr>
              <a:t>Ayuda a RF; perjudica a </a:t>
            </a:r>
            <a:r>
              <a:rPr lang="es-ES_tradnl" altLang="es-ES" sz="1900" dirty="0" err="1">
                <a:solidFill>
                  <a:schemeClr val="tx2"/>
                </a:solidFill>
              </a:rPr>
              <a:t>XGBoost</a:t>
            </a:r>
            <a:r>
              <a:rPr lang="es-ES_tradnl" altLang="es-ES" sz="1900" dirty="0">
                <a:solidFill>
                  <a:schemeClr val="tx2"/>
                </a:solidFill>
              </a:rPr>
              <a:t> y al árbol</a:t>
            </a:r>
          </a:p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1900" dirty="0">
                <a:solidFill>
                  <a:schemeClr val="tx2"/>
                </a:solidFill>
              </a:rPr>
              <a:t>Aplicarlo solo dentro de cada </a:t>
            </a:r>
            <a:r>
              <a:rPr lang="es-ES_tradnl" altLang="es-ES" sz="1900" dirty="0" err="1">
                <a:solidFill>
                  <a:schemeClr val="tx2"/>
                </a:solidFill>
              </a:rPr>
              <a:t>fold</a:t>
            </a:r>
            <a:endParaRPr lang="es-ES_tradnl" altLang="es-ES" sz="1900" dirty="0">
              <a:solidFill>
                <a:schemeClr val="tx2"/>
              </a:solidFill>
            </a:endParaRPr>
          </a:p>
        </p:txBody>
      </p:sp>
      <p:grpSp>
        <p:nvGrpSpPr>
          <p:cNvPr id="13319" name="Group 61">
            <a:extLst>
              <a:ext uri="{FF2B5EF4-FFF2-40B4-BE49-F238E27FC236}">
                <a16:creationId xmlns:a16="http://schemas.microsoft.com/office/drawing/2014/main" id="{C3156ACE-08A6-4BFF-3949-13B9A5156286}"/>
              </a:ext>
            </a:extLst>
          </p:cNvPr>
          <p:cNvGrpSpPr>
            <a:grpSpLocks/>
          </p:cNvGrpSpPr>
          <p:nvPr/>
        </p:nvGrpSpPr>
        <p:grpSpPr bwMode="auto">
          <a:xfrm>
            <a:off x="9290050" y="2933700"/>
            <a:ext cx="3695700" cy="4989513"/>
            <a:chOff x="9194237" y="3290036"/>
            <a:chExt cx="3694492" cy="498996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45AE57-778F-715E-50D0-4ADC80B9A4A0}"/>
                </a:ext>
              </a:extLst>
            </p:cNvPr>
            <p:cNvSpPr txBox="1"/>
            <p:nvPr/>
          </p:nvSpPr>
          <p:spPr>
            <a:xfrm>
              <a:off x="9194237" y="4060044"/>
              <a:ext cx="3694492" cy="64617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_tradnl" sz="2600" err="1">
                  <a:solidFill>
                    <a:schemeClr val="accent1"/>
                  </a:solidFill>
                  <a:latin typeface="+mj-lt"/>
                </a:rPr>
                <a:t>Interpretabilidad</a:t>
              </a:r>
            </a:p>
          </p:txBody>
        </p:sp>
        <p:sp>
          <p:nvSpPr>
            <p:cNvPr id="13325" name="Freeform 355">
              <a:extLst>
                <a:ext uri="{FF2B5EF4-FFF2-40B4-BE49-F238E27FC236}">
                  <a16:creationId xmlns:a16="http://schemas.microsoft.com/office/drawing/2014/main" id="{724FCC71-BF36-0C27-7181-39B49BE702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94237" y="3290036"/>
              <a:ext cx="614728" cy="628384"/>
            </a:xfrm>
            <a:custGeom>
              <a:avLst/>
              <a:gdLst>
                <a:gd name="T0" fmla="*/ 585573826 w 176"/>
                <a:gd name="T1" fmla="*/ 611878209 h 176"/>
                <a:gd name="T2" fmla="*/ 378183460 w 176"/>
                <a:gd name="T3" fmla="*/ 331433286 h 176"/>
                <a:gd name="T4" fmla="*/ 317185677 w 176"/>
                <a:gd name="T5" fmla="*/ 395171418 h 176"/>
                <a:gd name="T6" fmla="*/ 390383715 w 176"/>
                <a:gd name="T7" fmla="*/ 1121779692 h 176"/>
                <a:gd name="T8" fmla="*/ 48797528 w 176"/>
                <a:gd name="T9" fmla="*/ 1070791329 h 176"/>
                <a:gd name="T10" fmla="*/ 48797528 w 176"/>
                <a:gd name="T11" fmla="*/ 1172768055 h 176"/>
                <a:gd name="T12" fmla="*/ 390383715 w 176"/>
                <a:gd name="T13" fmla="*/ 1121779692 h 176"/>
                <a:gd name="T14" fmla="*/ 1122350124 w 176"/>
                <a:gd name="T15" fmla="*/ 356929253 h 176"/>
                <a:gd name="T16" fmla="*/ 1073552597 w 176"/>
                <a:gd name="T17" fmla="*/ 0 h 176"/>
                <a:gd name="T18" fmla="*/ 1024755069 w 176"/>
                <a:gd name="T19" fmla="*/ 356929253 h 176"/>
                <a:gd name="T20" fmla="*/ 1622529150 w 176"/>
                <a:gd name="T21" fmla="*/ 611878209 h 176"/>
                <a:gd name="T22" fmla="*/ 1829919516 w 176"/>
                <a:gd name="T23" fmla="*/ 331433286 h 176"/>
                <a:gd name="T24" fmla="*/ 1561531367 w 176"/>
                <a:gd name="T25" fmla="*/ 548143648 h 176"/>
                <a:gd name="T26" fmla="*/ 1622529150 w 176"/>
                <a:gd name="T27" fmla="*/ 611878209 h 176"/>
                <a:gd name="T28" fmla="*/ 317185677 w 176"/>
                <a:gd name="T29" fmla="*/ 1848387966 h 176"/>
                <a:gd name="T30" fmla="*/ 378183460 w 176"/>
                <a:gd name="T31" fmla="*/ 1912126097 h 176"/>
                <a:gd name="T32" fmla="*/ 585573826 w 176"/>
                <a:gd name="T33" fmla="*/ 1631681174 h 176"/>
                <a:gd name="T34" fmla="*/ 2098307665 w 176"/>
                <a:gd name="T35" fmla="*/ 1070791329 h 176"/>
                <a:gd name="T36" fmla="*/ 1756721478 w 176"/>
                <a:gd name="T37" fmla="*/ 1121779692 h 176"/>
                <a:gd name="T38" fmla="*/ 2098307665 w 176"/>
                <a:gd name="T39" fmla="*/ 1172768055 h 176"/>
                <a:gd name="T40" fmla="*/ 2098307665 w 176"/>
                <a:gd name="T41" fmla="*/ 1070791329 h 176"/>
                <a:gd name="T42" fmla="*/ 1561531367 w 176"/>
                <a:gd name="T43" fmla="*/ 1631681174 h 176"/>
                <a:gd name="T44" fmla="*/ 1768921733 w 176"/>
                <a:gd name="T45" fmla="*/ 1912126097 h 176"/>
                <a:gd name="T46" fmla="*/ 1829919516 w 176"/>
                <a:gd name="T47" fmla="*/ 1848387966 h 176"/>
                <a:gd name="T48" fmla="*/ 1073552597 w 176"/>
                <a:gd name="T49" fmla="*/ 509901483 h 176"/>
                <a:gd name="T50" fmla="*/ 1073552597 w 176"/>
                <a:gd name="T51" fmla="*/ 1733657901 h 176"/>
                <a:gd name="T52" fmla="*/ 1073552597 w 176"/>
                <a:gd name="T53" fmla="*/ 509901483 h 176"/>
                <a:gd name="T54" fmla="*/ 585573826 w 176"/>
                <a:gd name="T55" fmla="*/ 1121779692 h 176"/>
                <a:gd name="T56" fmla="*/ 1561531367 w 176"/>
                <a:gd name="T57" fmla="*/ 1121779692 h 176"/>
                <a:gd name="T58" fmla="*/ 1073552597 w 176"/>
                <a:gd name="T59" fmla="*/ 1835638197 h 176"/>
                <a:gd name="T60" fmla="*/ 1024755069 w 176"/>
                <a:gd name="T61" fmla="*/ 2147483646 h 176"/>
                <a:gd name="T62" fmla="*/ 1122350124 w 176"/>
                <a:gd name="T63" fmla="*/ 2147483646 h 176"/>
                <a:gd name="T64" fmla="*/ 1073552597 w 176"/>
                <a:gd name="T65" fmla="*/ 1835638197 h 1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76" h="176">
                  <a:moveTo>
                    <a:pt x="43" y="48"/>
                  </a:moveTo>
                  <a:cubicBezTo>
                    <a:pt x="44" y="50"/>
                    <a:pt x="47" y="50"/>
                    <a:pt x="48" y="48"/>
                  </a:cubicBezTo>
                  <a:cubicBezTo>
                    <a:pt x="50" y="47"/>
                    <a:pt x="50" y="44"/>
                    <a:pt x="48" y="43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0" y="24"/>
                    <a:pt x="27" y="24"/>
                    <a:pt x="26" y="26"/>
                  </a:cubicBezTo>
                  <a:cubicBezTo>
                    <a:pt x="24" y="27"/>
                    <a:pt x="24" y="30"/>
                    <a:pt x="26" y="31"/>
                  </a:cubicBezTo>
                  <a:lnTo>
                    <a:pt x="43" y="48"/>
                  </a:lnTo>
                  <a:close/>
                  <a:moveTo>
                    <a:pt x="32" y="88"/>
                  </a:moveTo>
                  <a:cubicBezTo>
                    <a:pt x="32" y="86"/>
                    <a:pt x="30" y="84"/>
                    <a:pt x="28" y="84"/>
                  </a:cubicBezTo>
                  <a:cubicBezTo>
                    <a:pt x="4" y="84"/>
                    <a:pt x="4" y="84"/>
                    <a:pt x="4" y="84"/>
                  </a:cubicBezTo>
                  <a:cubicBezTo>
                    <a:pt x="2" y="84"/>
                    <a:pt x="0" y="86"/>
                    <a:pt x="0" y="88"/>
                  </a:cubicBezTo>
                  <a:cubicBezTo>
                    <a:pt x="0" y="90"/>
                    <a:pt x="2" y="92"/>
                    <a:pt x="4" y="92"/>
                  </a:cubicBezTo>
                  <a:cubicBezTo>
                    <a:pt x="28" y="92"/>
                    <a:pt x="28" y="92"/>
                    <a:pt x="28" y="92"/>
                  </a:cubicBezTo>
                  <a:cubicBezTo>
                    <a:pt x="30" y="92"/>
                    <a:pt x="32" y="90"/>
                    <a:pt x="32" y="88"/>
                  </a:cubicBezTo>
                  <a:moveTo>
                    <a:pt x="88" y="32"/>
                  </a:moveTo>
                  <a:cubicBezTo>
                    <a:pt x="90" y="32"/>
                    <a:pt x="92" y="30"/>
                    <a:pt x="92" y="28"/>
                  </a:cubicBezTo>
                  <a:cubicBezTo>
                    <a:pt x="92" y="4"/>
                    <a:pt x="92" y="4"/>
                    <a:pt x="92" y="4"/>
                  </a:cubicBezTo>
                  <a:cubicBezTo>
                    <a:pt x="92" y="2"/>
                    <a:pt x="90" y="0"/>
                    <a:pt x="88" y="0"/>
                  </a:cubicBezTo>
                  <a:cubicBezTo>
                    <a:pt x="86" y="0"/>
                    <a:pt x="84" y="2"/>
                    <a:pt x="84" y="4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4" y="30"/>
                    <a:pt x="86" y="32"/>
                    <a:pt x="88" y="32"/>
                  </a:cubicBezTo>
                  <a:moveTo>
                    <a:pt x="133" y="48"/>
                  </a:moveTo>
                  <a:cubicBezTo>
                    <a:pt x="150" y="31"/>
                    <a:pt x="150" y="31"/>
                    <a:pt x="150" y="31"/>
                  </a:cubicBezTo>
                  <a:cubicBezTo>
                    <a:pt x="152" y="30"/>
                    <a:pt x="152" y="27"/>
                    <a:pt x="150" y="26"/>
                  </a:cubicBezTo>
                  <a:cubicBezTo>
                    <a:pt x="149" y="24"/>
                    <a:pt x="146" y="24"/>
                    <a:pt x="145" y="26"/>
                  </a:cubicBezTo>
                  <a:cubicBezTo>
                    <a:pt x="128" y="43"/>
                    <a:pt x="128" y="43"/>
                    <a:pt x="128" y="43"/>
                  </a:cubicBezTo>
                  <a:cubicBezTo>
                    <a:pt x="126" y="44"/>
                    <a:pt x="126" y="47"/>
                    <a:pt x="128" y="48"/>
                  </a:cubicBezTo>
                  <a:cubicBezTo>
                    <a:pt x="129" y="50"/>
                    <a:pt x="132" y="50"/>
                    <a:pt x="133" y="48"/>
                  </a:cubicBezTo>
                  <a:moveTo>
                    <a:pt x="43" y="128"/>
                  </a:moveTo>
                  <a:cubicBezTo>
                    <a:pt x="26" y="145"/>
                    <a:pt x="26" y="145"/>
                    <a:pt x="26" y="145"/>
                  </a:cubicBezTo>
                  <a:cubicBezTo>
                    <a:pt x="24" y="146"/>
                    <a:pt x="24" y="149"/>
                    <a:pt x="26" y="150"/>
                  </a:cubicBezTo>
                  <a:cubicBezTo>
                    <a:pt x="27" y="152"/>
                    <a:pt x="30" y="152"/>
                    <a:pt x="31" y="150"/>
                  </a:cubicBezTo>
                  <a:cubicBezTo>
                    <a:pt x="48" y="133"/>
                    <a:pt x="48" y="133"/>
                    <a:pt x="48" y="133"/>
                  </a:cubicBezTo>
                  <a:cubicBezTo>
                    <a:pt x="50" y="132"/>
                    <a:pt x="50" y="129"/>
                    <a:pt x="48" y="128"/>
                  </a:cubicBezTo>
                  <a:cubicBezTo>
                    <a:pt x="47" y="126"/>
                    <a:pt x="44" y="126"/>
                    <a:pt x="43" y="128"/>
                  </a:cubicBezTo>
                  <a:moveTo>
                    <a:pt x="172" y="84"/>
                  </a:moveTo>
                  <a:cubicBezTo>
                    <a:pt x="148" y="84"/>
                    <a:pt x="148" y="84"/>
                    <a:pt x="148" y="84"/>
                  </a:cubicBezTo>
                  <a:cubicBezTo>
                    <a:pt x="146" y="84"/>
                    <a:pt x="144" y="86"/>
                    <a:pt x="144" y="88"/>
                  </a:cubicBezTo>
                  <a:cubicBezTo>
                    <a:pt x="144" y="90"/>
                    <a:pt x="146" y="92"/>
                    <a:pt x="148" y="92"/>
                  </a:cubicBezTo>
                  <a:cubicBezTo>
                    <a:pt x="172" y="92"/>
                    <a:pt x="172" y="92"/>
                    <a:pt x="172" y="92"/>
                  </a:cubicBezTo>
                  <a:cubicBezTo>
                    <a:pt x="174" y="92"/>
                    <a:pt x="176" y="90"/>
                    <a:pt x="176" y="88"/>
                  </a:cubicBezTo>
                  <a:cubicBezTo>
                    <a:pt x="176" y="86"/>
                    <a:pt x="174" y="84"/>
                    <a:pt x="172" y="84"/>
                  </a:cubicBezTo>
                  <a:moveTo>
                    <a:pt x="133" y="128"/>
                  </a:moveTo>
                  <a:cubicBezTo>
                    <a:pt x="132" y="126"/>
                    <a:pt x="129" y="126"/>
                    <a:pt x="128" y="128"/>
                  </a:cubicBezTo>
                  <a:cubicBezTo>
                    <a:pt x="126" y="129"/>
                    <a:pt x="126" y="132"/>
                    <a:pt x="128" y="133"/>
                  </a:cubicBezTo>
                  <a:cubicBezTo>
                    <a:pt x="145" y="150"/>
                    <a:pt x="145" y="150"/>
                    <a:pt x="145" y="150"/>
                  </a:cubicBezTo>
                  <a:cubicBezTo>
                    <a:pt x="146" y="152"/>
                    <a:pt x="149" y="152"/>
                    <a:pt x="150" y="150"/>
                  </a:cubicBezTo>
                  <a:cubicBezTo>
                    <a:pt x="152" y="149"/>
                    <a:pt x="152" y="146"/>
                    <a:pt x="150" y="145"/>
                  </a:cubicBezTo>
                  <a:lnTo>
                    <a:pt x="133" y="128"/>
                  </a:lnTo>
                  <a:close/>
                  <a:moveTo>
                    <a:pt x="88" y="40"/>
                  </a:moveTo>
                  <a:cubicBezTo>
                    <a:pt x="61" y="40"/>
                    <a:pt x="40" y="61"/>
                    <a:pt x="40" y="88"/>
                  </a:cubicBezTo>
                  <a:cubicBezTo>
                    <a:pt x="40" y="115"/>
                    <a:pt x="61" y="136"/>
                    <a:pt x="88" y="136"/>
                  </a:cubicBezTo>
                  <a:cubicBezTo>
                    <a:pt x="115" y="136"/>
                    <a:pt x="136" y="115"/>
                    <a:pt x="136" y="88"/>
                  </a:cubicBezTo>
                  <a:cubicBezTo>
                    <a:pt x="136" y="61"/>
                    <a:pt x="115" y="40"/>
                    <a:pt x="88" y="40"/>
                  </a:cubicBezTo>
                  <a:moveTo>
                    <a:pt x="88" y="128"/>
                  </a:moveTo>
                  <a:cubicBezTo>
                    <a:pt x="66" y="128"/>
                    <a:pt x="48" y="110"/>
                    <a:pt x="48" y="88"/>
                  </a:cubicBezTo>
                  <a:cubicBezTo>
                    <a:pt x="48" y="66"/>
                    <a:pt x="66" y="48"/>
                    <a:pt x="88" y="48"/>
                  </a:cubicBezTo>
                  <a:cubicBezTo>
                    <a:pt x="110" y="48"/>
                    <a:pt x="128" y="66"/>
                    <a:pt x="128" y="88"/>
                  </a:cubicBezTo>
                  <a:cubicBezTo>
                    <a:pt x="128" y="110"/>
                    <a:pt x="110" y="128"/>
                    <a:pt x="88" y="128"/>
                  </a:cubicBezTo>
                  <a:moveTo>
                    <a:pt x="88" y="144"/>
                  </a:moveTo>
                  <a:cubicBezTo>
                    <a:pt x="86" y="144"/>
                    <a:pt x="84" y="146"/>
                    <a:pt x="84" y="148"/>
                  </a:cubicBezTo>
                  <a:cubicBezTo>
                    <a:pt x="84" y="172"/>
                    <a:pt x="84" y="172"/>
                    <a:pt x="84" y="172"/>
                  </a:cubicBezTo>
                  <a:cubicBezTo>
                    <a:pt x="84" y="174"/>
                    <a:pt x="86" y="176"/>
                    <a:pt x="88" y="176"/>
                  </a:cubicBezTo>
                  <a:cubicBezTo>
                    <a:pt x="90" y="176"/>
                    <a:pt x="92" y="174"/>
                    <a:pt x="92" y="172"/>
                  </a:cubicBezTo>
                  <a:cubicBezTo>
                    <a:pt x="92" y="148"/>
                    <a:pt x="92" y="148"/>
                    <a:pt x="92" y="148"/>
                  </a:cubicBezTo>
                  <a:cubicBezTo>
                    <a:pt x="92" y="146"/>
                    <a:pt x="90" y="144"/>
                    <a:pt x="88" y="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  <p:sp>
          <p:nvSpPr>
            <p:cNvPr id="13326" name="TextBox 54">
              <a:extLst>
                <a:ext uri="{FF2B5EF4-FFF2-40B4-BE49-F238E27FC236}">
                  <a16:creationId xmlns:a16="http://schemas.microsoft.com/office/drawing/2014/main" id="{ACBF8C90-7CEB-32A5-8212-004D9E2198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94237" y="5094513"/>
              <a:ext cx="3583726" cy="31854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1313" indent="-341313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2pPr>
              <a:lvl3pPr marL="11430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3pPr>
              <a:lvl4pPr marL="16002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4pPr>
              <a:lvl5pPr marL="2057400" indent="-228600"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5pPr>
              <a:lvl6pPr marL="25146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6pPr>
              <a:lvl7pPr marL="29718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7pPr>
              <a:lvl8pPr marL="34290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8pPr>
              <a:lvl9pPr marL="3886200" indent="-228600" defTabSz="1370013" eaLnBrk="0" fontAlgn="base" hangingPunct="0">
                <a:spcBef>
                  <a:spcPct val="0"/>
                </a:spcBef>
                <a:spcAft>
                  <a:spcPct val="0"/>
                </a:spcAft>
                <a:defRPr sz="27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9pPr>
            </a:lstStyle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1900">
                  <a:solidFill>
                    <a:schemeClr val="tx2"/>
                  </a:solidFill>
                </a:rPr>
                <a:t>SHAP identifica V14, V4, V12 y V10</a:t>
              </a:r>
            </a:p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1900">
                  <a:solidFill>
                    <a:schemeClr val="tx2"/>
                  </a:solidFill>
                </a:rPr>
                <a:t>Explicaciones globales y por transacción</a:t>
              </a:r>
            </a:p>
            <a:p>
              <a:pPr eaLnBrk="1" hangingPunct="1">
                <a:spcAft>
                  <a:spcPts val="1000"/>
                </a:spcAft>
                <a:buClr>
                  <a:schemeClr val="accent1"/>
                </a:buClr>
                <a:buFont typeface="Wingdings" panose="05000000000000000000" pitchFamily="2" charset="2"/>
                <a:buChar char="ü"/>
              </a:pPr>
              <a:r>
                <a:rPr lang="es-ES_tradnl" altLang="es-ES" sz="1900">
                  <a:solidFill>
                    <a:schemeClr val="tx2"/>
                  </a:solidFill>
                </a:rPr>
                <a:t>Base para auditoría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C41E2B4-4C72-BAC1-F672-DB10CB32325E}"/>
              </a:ext>
            </a:extLst>
          </p:cNvPr>
          <p:cNvSpPr txBox="1"/>
          <p:nvPr/>
        </p:nvSpPr>
        <p:spPr>
          <a:xfrm>
            <a:off x="13277850" y="3706813"/>
            <a:ext cx="3640138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600" err="1">
                <a:solidFill>
                  <a:srgbClr val="00566C"/>
                </a:solidFill>
                <a:latin typeface="+mj-lt"/>
              </a:rPr>
              <a:t>Generalización</a:t>
            </a:r>
          </a:p>
        </p:txBody>
      </p:sp>
      <p:sp>
        <p:nvSpPr>
          <p:cNvPr id="46" name="Freeform 371">
            <a:extLst>
              <a:ext uri="{FF2B5EF4-FFF2-40B4-BE49-F238E27FC236}">
                <a16:creationId xmlns:a16="http://schemas.microsoft.com/office/drawing/2014/main" id="{1A4DF130-CEC9-966D-66C3-5A8D5C8711AB}"/>
              </a:ext>
            </a:extLst>
          </p:cNvPr>
          <p:cNvSpPr>
            <a:spLocks noEditPoints="1"/>
          </p:cNvSpPr>
          <p:nvPr/>
        </p:nvSpPr>
        <p:spPr bwMode="auto">
          <a:xfrm>
            <a:off x="13277850" y="2933700"/>
            <a:ext cx="628650" cy="628650"/>
          </a:xfrm>
          <a:custGeom>
            <a:avLst/>
            <a:gdLst>
              <a:gd name="T0" fmla="*/ 96 w 176"/>
              <a:gd name="T1" fmla="*/ 124 h 176"/>
              <a:gd name="T2" fmla="*/ 92 w 176"/>
              <a:gd name="T3" fmla="*/ 120 h 176"/>
              <a:gd name="T4" fmla="*/ 89 w 176"/>
              <a:gd name="T5" fmla="*/ 121 h 176"/>
              <a:gd name="T6" fmla="*/ 65 w 176"/>
              <a:gd name="T7" fmla="*/ 145 h 176"/>
              <a:gd name="T8" fmla="*/ 64 w 176"/>
              <a:gd name="T9" fmla="*/ 148 h 176"/>
              <a:gd name="T10" fmla="*/ 68 w 176"/>
              <a:gd name="T11" fmla="*/ 152 h 176"/>
              <a:gd name="T12" fmla="*/ 82 w 176"/>
              <a:gd name="T13" fmla="*/ 152 h 176"/>
              <a:gd name="T14" fmla="*/ 65 w 176"/>
              <a:gd name="T15" fmla="*/ 169 h 176"/>
              <a:gd name="T16" fmla="*/ 64 w 176"/>
              <a:gd name="T17" fmla="*/ 172 h 176"/>
              <a:gd name="T18" fmla="*/ 68 w 176"/>
              <a:gd name="T19" fmla="*/ 176 h 176"/>
              <a:gd name="T20" fmla="*/ 71 w 176"/>
              <a:gd name="T21" fmla="*/ 175 h 176"/>
              <a:gd name="T22" fmla="*/ 95 w 176"/>
              <a:gd name="T23" fmla="*/ 151 h 176"/>
              <a:gd name="T24" fmla="*/ 96 w 176"/>
              <a:gd name="T25" fmla="*/ 148 h 176"/>
              <a:gd name="T26" fmla="*/ 92 w 176"/>
              <a:gd name="T27" fmla="*/ 144 h 176"/>
              <a:gd name="T28" fmla="*/ 92 w 176"/>
              <a:gd name="T29" fmla="*/ 144 h 176"/>
              <a:gd name="T30" fmla="*/ 78 w 176"/>
              <a:gd name="T31" fmla="*/ 144 h 176"/>
              <a:gd name="T32" fmla="*/ 95 w 176"/>
              <a:gd name="T33" fmla="*/ 127 h 176"/>
              <a:gd name="T34" fmla="*/ 96 w 176"/>
              <a:gd name="T35" fmla="*/ 124 h 176"/>
              <a:gd name="T36" fmla="*/ 52 w 176"/>
              <a:gd name="T37" fmla="*/ 128 h 176"/>
              <a:gd name="T38" fmla="*/ 49 w 176"/>
              <a:gd name="T39" fmla="*/ 129 h 176"/>
              <a:gd name="T40" fmla="*/ 25 w 176"/>
              <a:gd name="T41" fmla="*/ 153 h 176"/>
              <a:gd name="T42" fmla="*/ 24 w 176"/>
              <a:gd name="T43" fmla="*/ 156 h 176"/>
              <a:gd name="T44" fmla="*/ 28 w 176"/>
              <a:gd name="T45" fmla="*/ 160 h 176"/>
              <a:gd name="T46" fmla="*/ 31 w 176"/>
              <a:gd name="T47" fmla="*/ 159 h 176"/>
              <a:gd name="T48" fmla="*/ 55 w 176"/>
              <a:gd name="T49" fmla="*/ 135 h 176"/>
              <a:gd name="T50" fmla="*/ 56 w 176"/>
              <a:gd name="T51" fmla="*/ 132 h 176"/>
              <a:gd name="T52" fmla="*/ 52 w 176"/>
              <a:gd name="T53" fmla="*/ 128 h 176"/>
              <a:gd name="T54" fmla="*/ 152 w 176"/>
              <a:gd name="T55" fmla="*/ 41 h 176"/>
              <a:gd name="T56" fmla="*/ 152 w 176"/>
              <a:gd name="T57" fmla="*/ 40 h 176"/>
              <a:gd name="T58" fmla="*/ 128 w 176"/>
              <a:gd name="T59" fmla="*/ 16 h 176"/>
              <a:gd name="T60" fmla="*/ 112 w 176"/>
              <a:gd name="T61" fmla="*/ 22 h 176"/>
              <a:gd name="T62" fmla="*/ 72 w 176"/>
              <a:gd name="T63" fmla="*/ 0 h 176"/>
              <a:gd name="T64" fmla="*/ 25 w 176"/>
              <a:gd name="T65" fmla="*/ 41 h 176"/>
              <a:gd name="T66" fmla="*/ 0 w 176"/>
              <a:gd name="T67" fmla="*/ 72 h 176"/>
              <a:gd name="T68" fmla="*/ 32 w 176"/>
              <a:gd name="T69" fmla="*/ 104 h 176"/>
              <a:gd name="T70" fmla="*/ 144 w 176"/>
              <a:gd name="T71" fmla="*/ 104 h 176"/>
              <a:gd name="T72" fmla="*/ 176 w 176"/>
              <a:gd name="T73" fmla="*/ 72 h 176"/>
              <a:gd name="T74" fmla="*/ 152 w 176"/>
              <a:gd name="T75" fmla="*/ 41 h 176"/>
              <a:gd name="T76" fmla="*/ 144 w 176"/>
              <a:gd name="T77" fmla="*/ 96 h 176"/>
              <a:gd name="T78" fmla="*/ 32 w 176"/>
              <a:gd name="T79" fmla="*/ 96 h 176"/>
              <a:gd name="T80" fmla="*/ 8 w 176"/>
              <a:gd name="T81" fmla="*/ 72 h 176"/>
              <a:gd name="T82" fmla="*/ 26 w 176"/>
              <a:gd name="T83" fmla="*/ 49 h 176"/>
              <a:gd name="T84" fmla="*/ 32 w 176"/>
              <a:gd name="T85" fmla="*/ 42 h 176"/>
              <a:gd name="T86" fmla="*/ 72 w 176"/>
              <a:gd name="T87" fmla="*/ 8 h 176"/>
              <a:gd name="T88" fmla="*/ 102 w 176"/>
              <a:gd name="T89" fmla="*/ 22 h 176"/>
              <a:gd name="T90" fmla="*/ 111 w 176"/>
              <a:gd name="T91" fmla="*/ 30 h 176"/>
              <a:gd name="T92" fmla="*/ 112 w 176"/>
              <a:gd name="T93" fmla="*/ 30 h 176"/>
              <a:gd name="T94" fmla="*/ 117 w 176"/>
              <a:gd name="T95" fmla="*/ 28 h 176"/>
              <a:gd name="T96" fmla="*/ 128 w 176"/>
              <a:gd name="T97" fmla="*/ 24 h 176"/>
              <a:gd name="T98" fmla="*/ 144 w 176"/>
              <a:gd name="T99" fmla="*/ 40 h 176"/>
              <a:gd name="T100" fmla="*/ 144 w 176"/>
              <a:gd name="T101" fmla="*/ 41 h 176"/>
              <a:gd name="T102" fmla="*/ 150 w 176"/>
              <a:gd name="T103" fmla="*/ 49 h 176"/>
              <a:gd name="T104" fmla="*/ 168 w 176"/>
              <a:gd name="T105" fmla="*/ 72 h 176"/>
              <a:gd name="T106" fmla="*/ 144 w 176"/>
              <a:gd name="T107" fmla="*/ 96 h 176"/>
              <a:gd name="T108" fmla="*/ 136 w 176"/>
              <a:gd name="T109" fmla="*/ 128 h 176"/>
              <a:gd name="T110" fmla="*/ 133 w 176"/>
              <a:gd name="T111" fmla="*/ 129 h 176"/>
              <a:gd name="T112" fmla="*/ 109 w 176"/>
              <a:gd name="T113" fmla="*/ 153 h 176"/>
              <a:gd name="T114" fmla="*/ 108 w 176"/>
              <a:gd name="T115" fmla="*/ 156 h 176"/>
              <a:gd name="T116" fmla="*/ 112 w 176"/>
              <a:gd name="T117" fmla="*/ 160 h 176"/>
              <a:gd name="T118" fmla="*/ 115 w 176"/>
              <a:gd name="T119" fmla="*/ 159 h 176"/>
              <a:gd name="T120" fmla="*/ 139 w 176"/>
              <a:gd name="T121" fmla="*/ 135 h 176"/>
              <a:gd name="T122" fmla="*/ 140 w 176"/>
              <a:gd name="T123" fmla="*/ 132 h 176"/>
              <a:gd name="T124" fmla="*/ 136 w 176"/>
              <a:gd name="T125" fmla="*/ 12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76" h="176">
                <a:moveTo>
                  <a:pt x="96" y="124"/>
                </a:moveTo>
                <a:cubicBezTo>
                  <a:pt x="96" y="122"/>
                  <a:pt x="94" y="120"/>
                  <a:pt x="92" y="120"/>
                </a:cubicBezTo>
                <a:cubicBezTo>
                  <a:pt x="91" y="120"/>
                  <a:pt x="90" y="120"/>
                  <a:pt x="89" y="121"/>
                </a:cubicBezTo>
                <a:cubicBezTo>
                  <a:pt x="65" y="145"/>
                  <a:pt x="65" y="145"/>
                  <a:pt x="65" y="145"/>
                </a:cubicBezTo>
                <a:cubicBezTo>
                  <a:pt x="64" y="146"/>
                  <a:pt x="64" y="147"/>
                  <a:pt x="64" y="148"/>
                </a:cubicBezTo>
                <a:cubicBezTo>
                  <a:pt x="64" y="150"/>
                  <a:pt x="66" y="152"/>
                  <a:pt x="68" y="152"/>
                </a:cubicBezTo>
                <a:cubicBezTo>
                  <a:pt x="82" y="152"/>
                  <a:pt x="82" y="152"/>
                  <a:pt x="82" y="152"/>
                </a:cubicBezTo>
                <a:cubicBezTo>
                  <a:pt x="65" y="169"/>
                  <a:pt x="65" y="169"/>
                  <a:pt x="65" y="169"/>
                </a:cubicBezTo>
                <a:cubicBezTo>
                  <a:pt x="64" y="170"/>
                  <a:pt x="64" y="171"/>
                  <a:pt x="64" y="172"/>
                </a:cubicBezTo>
                <a:cubicBezTo>
                  <a:pt x="64" y="174"/>
                  <a:pt x="66" y="176"/>
                  <a:pt x="68" y="176"/>
                </a:cubicBezTo>
                <a:cubicBezTo>
                  <a:pt x="69" y="176"/>
                  <a:pt x="70" y="176"/>
                  <a:pt x="71" y="175"/>
                </a:cubicBezTo>
                <a:cubicBezTo>
                  <a:pt x="95" y="151"/>
                  <a:pt x="95" y="151"/>
                  <a:pt x="95" y="151"/>
                </a:cubicBezTo>
                <a:cubicBezTo>
                  <a:pt x="96" y="150"/>
                  <a:pt x="96" y="149"/>
                  <a:pt x="96" y="148"/>
                </a:cubicBezTo>
                <a:cubicBezTo>
                  <a:pt x="96" y="146"/>
                  <a:pt x="94" y="144"/>
                  <a:pt x="92" y="144"/>
                </a:cubicBezTo>
                <a:cubicBezTo>
                  <a:pt x="92" y="144"/>
                  <a:pt x="92" y="144"/>
                  <a:pt x="92" y="144"/>
                </a:cubicBezTo>
                <a:cubicBezTo>
                  <a:pt x="78" y="144"/>
                  <a:pt x="78" y="144"/>
                  <a:pt x="78" y="144"/>
                </a:cubicBezTo>
                <a:cubicBezTo>
                  <a:pt x="95" y="127"/>
                  <a:pt x="95" y="127"/>
                  <a:pt x="95" y="127"/>
                </a:cubicBezTo>
                <a:cubicBezTo>
                  <a:pt x="96" y="126"/>
                  <a:pt x="96" y="125"/>
                  <a:pt x="96" y="124"/>
                </a:cubicBezTo>
                <a:moveTo>
                  <a:pt x="52" y="128"/>
                </a:moveTo>
                <a:cubicBezTo>
                  <a:pt x="51" y="128"/>
                  <a:pt x="50" y="128"/>
                  <a:pt x="49" y="129"/>
                </a:cubicBezTo>
                <a:cubicBezTo>
                  <a:pt x="25" y="153"/>
                  <a:pt x="25" y="153"/>
                  <a:pt x="25" y="153"/>
                </a:cubicBezTo>
                <a:cubicBezTo>
                  <a:pt x="24" y="154"/>
                  <a:pt x="24" y="155"/>
                  <a:pt x="24" y="156"/>
                </a:cubicBezTo>
                <a:cubicBezTo>
                  <a:pt x="24" y="158"/>
                  <a:pt x="26" y="160"/>
                  <a:pt x="28" y="160"/>
                </a:cubicBezTo>
                <a:cubicBezTo>
                  <a:pt x="29" y="160"/>
                  <a:pt x="30" y="160"/>
                  <a:pt x="31" y="159"/>
                </a:cubicBezTo>
                <a:cubicBezTo>
                  <a:pt x="55" y="135"/>
                  <a:pt x="55" y="135"/>
                  <a:pt x="55" y="135"/>
                </a:cubicBezTo>
                <a:cubicBezTo>
                  <a:pt x="56" y="134"/>
                  <a:pt x="56" y="133"/>
                  <a:pt x="56" y="132"/>
                </a:cubicBezTo>
                <a:cubicBezTo>
                  <a:pt x="56" y="130"/>
                  <a:pt x="54" y="128"/>
                  <a:pt x="52" y="128"/>
                </a:cubicBezTo>
                <a:moveTo>
                  <a:pt x="152" y="41"/>
                </a:moveTo>
                <a:cubicBezTo>
                  <a:pt x="152" y="41"/>
                  <a:pt x="152" y="40"/>
                  <a:pt x="152" y="40"/>
                </a:cubicBezTo>
                <a:cubicBezTo>
                  <a:pt x="152" y="27"/>
                  <a:pt x="141" y="16"/>
                  <a:pt x="128" y="16"/>
                </a:cubicBezTo>
                <a:cubicBezTo>
                  <a:pt x="122" y="16"/>
                  <a:pt x="116" y="18"/>
                  <a:pt x="112" y="22"/>
                </a:cubicBezTo>
                <a:cubicBezTo>
                  <a:pt x="104" y="9"/>
                  <a:pt x="89" y="0"/>
                  <a:pt x="72" y="0"/>
                </a:cubicBezTo>
                <a:cubicBezTo>
                  <a:pt x="48" y="0"/>
                  <a:pt x="28" y="18"/>
                  <a:pt x="25" y="41"/>
                </a:cubicBezTo>
                <a:cubicBezTo>
                  <a:pt x="10" y="44"/>
                  <a:pt x="0" y="57"/>
                  <a:pt x="0" y="72"/>
                </a:cubicBezTo>
                <a:cubicBezTo>
                  <a:pt x="0" y="90"/>
                  <a:pt x="14" y="104"/>
                  <a:pt x="32" y="104"/>
                </a:cubicBezTo>
                <a:cubicBezTo>
                  <a:pt x="144" y="104"/>
                  <a:pt x="144" y="104"/>
                  <a:pt x="144" y="104"/>
                </a:cubicBezTo>
                <a:cubicBezTo>
                  <a:pt x="162" y="104"/>
                  <a:pt x="176" y="90"/>
                  <a:pt x="176" y="72"/>
                </a:cubicBezTo>
                <a:cubicBezTo>
                  <a:pt x="176" y="57"/>
                  <a:pt x="166" y="45"/>
                  <a:pt x="152" y="41"/>
                </a:cubicBezTo>
                <a:moveTo>
                  <a:pt x="144" y="96"/>
                </a:moveTo>
                <a:cubicBezTo>
                  <a:pt x="32" y="96"/>
                  <a:pt x="32" y="96"/>
                  <a:pt x="32" y="96"/>
                </a:cubicBezTo>
                <a:cubicBezTo>
                  <a:pt x="19" y="96"/>
                  <a:pt x="8" y="85"/>
                  <a:pt x="8" y="72"/>
                </a:cubicBezTo>
                <a:cubicBezTo>
                  <a:pt x="8" y="61"/>
                  <a:pt x="16" y="51"/>
                  <a:pt x="26" y="49"/>
                </a:cubicBezTo>
                <a:cubicBezTo>
                  <a:pt x="30" y="48"/>
                  <a:pt x="32" y="45"/>
                  <a:pt x="32" y="42"/>
                </a:cubicBezTo>
                <a:cubicBezTo>
                  <a:pt x="35" y="23"/>
                  <a:pt x="52" y="8"/>
                  <a:pt x="72" y="8"/>
                </a:cubicBezTo>
                <a:cubicBezTo>
                  <a:pt x="86" y="8"/>
                  <a:pt x="94" y="11"/>
                  <a:pt x="102" y="22"/>
                </a:cubicBezTo>
                <a:cubicBezTo>
                  <a:pt x="103" y="24"/>
                  <a:pt x="109" y="30"/>
                  <a:pt x="111" y="30"/>
                </a:cubicBezTo>
                <a:cubicBezTo>
                  <a:pt x="111" y="30"/>
                  <a:pt x="112" y="30"/>
                  <a:pt x="112" y="30"/>
                </a:cubicBezTo>
                <a:cubicBezTo>
                  <a:pt x="114" y="30"/>
                  <a:pt x="116" y="29"/>
                  <a:pt x="117" y="28"/>
                </a:cubicBezTo>
                <a:cubicBezTo>
                  <a:pt x="120" y="25"/>
                  <a:pt x="124" y="24"/>
                  <a:pt x="128" y="24"/>
                </a:cubicBezTo>
                <a:cubicBezTo>
                  <a:pt x="137" y="24"/>
                  <a:pt x="144" y="31"/>
                  <a:pt x="144" y="40"/>
                </a:cubicBezTo>
                <a:cubicBezTo>
                  <a:pt x="144" y="41"/>
                  <a:pt x="144" y="41"/>
                  <a:pt x="144" y="41"/>
                </a:cubicBezTo>
                <a:cubicBezTo>
                  <a:pt x="144" y="44"/>
                  <a:pt x="146" y="48"/>
                  <a:pt x="150" y="49"/>
                </a:cubicBezTo>
                <a:cubicBezTo>
                  <a:pt x="161" y="52"/>
                  <a:pt x="168" y="61"/>
                  <a:pt x="168" y="72"/>
                </a:cubicBezTo>
                <a:cubicBezTo>
                  <a:pt x="168" y="85"/>
                  <a:pt x="157" y="96"/>
                  <a:pt x="144" y="96"/>
                </a:cubicBezTo>
                <a:moveTo>
                  <a:pt x="136" y="128"/>
                </a:moveTo>
                <a:cubicBezTo>
                  <a:pt x="135" y="128"/>
                  <a:pt x="134" y="128"/>
                  <a:pt x="133" y="129"/>
                </a:cubicBezTo>
                <a:cubicBezTo>
                  <a:pt x="109" y="153"/>
                  <a:pt x="109" y="153"/>
                  <a:pt x="109" y="153"/>
                </a:cubicBezTo>
                <a:cubicBezTo>
                  <a:pt x="108" y="154"/>
                  <a:pt x="108" y="155"/>
                  <a:pt x="108" y="156"/>
                </a:cubicBezTo>
                <a:cubicBezTo>
                  <a:pt x="108" y="158"/>
                  <a:pt x="110" y="160"/>
                  <a:pt x="112" y="160"/>
                </a:cubicBezTo>
                <a:cubicBezTo>
                  <a:pt x="113" y="160"/>
                  <a:pt x="114" y="160"/>
                  <a:pt x="115" y="159"/>
                </a:cubicBezTo>
                <a:cubicBezTo>
                  <a:pt x="139" y="135"/>
                  <a:pt x="139" y="135"/>
                  <a:pt x="139" y="135"/>
                </a:cubicBezTo>
                <a:cubicBezTo>
                  <a:pt x="140" y="134"/>
                  <a:pt x="140" y="133"/>
                  <a:pt x="140" y="132"/>
                </a:cubicBezTo>
                <a:cubicBezTo>
                  <a:pt x="140" y="130"/>
                  <a:pt x="138" y="128"/>
                  <a:pt x="136" y="128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pPr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latin typeface="+mn-lt"/>
            </a:endParaRPr>
          </a:p>
        </p:txBody>
      </p:sp>
      <p:sp>
        <p:nvSpPr>
          <p:cNvPr id="13322" name="TextBox 55">
            <a:extLst>
              <a:ext uri="{FF2B5EF4-FFF2-40B4-BE49-F238E27FC236}">
                <a16:creationId xmlns:a16="http://schemas.microsoft.com/office/drawing/2014/main" id="{09D37F1A-7954-E610-ADEE-CA39FF10A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7850" y="4721225"/>
            <a:ext cx="3584575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1313" indent="-341313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1900">
                <a:solidFill>
                  <a:schemeClr val="tx2"/>
                </a:solidFill>
              </a:rPr>
              <a:t>El ranking no es universal</a:t>
            </a:r>
          </a:p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1900">
                <a:solidFill>
                  <a:schemeClr val="tx2"/>
                </a:solidFill>
              </a:rPr>
              <a:t>Validar siempre con datos propios</a:t>
            </a:r>
          </a:p>
          <a:p>
            <a:pPr eaLnBrk="1" hangingPunct="1">
              <a:spcAft>
                <a:spcPts val="1000"/>
              </a:spcAft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s-ES_tradnl" altLang="es-ES" sz="1900">
                <a:solidFill>
                  <a:schemeClr val="tx2"/>
                </a:solidFill>
              </a:rPr>
              <a:t>AUC-PR &gt; AUC-ROC con desbalance</a:t>
            </a:r>
          </a:p>
        </p:txBody>
      </p:sp>
      <p:sp>
        <p:nvSpPr>
          <p:cNvPr id="13323" name="Slide Number Placeholder 2">
            <a:extLst>
              <a:ext uri="{FF2B5EF4-FFF2-40B4-BE49-F238E27FC236}">
                <a16:creationId xmlns:a16="http://schemas.microsoft.com/office/drawing/2014/main" id="{AD9160EA-A06C-C203-8732-C5C03A023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fld id="{3EC6AF7F-45D3-438C-9023-7245B52F502F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17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F874-3A7A-36AF-D850-E8FF6CFC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 dirty="0">
                <a:solidFill>
                  <a:schemeClr val="accent1"/>
                </a:solidFill>
              </a:rPr>
              <a:t>04 Conclusiones</a:t>
            </a:r>
            <a:br>
              <a:rPr lang="es-ES_tradnl" dirty="0"/>
            </a:br>
            <a:r>
              <a:rPr lang="es-ES_tradnl" dirty="0">
                <a:solidFill>
                  <a:srgbClr val="00566C"/>
                </a:solidFill>
              </a:rPr>
              <a:t>Aporte a la sociedad</a:t>
            </a: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07D3DA6B-98AD-FE61-3DA2-672D34367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fld id="{EB48EA59-A2D3-4BAB-8B35-26AD123258B3}" type="slidenum"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18</a:t>
            </a:fld>
            <a:endParaRPr lang="es-ES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  <p:sp>
        <p:nvSpPr>
          <p:cNvPr id="12294" name="TextBox 12293"/>
          <p:cNvSpPr txBox="1"/>
          <p:nvPr/>
        </p:nvSpPr>
        <p:spPr>
          <a:xfrm>
            <a:off x="914400" y="2148840"/>
            <a:ext cx="164592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800" b="0">
                <a:solidFill>
                  <a:srgbClr val="219BC3"/>
                </a:solidFill>
                <a:latin typeface="Franklin Gothic Medium"/>
              </a:rPr>
              <a:t>Un protocolo replicable para elegir, justificar y auditar modelos antifraude con datos propios.</a:t>
            </a:r>
          </a:p>
        </p:txBody>
      </p:sp>
      <p:sp>
        <p:nvSpPr>
          <p:cNvPr id="12295" name="TextBox 12294"/>
          <p:cNvSpPr txBox="1"/>
          <p:nvPr/>
        </p:nvSpPr>
        <p:spPr>
          <a:xfrm>
            <a:off x="914400" y="3657600"/>
            <a:ext cx="51206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400" b="0">
                <a:solidFill>
                  <a:srgbClr val="00566C"/>
                </a:solidFill>
                <a:latin typeface="Franklin Gothic Medium"/>
              </a:rPr>
              <a:t>Sociedad</a:t>
            </a:r>
          </a:p>
        </p:txBody>
      </p:sp>
      <p:sp>
        <p:nvSpPr>
          <p:cNvPr id="12296" name="TextBox 12295"/>
          <p:cNvSpPr txBox="1"/>
          <p:nvPr/>
        </p:nvSpPr>
        <p:spPr>
          <a:xfrm>
            <a:off x="914400" y="4343400"/>
            <a:ext cx="5120640" cy="4480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sz="1900" b="0">
                <a:solidFill>
                  <a:srgbClr val="3C3C48"/>
                </a:solidFill>
                <a:latin typeface="Franklin Gothic Book"/>
              </a:rPr>
              <a:t>Menos fraude: protege el dinero y la confianza de los usuarios en los pagos digitales</a:t>
            </a:r>
          </a:p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sz="1900" b="0">
                <a:solidFill>
                  <a:srgbClr val="3C3C48"/>
                </a:solidFill>
                <a:latin typeface="Franklin Gothic Book"/>
              </a:rPr>
              <a:t>Menos bloqueos injustos: se prioriza reducir falsas alarmas</a:t>
            </a:r>
          </a:p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sz="1900" b="0">
                <a:solidFill>
                  <a:srgbClr val="3C3C48"/>
                </a:solidFill>
                <a:latin typeface="Franklin Gothic Book"/>
              </a:rPr>
              <a:t>Decisiones explicables al cliente afectado</a:t>
            </a:r>
          </a:p>
        </p:txBody>
      </p:sp>
      <p:sp>
        <p:nvSpPr>
          <p:cNvPr id="12297" name="TextBox 12296"/>
          <p:cNvSpPr txBox="1"/>
          <p:nvPr/>
        </p:nvSpPr>
        <p:spPr>
          <a:xfrm>
            <a:off x="6492240" y="3657600"/>
            <a:ext cx="51206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400" b="0">
                <a:solidFill>
                  <a:srgbClr val="00566C"/>
                </a:solidFill>
                <a:latin typeface="Franklin Gothic Medium"/>
              </a:rPr>
              <a:t>Banca</a:t>
            </a:r>
          </a:p>
        </p:txBody>
      </p:sp>
      <p:sp>
        <p:nvSpPr>
          <p:cNvPr id="12298" name="TextBox 12297"/>
          <p:cNvSpPr txBox="1"/>
          <p:nvPr/>
        </p:nvSpPr>
        <p:spPr>
          <a:xfrm>
            <a:off x="6492240" y="4343400"/>
            <a:ext cx="5120640" cy="21687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Criterio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claro: AUC-PR, falsas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alarmas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y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coste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por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modelo</a:t>
            </a:r>
            <a:endParaRPr sz="1900" b="0" dirty="0">
              <a:solidFill>
                <a:srgbClr val="3C3C48"/>
              </a:solidFill>
              <a:latin typeface="Franklin Gothic Book"/>
            </a:endParaRPr>
          </a:p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XGBoost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permite</a:t>
            </a:r>
            <a:r>
              <a:rPr lang="en-US" sz="1900" b="0" dirty="0">
                <a:solidFill>
                  <a:srgbClr val="3C3C48"/>
                </a:solidFill>
                <a:latin typeface="Franklin Gothic Book"/>
              </a:rPr>
              <a:t> el </a:t>
            </a:r>
            <a:r>
              <a:rPr lang="en-US" sz="1900" b="0" dirty="0" err="1">
                <a:solidFill>
                  <a:srgbClr val="3C3C48"/>
                </a:solidFill>
                <a:latin typeface="Franklin Gothic Book"/>
              </a:rPr>
              <a:t>reetrenamiento</a:t>
            </a:r>
            <a:r>
              <a:rPr lang="en-US" sz="1900" b="0" dirty="0">
                <a:solidFill>
                  <a:srgbClr val="3C3C48"/>
                </a:solidFill>
                <a:latin typeface="Franklin Gothic Book"/>
              </a:rPr>
              <a:t> 30x mas </a:t>
            </a:r>
            <a:r>
              <a:rPr lang="en-US" sz="1900" b="0" dirty="0" err="1">
                <a:solidFill>
                  <a:srgbClr val="3C3C48"/>
                </a:solidFill>
                <a:latin typeface="Franklin Gothic Book"/>
              </a:rPr>
              <a:t>barato</a:t>
            </a:r>
            <a:r>
              <a:rPr lang="en-US" sz="19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lang="en-US" sz="1900" b="0" dirty="0" err="1">
                <a:solidFill>
                  <a:srgbClr val="3C3C48"/>
                </a:solidFill>
                <a:latin typeface="Franklin Gothic Book"/>
              </a:rPr>
              <a:t>que</a:t>
            </a:r>
            <a:r>
              <a:rPr lang="en-US" sz="1900" b="0" dirty="0">
                <a:solidFill>
                  <a:srgbClr val="3C3C48"/>
                </a:solidFill>
                <a:latin typeface="Franklin Gothic Book"/>
              </a:rPr>
              <a:t> RF</a:t>
            </a:r>
            <a:endParaRPr sz="1900" b="0" dirty="0">
              <a:solidFill>
                <a:srgbClr val="3C3C48"/>
              </a:solidFill>
              <a:latin typeface="Franklin Gothic Book"/>
            </a:endParaRPr>
          </a:p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sz="1900" b="0" dirty="0">
                <a:solidFill>
                  <a:srgbClr val="3C3C48"/>
                </a:solidFill>
                <a:latin typeface="Franklin Gothic Book"/>
              </a:rPr>
              <a:t>Pipeline sin data leakage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reutilizable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por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equipos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de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datos</a:t>
            </a:r>
            <a:endParaRPr sz="1900" b="0" dirty="0">
              <a:solidFill>
                <a:srgbClr val="3C3C48"/>
              </a:solidFill>
              <a:latin typeface="Franklin Gothic Book"/>
            </a:endParaRPr>
          </a:p>
        </p:txBody>
      </p:sp>
      <p:sp>
        <p:nvSpPr>
          <p:cNvPr id="12299" name="TextBox 12298"/>
          <p:cNvSpPr txBox="1"/>
          <p:nvPr/>
        </p:nvSpPr>
        <p:spPr>
          <a:xfrm>
            <a:off x="12070080" y="3657600"/>
            <a:ext cx="51206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400" b="0">
                <a:solidFill>
                  <a:srgbClr val="00566C"/>
                </a:solidFill>
                <a:latin typeface="Franklin Gothic Medium"/>
              </a:rPr>
              <a:t>Ecuador</a:t>
            </a:r>
          </a:p>
        </p:txBody>
      </p:sp>
      <p:sp>
        <p:nvSpPr>
          <p:cNvPr id="12300" name="TextBox 12299"/>
          <p:cNvSpPr txBox="1"/>
          <p:nvPr/>
        </p:nvSpPr>
        <p:spPr>
          <a:xfrm>
            <a:off x="12070080" y="4343400"/>
            <a:ext cx="5120640" cy="169687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lang="en-US" sz="1900" b="0" dirty="0" err="1">
                <a:solidFill>
                  <a:srgbClr val="3C3C48"/>
                </a:solidFill>
                <a:latin typeface="Franklin Gothic Book"/>
              </a:rPr>
              <a:t>Orientados</a:t>
            </a:r>
            <a:r>
              <a:rPr lang="en-US" sz="1900" b="0" dirty="0">
                <a:solidFill>
                  <a:srgbClr val="3C3C48"/>
                </a:solidFill>
                <a:latin typeface="Franklin Gothic Book"/>
              </a:rPr>
              <a:t> a </a:t>
            </a:r>
            <a:r>
              <a:rPr lang="en-US" sz="1900" dirty="0" err="1">
                <a:solidFill>
                  <a:srgbClr val="3C3C48"/>
                </a:solidFill>
                <a:latin typeface="Franklin Gothic Book"/>
              </a:rPr>
              <a:t>los</a:t>
            </a:r>
            <a:r>
              <a:rPr lang="en-US" sz="1900" dirty="0">
                <a:solidFill>
                  <a:srgbClr val="3C3C48"/>
                </a:solidFill>
                <a:latin typeface="Franklin Gothic Book"/>
              </a:rPr>
              <a:t> requisites de </a:t>
            </a:r>
            <a:r>
              <a:rPr lang="en-US" sz="1900" dirty="0" err="1">
                <a:solidFill>
                  <a:srgbClr val="3C3C48"/>
                </a:solidFill>
                <a:latin typeface="Franklin Gothic Book"/>
              </a:rPr>
              <a:t>trazabilidad</a:t>
            </a:r>
            <a:r>
              <a:rPr lang="en-US" sz="1900" dirty="0">
                <a:solidFill>
                  <a:srgbClr val="3C3C48"/>
                </a:solidFill>
                <a:latin typeface="Franklin Gothic Book"/>
              </a:rPr>
              <a:t> de la </a:t>
            </a:r>
            <a:r>
              <a:rPr lang="en-US" sz="1900" dirty="0" err="1">
                <a:solidFill>
                  <a:srgbClr val="3C3C48"/>
                </a:solidFill>
                <a:latin typeface="Franklin Gothic Book"/>
              </a:rPr>
              <a:t>s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uperintendencia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de Bancos y la LOPDP (2021)</a:t>
            </a:r>
          </a:p>
          <a:p>
            <a:pPr marL="274320" indent="-274320" algn="l">
              <a:spcAft>
                <a:spcPts val="1400"/>
              </a:spcAft>
              <a:buClr>
                <a:srgbClr val="219BC3"/>
              </a:buClr>
              <a:buFont typeface="Arial"/>
              <a:buChar char="•"/>
            </a:pPr>
            <a:r>
              <a:rPr sz="1900" b="0" dirty="0">
                <a:solidFill>
                  <a:srgbClr val="3C3C48"/>
                </a:solidFill>
                <a:latin typeface="Franklin Gothic Book"/>
              </a:rPr>
              <a:t>Base para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validar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con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datos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reales de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una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</a:t>
            </a:r>
            <a:r>
              <a:rPr sz="1900" b="0" dirty="0" err="1">
                <a:solidFill>
                  <a:srgbClr val="3C3C48"/>
                </a:solidFill>
                <a:latin typeface="Franklin Gothic Book"/>
              </a:rPr>
              <a:t>entidad</a:t>
            </a:r>
            <a:r>
              <a:rPr sz="1900" b="0" dirty="0">
                <a:solidFill>
                  <a:srgbClr val="3C3C48"/>
                </a:solidFill>
                <a:latin typeface="Franklin Gothic Book"/>
              </a:rPr>
              <a:t> local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F874-3A7A-36AF-D850-E8FF6CFC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 dirty="0">
                <a:solidFill>
                  <a:schemeClr val="accent1"/>
                </a:solidFill>
              </a:rPr>
              <a:t>04 Conclusiones</a:t>
            </a:r>
            <a:br>
              <a:rPr lang="es-ES_tradnl" dirty="0"/>
            </a:br>
            <a:r>
              <a:rPr lang="es-ES_tradnl" dirty="0">
                <a:solidFill>
                  <a:srgbClr val="00566C"/>
                </a:solidFill>
              </a:rPr>
              <a:t>Limitaciones del estudio</a:t>
            </a:r>
          </a:p>
        </p:txBody>
      </p:sp>
      <p:sp>
        <p:nvSpPr>
          <p:cNvPr id="12293" name="Slide Number Placeholder 2">
            <a:extLst>
              <a:ext uri="{FF2B5EF4-FFF2-40B4-BE49-F238E27FC236}">
                <a16:creationId xmlns:a16="http://schemas.microsoft.com/office/drawing/2014/main" id="{07D3DA6B-98AD-FE61-3DA2-672D34367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fld id="{EB48EA59-A2D3-4BAB-8B35-26AD123258B3}" type="slidenum">
              <a:rPr lang="es-ES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19</a:t>
            </a:fld>
            <a:endParaRPr lang="es-ES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  <p:sp>
        <p:nvSpPr>
          <p:cNvPr id="12294" name="TextBox 12293"/>
          <p:cNvSpPr txBox="1"/>
          <p:nvPr/>
        </p:nvSpPr>
        <p:spPr>
          <a:xfrm>
            <a:off x="914400" y="2286000"/>
            <a:ext cx="7863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600" b="0">
                <a:solidFill>
                  <a:srgbClr val="219BC3"/>
                </a:solidFill>
                <a:latin typeface="Franklin Gothic Medium"/>
              </a:rPr>
              <a:t>01  Dataset de 2013 anonimizado</a:t>
            </a:r>
          </a:p>
        </p:txBody>
      </p:sp>
      <p:sp>
        <p:nvSpPr>
          <p:cNvPr id="12295" name="TextBox 12294"/>
          <p:cNvSpPr txBox="1"/>
          <p:nvPr/>
        </p:nvSpPr>
        <p:spPr>
          <a:xfrm>
            <a:off x="914400" y="3063240"/>
            <a:ext cx="786384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100" b="0">
                <a:solidFill>
                  <a:srgbClr val="3C3C48"/>
                </a:solidFill>
                <a:latin typeface="Franklin Gothic Book"/>
              </a:rPr>
              <a:t>ULB no refleja fraudes actuales (billeteras digitales, deepfakes) y sus variables PCA no tienen significado de negocio.</a:t>
            </a:r>
          </a:p>
        </p:txBody>
      </p:sp>
      <p:sp>
        <p:nvSpPr>
          <p:cNvPr id="12296" name="TextBox 12295"/>
          <p:cNvSpPr txBox="1"/>
          <p:nvPr/>
        </p:nvSpPr>
        <p:spPr>
          <a:xfrm>
            <a:off x="9326880" y="2286000"/>
            <a:ext cx="7863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600" b="0">
                <a:solidFill>
                  <a:srgbClr val="219BC3"/>
                </a:solidFill>
                <a:latin typeface="Franklin Gothic Medium"/>
              </a:rPr>
              <a:t>02  Preprocesamiento genérico en IEEE-CIS</a:t>
            </a:r>
          </a:p>
        </p:txBody>
      </p:sp>
      <p:sp>
        <p:nvSpPr>
          <p:cNvPr id="12297" name="TextBox 12296"/>
          <p:cNvSpPr txBox="1"/>
          <p:nvPr/>
        </p:nvSpPr>
        <p:spPr>
          <a:xfrm>
            <a:off x="9326880" y="3063240"/>
            <a:ext cx="786384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100" b="0">
                <a:solidFill>
                  <a:srgbClr val="3C3C48"/>
                </a:solidFill>
                <a:latin typeface="Franklin Gothic Book"/>
              </a:rPr>
              <a:t>Se replicó el esquema de ULB; un tratamiento específico podría mejorar el AUC-PR obtenido.</a:t>
            </a:r>
          </a:p>
        </p:txBody>
      </p:sp>
      <p:sp>
        <p:nvSpPr>
          <p:cNvPr id="12298" name="TextBox 12297"/>
          <p:cNvSpPr txBox="1"/>
          <p:nvPr/>
        </p:nvSpPr>
        <p:spPr>
          <a:xfrm>
            <a:off x="914400" y="5532120"/>
            <a:ext cx="7863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600" b="0">
                <a:solidFill>
                  <a:srgbClr val="219BC3"/>
                </a:solidFill>
                <a:latin typeface="Franklin Gothic Medium"/>
              </a:rPr>
              <a:t>03  SHAP sobre una muestra</a:t>
            </a:r>
          </a:p>
        </p:txBody>
      </p:sp>
      <p:sp>
        <p:nvSpPr>
          <p:cNvPr id="12299" name="TextBox 12298"/>
          <p:cNvSpPr txBox="1"/>
          <p:nvPr/>
        </p:nvSpPr>
        <p:spPr>
          <a:xfrm>
            <a:off x="914400" y="6309359"/>
            <a:ext cx="786384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100" b="0">
                <a:solidFill>
                  <a:srgbClr val="3C3C48"/>
                </a:solidFill>
                <a:latin typeface="Franklin Gothic Book"/>
              </a:rPr>
              <a:t>2.000 transacciones de test por coste computacional; una muestra mayor podría revelar más patrones locales.</a:t>
            </a:r>
          </a:p>
        </p:txBody>
      </p:sp>
      <p:sp>
        <p:nvSpPr>
          <p:cNvPr id="12300" name="TextBox 12299"/>
          <p:cNvSpPr txBox="1"/>
          <p:nvPr/>
        </p:nvSpPr>
        <p:spPr>
          <a:xfrm>
            <a:off x="9326880" y="5532120"/>
            <a:ext cx="7863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600" b="0">
                <a:solidFill>
                  <a:srgbClr val="219BC3"/>
                </a:solidFill>
                <a:latin typeface="Franklin Gothic Medium"/>
              </a:rPr>
              <a:t>04  Una partición y una semilla</a:t>
            </a:r>
          </a:p>
        </p:txBody>
      </p:sp>
      <p:sp>
        <p:nvSpPr>
          <p:cNvPr id="12301" name="TextBox 12300"/>
          <p:cNvSpPr txBox="1"/>
          <p:nvPr/>
        </p:nvSpPr>
        <p:spPr>
          <a:xfrm>
            <a:off x="9326880" y="6309359"/>
            <a:ext cx="786384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sz="2100" b="0">
                <a:solidFill>
                  <a:srgbClr val="3C3C48"/>
                </a:solidFill>
                <a:latin typeface="Franklin Gothic Book"/>
              </a:rPr>
              <a:t>Sin repeticiones con varias semillas ni un tercer dominio: la robustez general queda por confirmar.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7DB172-CECF-8AAC-CDA9-ECB67CD82136}"/>
              </a:ext>
            </a:extLst>
          </p:cNvPr>
          <p:cNvCxnSpPr>
            <a:endCxn id="18460" idx="7"/>
          </p:cNvCxnSpPr>
          <p:nvPr/>
        </p:nvCxnSpPr>
        <p:spPr>
          <a:xfrm flipH="1">
            <a:off x="1422400" y="5143500"/>
            <a:ext cx="15193963" cy="0"/>
          </a:xfrm>
          <a:prstGeom prst="line">
            <a:avLst/>
          </a:prstGeom>
          <a:ln w="25400">
            <a:solidFill>
              <a:schemeClr val="accent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5D7124B-ED40-7C55-399A-20770172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71500"/>
            <a:ext cx="16002000" cy="1322388"/>
          </a:xfrm>
        </p:spPr>
        <p:txBody>
          <a:bodyPr/>
          <a:lstStyle/>
          <a:p>
            <a:pPr defTabSz="1371408" eaLnBrk="1" fontAlgn="auto" hangingPunct="1">
              <a:spcAft>
                <a:spcPts val="0"/>
              </a:spcAft>
              <a:defRPr/>
            </a:pPr>
            <a:r>
              <a:rPr lang="es-ES_tradnl">
                <a:solidFill>
                  <a:schemeClr val="accent1"/>
                </a:solidFill>
              </a:rPr>
              <a:t>04 Conclusiones</a:t>
            </a:r>
            <a:br>
              <a:rPr lang="es-ES_tradnl"/>
            </a:br>
            <a:r>
              <a:rPr lang="es-ES_tradnl">
                <a:solidFill>
                  <a:srgbClr val="00566C"/>
                </a:solidFill>
              </a:rPr>
              <a:t>Líneas de trabajo futuro</a:t>
            </a:r>
            <a:endParaRPr lang="es-ES_tradnl">
              <a:solidFill>
                <a:schemeClr val="accent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2A3A84-53B2-7787-AA5E-F86BEDA58870}"/>
              </a:ext>
            </a:extLst>
          </p:cNvPr>
          <p:cNvSpPr/>
          <p:nvPr/>
        </p:nvSpPr>
        <p:spPr>
          <a:xfrm rot="10800000">
            <a:off x="337978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349A6A-B52E-A3D3-345C-ECB20835C975}"/>
              </a:ext>
            </a:extLst>
          </p:cNvPr>
          <p:cNvSpPr txBox="1"/>
          <p:nvPr/>
        </p:nvSpPr>
        <p:spPr>
          <a:xfrm>
            <a:off x="1698625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err="1">
                <a:solidFill>
                  <a:srgbClr val="219BC3"/>
                </a:solidFill>
                <a:latin typeface="+mj-lt"/>
              </a:rPr>
              <a:t>Datos recientes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3BCDDA-A673-122D-2D2B-5D9D46284AFB}"/>
              </a:ext>
            </a:extLst>
          </p:cNvPr>
          <p:cNvSpPr txBox="1"/>
          <p:nvPr/>
        </p:nvSpPr>
        <p:spPr>
          <a:xfrm>
            <a:off x="2530793" y="4002088"/>
            <a:ext cx="201168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Línea 1</a:t>
            </a:r>
          </a:p>
        </p:txBody>
      </p:sp>
      <p:sp>
        <p:nvSpPr>
          <p:cNvPr id="18439" name="TextBox 23">
            <a:extLst>
              <a:ext uri="{FF2B5EF4-FFF2-40B4-BE49-F238E27FC236}">
                <a16:creationId xmlns:a16="http://schemas.microsoft.com/office/drawing/2014/main" id="{CCD0C67F-DB12-9F97-5AF9-031AD4C98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673" y="6319838"/>
            <a:ext cx="278892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1700">
                <a:solidFill>
                  <a:schemeClr val="tx2"/>
                </a:solidFill>
              </a:rPr>
              <a:t>Aplicar el protocolo al Bank Account Fraud Dataset (2022)</a:t>
            </a:r>
          </a:p>
        </p:txBody>
      </p:sp>
      <p:grpSp>
        <p:nvGrpSpPr>
          <p:cNvPr id="18440" name="Agrupar 6">
            <a:extLst>
              <a:ext uri="{FF2B5EF4-FFF2-40B4-BE49-F238E27FC236}">
                <a16:creationId xmlns:a16="http://schemas.microsoft.com/office/drawing/2014/main" id="{0D5C12CC-8541-8D18-1EE5-220DBC6523E2}"/>
              </a:ext>
            </a:extLst>
          </p:cNvPr>
          <p:cNvGrpSpPr>
            <a:grpSpLocks/>
          </p:cNvGrpSpPr>
          <p:nvPr/>
        </p:nvGrpSpPr>
        <p:grpSpPr bwMode="auto">
          <a:xfrm>
            <a:off x="16175038" y="4427538"/>
            <a:ext cx="1431925" cy="1431925"/>
            <a:chOff x="15344997" y="3967844"/>
            <a:chExt cx="2351314" cy="235131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B325BB1-CEF8-3931-BAE5-60C12683B809}"/>
                </a:ext>
              </a:extLst>
            </p:cNvPr>
            <p:cNvSpPr/>
            <p:nvPr/>
          </p:nvSpPr>
          <p:spPr>
            <a:xfrm rot="10800000">
              <a:off x="15344997" y="3967844"/>
              <a:ext cx="2351314" cy="2351315"/>
            </a:xfrm>
            <a:prstGeom prst="ellipse">
              <a:avLst/>
            </a:prstGeom>
            <a:solidFill>
              <a:schemeClr val="accent1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>
                <a:solidFill>
                  <a:schemeClr val="tx1"/>
                </a:solidFill>
              </a:endParaRPr>
            </a:p>
          </p:txBody>
        </p:sp>
        <p:sp>
          <p:nvSpPr>
            <p:cNvPr id="18462" name="Freeform 427">
              <a:extLst>
                <a:ext uri="{FF2B5EF4-FFF2-40B4-BE49-F238E27FC236}">
                  <a16:creationId xmlns:a16="http://schemas.microsoft.com/office/drawing/2014/main" id="{190B8506-D54D-232C-B19F-EBD6DD07DE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97334" y="4472150"/>
              <a:ext cx="846498" cy="1342703"/>
            </a:xfrm>
            <a:custGeom>
              <a:avLst/>
              <a:gdLst>
                <a:gd name="T0" fmla="*/ 2147483646 w 112"/>
                <a:gd name="T1" fmla="*/ 0 h 176"/>
                <a:gd name="T2" fmla="*/ 228493996 w 112"/>
                <a:gd name="T3" fmla="*/ 0 h 176"/>
                <a:gd name="T4" fmla="*/ 0 w 112"/>
                <a:gd name="T5" fmla="*/ 232806391 h 176"/>
                <a:gd name="T6" fmla="*/ 0 w 112"/>
                <a:gd name="T7" fmla="*/ 2147483646 h 176"/>
                <a:gd name="T8" fmla="*/ 2147483646 w 112"/>
                <a:gd name="T9" fmla="*/ 2147483646 h 176"/>
                <a:gd name="T10" fmla="*/ 2147483646 w 112"/>
                <a:gd name="T11" fmla="*/ 2147483646 h 176"/>
                <a:gd name="T12" fmla="*/ 1142469979 w 112"/>
                <a:gd name="T13" fmla="*/ 2147483646 h 176"/>
                <a:gd name="T14" fmla="*/ 913975983 w 112"/>
                <a:gd name="T15" fmla="*/ 2147483646 h 176"/>
                <a:gd name="T16" fmla="*/ 1142469979 w 112"/>
                <a:gd name="T17" fmla="*/ 2147483646 h 176"/>
                <a:gd name="T18" fmla="*/ 2147483646 w 112"/>
                <a:gd name="T19" fmla="*/ 2147483646 h 176"/>
                <a:gd name="T20" fmla="*/ 2147483646 w 112"/>
                <a:gd name="T21" fmla="*/ 2147483646 h 176"/>
                <a:gd name="T22" fmla="*/ 2147483646 w 112"/>
                <a:gd name="T23" fmla="*/ 2147483646 h 176"/>
                <a:gd name="T24" fmla="*/ 2147483646 w 112"/>
                <a:gd name="T25" fmla="*/ 2147483646 h 176"/>
                <a:gd name="T26" fmla="*/ 2147483646 w 112"/>
                <a:gd name="T27" fmla="*/ 2147483646 h 176"/>
                <a:gd name="T28" fmla="*/ 2147483646 w 112"/>
                <a:gd name="T29" fmla="*/ 2147483646 h 176"/>
                <a:gd name="T30" fmla="*/ 2147483646 w 112"/>
                <a:gd name="T31" fmla="*/ 232806391 h 176"/>
                <a:gd name="T32" fmla="*/ 2147483646 w 112"/>
                <a:gd name="T33" fmla="*/ 0 h 176"/>
                <a:gd name="T34" fmla="*/ 2147483646 w 112"/>
                <a:gd name="T35" fmla="*/ 2147483646 h 176"/>
                <a:gd name="T36" fmla="*/ 2147483646 w 112"/>
                <a:gd name="T37" fmla="*/ 2147483646 h 176"/>
                <a:gd name="T38" fmla="*/ 456987992 w 112"/>
                <a:gd name="T39" fmla="*/ 2147483646 h 176"/>
                <a:gd name="T40" fmla="*/ 456987992 w 112"/>
                <a:gd name="T41" fmla="*/ 1746047930 h 176"/>
                <a:gd name="T42" fmla="*/ 1942206523 w 112"/>
                <a:gd name="T43" fmla="*/ 2095257516 h 176"/>
                <a:gd name="T44" fmla="*/ 2147483646 w 112"/>
                <a:gd name="T45" fmla="*/ 2147483646 h 176"/>
                <a:gd name="T46" fmla="*/ 2147483646 w 112"/>
                <a:gd name="T47" fmla="*/ 2147483646 h 176"/>
                <a:gd name="T48" fmla="*/ 2147483646 w 112"/>
                <a:gd name="T49" fmla="*/ 1978854320 h 176"/>
                <a:gd name="T50" fmla="*/ 2147483646 w 112"/>
                <a:gd name="T51" fmla="*/ 2147483646 h 176"/>
                <a:gd name="T52" fmla="*/ 2147483646 w 112"/>
                <a:gd name="T53" fmla="*/ 1338636746 h 176"/>
                <a:gd name="T54" fmla="*/ 2147483646 w 112"/>
                <a:gd name="T55" fmla="*/ 2147483646 h 176"/>
                <a:gd name="T56" fmla="*/ 2147483646 w 112"/>
                <a:gd name="T57" fmla="*/ 1687846332 h 176"/>
                <a:gd name="T58" fmla="*/ 456987992 w 112"/>
                <a:gd name="T59" fmla="*/ 1280435148 h 176"/>
                <a:gd name="T60" fmla="*/ 456987992 w 112"/>
                <a:gd name="T61" fmla="*/ 465612781 h 176"/>
                <a:gd name="T62" fmla="*/ 2147483646 w 112"/>
                <a:gd name="T63" fmla="*/ 465612781 h 176"/>
                <a:gd name="T64" fmla="*/ 2147483646 w 112"/>
                <a:gd name="T65" fmla="*/ 1338636746 h 17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176">
                  <a:moveTo>
                    <a:pt x="108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78"/>
                    <a:pt x="23" y="102"/>
                    <a:pt x="52" y="104"/>
                  </a:cubicBezTo>
                  <a:cubicBezTo>
                    <a:pt x="52" y="168"/>
                    <a:pt x="52" y="168"/>
                    <a:pt x="52" y="168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18" y="168"/>
                    <a:pt x="16" y="170"/>
                    <a:pt x="16" y="172"/>
                  </a:cubicBezTo>
                  <a:cubicBezTo>
                    <a:pt x="16" y="174"/>
                    <a:pt x="18" y="176"/>
                    <a:pt x="20" y="176"/>
                  </a:cubicBezTo>
                  <a:cubicBezTo>
                    <a:pt x="92" y="176"/>
                    <a:pt x="92" y="176"/>
                    <a:pt x="92" y="176"/>
                  </a:cubicBezTo>
                  <a:cubicBezTo>
                    <a:pt x="94" y="176"/>
                    <a:pt x="96" y="174"/>
                    <a:pt x="96" y="172"/>
                  </a:cubicBezTo>
                  <a:cubicBezTo>
                    <a:pt x="96" y="170"/>
                    <a:pt x="94" y="168"/>
                    <a:pt x="92" y="168"/>
                  </a:cubicBezTo>
                  <a:cubicBezTo>
                    <a:pt x="60" y="168"/>
                    <a:pt x="60" y="168"/>
                    <a:pt x="60" y="168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89" y="102"/>
                    <a:pt x="112" y="78"/>
                    <a:pt x="112" y="48"/>
                  </a:cubicBezTo>
                  <a:cubicBezTo>
                    <a:pt x="112" y="4"/>
                    <a:pt x="112" y="4"/>
                    <a:pt x="112" y="4"/>
                  </a:cubicBezTo>
                  <a:cubicBezTo>
                    <a:pt x="112" y="2"/>
                    <a:pt x="110" y="0"/>
                    <a:pt x="108" y="0"/>
                  </a:cubicBezTo>
                  <a:moveTo>
                    <a:pt x="104" y="48"/>
                  </a:moveTo>
                  <a:cubicBezTo>
                    <a:pt x="104" y="75"/>
                    <a:pt x="83" y="96"/>
                    <a:pt x="56" y="96"/>
                  </a:cubicBezTo>
                  <a:cubicBezTo>
                    <a:pt x="29" y="96"/>
                    <a:pt x="8" y="75"/>
                    <a:pt x="8" y="48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9" y="29"/>
                    <a:pt x="25" y="31"/>
                    <a:pt x="34" y="36"/>
                  </a:cubicBezTo>
                  <a:cubicBezTo>
                    <a:pt x="40" y="39"/>
                    <a:pt x="47" y="43"/>
                    <a:pt x="58" y="46"/>
                  </a:cubicBezTo>
                  <a:cubicBezTo>
                    <a:pt x="62" y="47"/>
                    <a:pt x="65" y="48"/>
                    <a:pt x="69" y="48"/>
                  </a:cubicBezTo>
                  <a:cubicBezTo>
                    <a:pt x="84" y="48"/>
                    <a:pt x="97" y="40"/>
                    <a:pt x="104" y="34"/>
                  </a:cubicBezTo>
                  <a:lnTo>
                    <a:pt x="104" y="48"/>
                  </a:lnTo>
                  <a:close/>
                  <a:moveTo>
                    <a:pt x="104" y="23"/>
                  </a:moveTo>
                  <a:cubicBezTo>
                    <a:pt x="103" y="24"/>
                    <a:pt x="81" y="45"/>
                    <a:pt x="60" y="38"/>
                  </a:cubicBezTo>
                  <a:cubicBezTo>
                    <a:pt x="50" y="35"/>
                    <a:pt x="44" y="32"/>
                    <a:pt x="38" y="29"/>
                  </a:cubicBezTo>
                  <a:cubicBezTo>
                    <a:pt x="28" y="24"/>
                    <a:pt x="21" y="20"/>
                    <a:pt x="8" y="2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04" y="8"/>
                    <a:pt x="104" y="8"/>
                    <a:pt x="104" y="8"/>
                  </a:cubicBezTo>
                  <a:lnTo>
                    <a:pt x="104" y="2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8" tIns="45713" rIns="91428" bIns="45713"/>
            <a:lstStyle/>
            <a:p>
              <a:endParaRPr lang="es-ES"/>
            </a:p>
          </p:txBody>
        </p:sp>
      </p:grpSp>
      <p:grpSp>
        <p:nvGrpSpPr>
          <p:cNvPr id="20" name="Group 5">
            <a:extLst>
              <a:ext uri="{FF2B5EF4-FFF2-40B4-BE49-F238E27FC236}">
                <a16:creationId xmlns:a16="http://schemas.microsoft.com/office/drawing/2014/main" id="{10E6340E-0AC0-F548-F7B8-32836BEEB50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427538"/>
            <a:ext cx="1433513" cy="1431925"/>
            <a:chOff x="2424793" y="4005943"/>
            <a:chExt cx="2351314" cy="2351314"/>
          </a:xfrm>
        </p:grpSpPr>
        <p:sp>
          <p:nvSpPr>
            <p:cNvPr id="21" name="Oval 3">
              <a:extLst>
                <a:ext uri="{FF2B5EF4-FFF2-40B4-BE49-F238E27FC236}">
                  <a16:creationId xmlns:a16="http://schemas.microsoft.com/office/drawing/2014/main" id="{9F182C16-2BD6-5D89-672D-FF68CF1EBB34}"/>
                </a:ext>
              </a:extLst>
            </p:cNvPr>
            <p:cNvSpPr/>
            <p:nvPr/>
          </p:nvSpPr>
          <p:spPr>
            <a:xfrm>
              <a:off x="2424793" y="4005943"/>
              <a:ext cx="2351314" cy="2351314"/>
            </a:xfrm>
            <a:prstGeom prst="ellipse">
              <a:avLst/>
            </a:prstGeom>
            <a:solidFill>
              <a:schemeClr val="accent1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37140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sz="2800">
                <a:solidFill>
                  <a:schemeClr val="tx1"/>
                </a:solidFill>
              </a:endParaRPr>
            </a:p>
          </p:txBody>
        </p:sp>
        <p:sp>
          <p:nvSpPr>
            <p:cNvPr id="18460" name="Freeform 450">
              <a:extLst>
                <a:ext uri="{FF2B5EF4-FFF2-40B4-BE49-F238E27FC236}">
                  <a16:creationId xmlns:a16="http://schemas.microsoft.com/office/drawing/2014/main" id="{A2BD45D0-1983-1271-D668-A58BAD1BEB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05150" y="4686300"/>
              <a:ext cx="990600" cy="990600"/>
            </a:xfrm>
            <a:custGeom>
              <a:avLst/>
              <a:gdLst>
                <a:gd name="T0" fmla="*/ 2147483646 w 176"/>
                <a:gd name="T1" fmla="*/ 2147483646 h 176"/>
                <a:gd name="T2" fmla="*/ 2147483646 w 176"/>
                <a:gd name="T3" fmla="*/ 2027454266 h 176"/>
                <a:gd name="T4" fmla="*/ 2147483646 w 176"/>
                <a:gd name="T5" fmla="*/ 2147483646 h 176"/>
                <a:gd name="T6" fmla="*/ 2147483646 w 176"/>
                <a:gd name="T7" fmla="*/ 1774023890 h 176"/>
                <a:gd name="T8" fmla="*/ 2147483646 w 176"/>
                <a:gd name="T9" fmla="*/ 1647305888 h 176"/>
                <a:gd name="T10" fmla="*/ 2147483646 w 176"/>
                <a:gd name="T11" fmla="*/ 1520593514 h 176"/>
                <a:gd name="T12" fmla="*/ 2147483646 w 176"/>
                <a:gd name="T13" fmla="*/ 1774023890 h 176"/>
                <a:gd name="T14" fmla="*/ 2147483646 w 176"/>
                <a:gd name="T15" fmla="*/ 2147483646 h 176"/>
                <a:gd name="T16" fmla="*/ 2147483646 w 176"/>
                <a:gd name="T17" fmla="*/ 2147483646 h 176"/>
                <a:gd name="T18" fmla="*/ 2147483646 w 176"/>
                <a:gd name="T19" fmla="*/ 2147483646 h 176"/>
                <a:gd name="T20" fmla="*/ 1267157509 w 176"/>
                <a:gd name="T21" fmla="*/ 2147483646 h 176"/>
                <a:gd name="T22" fmla="*/ 2147483646 w 176"/>
                <a:gd name="T23" fmla="*/ 2147483646 h 176"/>
                <a:gd name="T24" fmla="*/ 2147483646 w 176"/>
                <a:gd name="T25" fmla="*/ 1520593514 h 176"/>
                <a:gd name="T26" fmla="*/ 1013727133 w 176"/>
                <a:gd name="T27" fmla="*/ 1774023890 h 176"/>
                <a:gd name="T28" fmla="*/ 1267157509 w 176"/>
                <a:gd name="T29" fmla="*/ 2147483646 h 176"/>
                <a:gd name="T30" fmla="*/ 2147483646 w 176"/>
                <a:gd name="T31" fmla="*/ 1774023890 h 176"/>
                <a:gd name="T32" fmla="*/ 1267157509 w 176"/>
                <a:gd name="T33" fmla="*/ 2147483646 h 176"/>
                <a:gd name="T34" fmla="*/ 2147483646 w 176"/>
                <a:gd name="T35" fmla="*/ 2147483646 h 176"/>
                <a:gd name="T36" fmla="*/ 2147483646 w 176"/>
                <a:gd name="T37" fmla="*/ 2147483646 h 176"/>
                <a:gd name="T38" fmla="*/ 2147483646 w 176"/>
                <a:gd name="T39" fmla="*/ 2147483646 h 176"/>
                <a:gd name="T40" fmla="*/ 2147483646 w 176"/>
                <a:gd name="T41" fmla="*/ 2147483646 h 176"/>
                <a:gd name="T42" fmla="*/ 2147483646 w 176"/>
                <a:gd name="T43" fmla="*/ 253430376 h 176"/>
                <a:gd name="T44" fmla="*/ 2147483646 w 176"/>
                <a:gd name="T45" fmla="*/ 253430376 h 176"/>
                <a:gd name="T46" fmla="*/ 0 w 176"/>
                <a:gd name="T47" fmla="*/ 506866381 h 176"/>
                <a:gd name="T48" fmla="*/ 253430376 w 176"/>
                <a:gd name="T49" fmla="*/ 1013727133 h 176"/>
                <a:gd name="T50" fmla="*/ 506866381 w 176"/>
                <a:gd name="T51" fmla="*/ 2147483646 h 176"/>
                <a:gd name="T52" fmla="*/ 2147483646 w 176"/>
                <a:gd name="T53" fmla="*/ 2147483646 h 176"/>
                <a:gd name="T54" fmla="*/ 1900741892 w 176"/>
                <a:gd name="T55" fmla="*/ 2147483646 h 176"/>
                <a:gd name="T56" fmla="*/ 2122489953 w 176"/>
                <a:gd name="T57" fmla="*/ 2147483646 h 176"/>
                <a:gd name="T58" fmla="*/ 2147483646 w 176"/>
                <a:gd name="T59" fmla="*/ 2147483646 h 176"/>
                <a:gd name="T60" fmla="*/ 2147483646 w 176"/>
                <a:gd name="T61" fmla="*/ 2147483646 h 176"/>
                <a:gd name="T62" fmla="*/ 2147483646 w 176"/>
                <a:gd name="T63" fmla="*/ 2147483646 h 176"/>
                <a:gd name="T64" fmla="*/ 2147483646 w 176"/>
                <a:gd name="T65" fmla="*/ 2147483646 h 176"/>
                <a:gd name="T66" fmla="*/ 2147483646 w 176"/>
                <a:gd name="T67" fmla="*/ 1013727133 h 176"/>
                <a:gd name="T68" fmla="*/ 2147483646 w 176"/>
                <a:gd name="T69" fmla="*/ 506866381 h 176"/>
                <a:gd name="T70" fmla="*/ 2147483646 w 176"/>
                <a:gd name="T71" fmla="*/ 2147483646 h 176"/>
                <a:gd name="T72" fmla="*/ 506866381 w 176"/>
                <a:gd name="T73" fmla="*/ 1013727133 h 176"/>
                <a:gd name="T74" fmla="*/ 2147483646 w 176"/>
                <a:gd name="T75" fmla="*/ 2147483646 h 176"/>
                <a:gd name="T76" fmla="*/ 253430376 w 176"/>
                <a:gd name="T77" fmla="*/ 760296757 h 176"/>
                <a:gd name="T78" fmla="*/ 2147483646 w 176"/>
                <a:gd name="T79" fmla="*/ 506866381 h 17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76" h="176">
                  <a:moveTo>
                    <a:pt x="100" y="72"/>
                  </a:moveTo>
                  <a:cubicBezTo>
                    <a:pt x="140" y="72"/>
                    <a:pt x="140" y="72"/>
                    <a:pt x="140" y="72"/>
                  </a:cubicBezTo>
                  <a:cubicBezTo>
                    <a:pt x="142" y="72"/>
                    <a:pt x="144" y="70"/>
                    <a:pt x="144" y="68"/>
                  </a:cubicBezTo>
                  <a:cubicBezTo>
                    <a:pt x="144" y="66"/>
                    <a:pt x="142" y="64"/>
                    <a:pt x="140" y="64"/>
                  </a:cubicBezTo>
                  <a:cubicBezTo>
                    <a:pt x="100" y="64"/>
                    <a:pt x="100" y="64"/>
                    <a:pt x="100" y="64"/>
                  </a:cubicBezTo>
                  <a:cubicBezTo>
                    <a:pt x="98" y="64"/>
                    <a:pt x="96" y="66"/>
                    <a:pt x="96" y="68"/>
                  </a:cubicBezTo>
                  <a:cubicBezTo>
                    <a:pt x="96" y="70"/>
                    <a:pt x="98" y="72"/>
                    <a:pt x="100" y="72"/>
                  </a:cubicBezTo>
                  <a:moveTo>
                    <a:pt x="100" y="56"/>
                  </a:moveTo>
                  <a:cubicBezTo>
                    <a:pt x="124" y="56"/>
                    <a:pt x="124" y="56"/>
                    <a:pt x="124" y="56"/>
                  </a:cubicBezTo>
                  <a:cubicBezTo>
                    <a:pt x="126" y="56"/>
                    <a:pt x="128" y="54"/>
                    <a:pt x="128" y="52"/>
                  </a:cubicBezTo>
                  <a:cubicBezTo>
                    <a:pt x="128" y="50"/>
                    <a:pt x="126" y="48"/>
                    <a:pt x="124" y="48"/>
                  </a:cubicBezTo>
                  <a:cubicBezTo>
                    <a:pt x="100" y="48"/>
                    <a:pt x="100" y="48"/>
                    <a:pt x="100" y="48"/>
                  </a:cubicBezTo>
                  <a:cubicBezTo>
                    <a:pt x="98" y="48"/>
                    <a:pt x="96" y="50"/>
                    <a:pt x="96" y="52"/>
                  </a:cubicBezTo>
                  <a:cubicBezTo>
                    <a:pt x="96" y="54"/>
                    <a:pt x="98" y="56"/>
                    <a:pt x="100" y="56"/>
                  </a:cubicBezTo>
                  <a:moveTo>
                    <a:pt x="100" y="88"/>
                  </a:moveTo>
                  <a:cubicBezTo>
                    <a:pt x="116" y="88"/>
                    <a:pt x="116" y="88"/>
                    <a:pt x="116" y="88"/>
                  </a:cubicBezTo>
                  <a:cubicBezTo>
                    <a:pt x="118" y="88"/>
                    <a:pt x="120" y="86"/>
                    <a:pt x="120" y="84"/>
                  </a:cubicBezTo>
                  <a:cubicBezTo>
                    <a:pt x="120" y="82"/>
                    <a:pt x="118" y="80"/>
                    <a:pt x="116" y="80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98" y="80"/>
                    <a:pt x="96" y="82"/>
                    <a:pt x="96" y="84"/>
                  </a:cubicBezTo>
                  <a:cubicBezTo>
                    <a:pt x="96" y="86"/>
                    <a:pt x="98" y="88"/>
                    <a:pt x="100" y="88"/>
                  </a:cubicBezTo>
                  <a:moveTo>
                    <a:pt x="40" y="104"/>
                  </a:moveTo>
                  <a:cubicBezTo>
                    <a:pt x="72" y="104"/>
                    <a:pt x="72" y="104"/>
                    <a:pt x="72" y="104"/>
                  </a:cubicBezTo>
                  <a:cubicBezTo>
                    <a:pt x="76" y="104"/>
                    <a:pt x="80" y="100"/>
                    <a:pt x="80" y="96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52"/>
                    <a:pt x="76" y="48"/>
                    <a:pt x="72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36" y="48"/>
                    <a:pt x="32" y="52"/>
                    <a:pt x="32" y="56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2" y="100"/>
                    <a:pt x="36" y="104"/>
                    <a:pt x="40" y="104"/>
                  </a:cubicBezTo>
                  <a:moveTo>
                    <a:pt x="40" y="56"/>
                  </a:moveTo>
                  <a:cubicBezTo>
                    <a:pt x="72" y="56"/>
                    <a:pt x="72" y="56"/>
                    <a:pt x="72" y="56"/>
                  </a:cubicBezTo>
                  <a:cubicBezTo>
                    <a:pt x="72" y="96"/>
                    <a:pt x="72" y="96"/>
                    <a:pt x="72" y="96"/>
                  </a:cubicBezTo>
                  <a:cubicBezTo>
                    <a:pt x="40" y="96"/>
                    <a:pt x="40" y="96"/>
                    <a:pt x="40" y="96"/>
                  </a:cubicBezTo>
                  <a:lnTo>
                    <a:pt x="40" y="56"/>
                  </a:lnTo>
                  <a:close/>
                  <a:moveTo>
                    <a:pt x="100" y="104"/>
                  </a:moveTo>
                  <a:cubicBezTo>
                    <a:pt x="140" y="104"/>
                    <a:pt x="140" y="104"/>
                    <a:pt x="140" y="104"/>
                  </a:cubicBezTo>
                  <a:cubicBezTo>
                    <a:pt x="142" y="104"/>
                    <a:pt x="144" y="102"/>
                    <a:pt x="144" y="100"/>
                  </a:cubicBezTo>
                  <a:cubicBezTo>
                    <a:pt x="144" y="98"/>
                    <a:pt x="142" y="96"/>
                    <a:pt x="140" y="96"/>
                  </a:cubicBezTo>
                  <a:cubicBezTo>
                    <a:pt x="100" y="96"/>
                    <a:pt x="100" y="96"/>
                    <a:pt x="100" y="96"/>
                  </a:cubicBezTo>
                  <a:cubicBezTo>
                    <a:pt x="98" y="96"/>
                    <a:pt x="96" y="98"/>
                    <a:pt x="96" y="100"/>
                  </a:cubicBezTo>
                  <a:cubicBezTo>
                    <a:pt x="96" y="102"/>
                    <a:pt x="98" y="104"/>
                    <a:pt x="100" y="104"/>
                  </a:cubicBezTo>
                  <a:moveTo>
                    <a:pt x="168" y="8"/>
                  </a:moveTo>
                  <a:cubicBezTo>
                    <a:pt x="96" y="8"/>
                    <a:pt x="96" y="8"/>
                    <a:pt x="96" y="8"/>
                  </a:cubicBezTo>
                  <a:cubicBezTo>
                    <a:pt x="96" y="4"/>
                    <a:pt x="92" y="0"/>
                    <a:pt x="88" y="0"/>
                  </a:cubicBezTo>
                  <a:cubicBezTo>
                    <a:pt x="84" y="0"/>
                    <a:pt x="80" y="4"/>
                    <a:pt x="80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" y="8"/>
                    <a:pt x="0" y="12"/>
                    <a:pt x="0" y="1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4" y="32"/>
                    <a:pt x="8" y="32"/>
                  </a:cubicBezTo>
                  <a:cubicBezTo>
                    <a:pt x="8" y="128"/>
                    <a:pt x="8" y="128"/>
                    <a:pt x="8" y="128"/>
                  </a:cubicBezTo>
                  <a:cubicBezTo>
                    <a:pt x="8" y="132"/>
                    <a:pt x="12" y="136"/>
                    <a:pt x="16" y="136"/>
                  </a:cubicBezTo>
                  <a:cubicBezTo>
                    <a:pt x="84" y="136"/>
                    <a:pt x="84" y="136"/>
                    <a:pt x="84" y="136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61" y="169"/>
                    <a:pt x="61" y="169"/>
                    <a:pt x="61" y="169"/>
                  </a:cubicBezTo>
                  <a:cubicBezTo>
                    <a:pt x="60" y="170"/>
                    <a:pt x="60" y="171"/>
                    <a:pt x="60" y="172"/>
                  </a:cubicBezTo>
                  <a:cubicBezTo>
                    <a:pt x="60" y="174"/>
                    <a:pt x="62" y="176"/>
                    <a:pt x="64" y="176"/>
                  </a:cubicBezTo>
                  <a:cubicBezTo>
                    <a:pt x="65" y="176"/>
                    <a:pt x="66" y="176"/>
                    <a:pt x="67" y="175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109" y="175"/>
                    <a:pt x="109" y="175"/>
                    <a:pt x="109" y="175"/>
                  </a:cubicBezTo>
                  <a:cubicBezTo>
                    <a:pt x="110" y="176"/>
                    <a:pt x="111" y="176"/>
                    <a:pt x="112" y="176"/>
                  </a:cubicBezTo>
                  <a:cubicBezTo>
                    <a:pt x="114" y="176"/>
                    <a:pt x="116" y="174"/>
                    <a:pt x="116" y="172"/>
                  </a:cubicBezTo>
                  <a:cubicBezTo>
                    <a:pt x="116" y="171"/>
                    <a:pt x="116" y="170"/>
                    <a:pt x="115" y="169"/>
                  </a:cubicBezTo>
                  <a:cubicBezTo>
                    <a:pt x="92" y="146"/>
                    <a:pt x="92" y="146"/>
                    <a:pt x="92" y="146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160" y="136"/>
                    <a:pt x="160" y="136"/>
                    <a:pt x="160" y="136"/>
                  </a:cubicBezTo>
                  <a:cubicBezTo>
                    <a:pt x="164" y="136"/>
                    <a:pt x="168" y="132"/>
                    <a:pt x="168" y="128"/>
                  </a:cubicBezTo>
                  <a:cubicBezTo>
                    <a:pt x="168" y="32"/>
                    <a:pt x="168" y="32"/>
                    <a:pt x="168" y="32"/>
                  </a:cubicBezTo>
                  <a:cubicBezTo>
                    <a:pt x="172" y="32"/>
                    <a:pt x="176" y="28"/>
                    <a:pt x="176" y="24"/>
                  </a:cubicBezTo>
                  <a:cubicBezTo>
                    <a:pt x="176" y="16"/>
                    <a:pt x="176" y="16"/>
                    <a:pt x="176" y="16"/>
                  </a:cubicBezTo>
                  <a:cubicBezTo>
                    <a:pt x="176" y="12"/>
                    <a:pt x="172" y="8"/>
                    <a:pt x="168" y="8"/>
                  </a:cubicBezTo>
                  <a:moveTo>
                    <a:pt x="160" y="128"/>
                  </a:moveTo>
                  <a:cubicBezTo>
                    <a:pt x="16" y="128"/>
                    <a:pt x="16" y="128"/>
                    <a:pt x="16" y="128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0" y="32"/>
                    <a:pt x="160" y="32"/>
                    <a:pt x="160" y="32"/>
                  </a:cubicBezTo>
                  <a:lnTo>
                    <a:pt x="160" y="128"/>
                  </a:lnTo>
                  <a:close/>
                  <a:moveTo>
                    <a:pt x="168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168" y="16"/>
                    <a:pt x="168" y="16"/>
                    <a:pt x="168" y="16"/>
                  </a:cubicBezTo>
                  <a:lnTo>
                    <a:pt x="168" y="2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47" name="Oval 12">
            <a:extLst>
              <a:ext uri="{FF2B5EF4-FFF2-40B4-BE49-F238E27FC236}">
                <a16:creationId xmlns:a16="http://schemas.microsoft.com/office/drawing/2014/main" id="{E09458CD-86D3-A135-999C-B9892CD64DD3}"/>
              </a:ext>
            </a:extLst>
          </p:cNvPr>
          <p:cNvSpPr/>
          <p:nvPr/>
        </p:nvSpPr>
        <p:spPr>
          <a:xfrm rot="10800000">
            <a:off x="614838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48" name="TextBox 21">
            <a:extLst>
              <a:ext uri="{FF2B5EF4-FFF2-40B4-BE49-F238E27FC236}">
                <a16:creationId xmlns:a16="http://schemas.microsoft.com/office/drawing/2014/main" id="{D76AB95A-7FCC-5893-6EFA-699FAFB33DC5}"/>
              </a:ext>
            </a:extLst>
          </p:cNvPr>
          <p:cNvSpPr txBox="1"/>
          <p:nvPr/>
        </p:nvSpPr>
        <p:spPr>
          <a:xfrm>
            <a:off x="4467225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err="1">
                <a:solidFill>
                  <a:srgbClr val="219BC3"/>
                </a:solidFill>
                <a:latin typeface="+mj-lt"/>
              </a:rPr>
              <a:t>IEEE-CIS</a:t>
            </a: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2D476CE3-159C-4F37-3D97-07BE0ABFB23E}"/>
              </a:ext>
            </a:extLst>
          </p:cNvPr>
          <p:cNvSpPr txBox="1"/>
          <p:nvPr/>
        </p:nvSpPr>
        <p:spPr>
          <a:xfrm>
            <a:off x="5300980" y="4002088"/>
            <a:ext cx="201168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Línea 2</a:t>
            </a:r>
          </a:p>
        </p:txBody>
      </p:sp>
      <p:sp>
        <p:nvSpPr>
          <p:cNvPr id="18445" name="TextBox 23">
            <a:extLst>
              <a:ext uri="{FF2B5EF4-FFF2-40B4-BE49-F238E27FC236}">
                <a16:creationId xmlns:a16="http://schemas.microsoft.com/office/drawing/2014/main" id="{FD2D5A23-2A43-542B-A74E-9FC5AF55E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860" y="6319838"/>
            <a:ext cx="278892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1700">
                <a:solidFill>
                  <a:schemeClr val="tx2"/>
                </a:solidFill>
              </a:rPr>
              <a:t>Imputación, codificación y selección de variables específicas</a:t>
            </a:r>
          </a:p>
        </p:txBody>
      </p:sp>
      <p:sp>
        <p:nvSpPr>
          <p:cNvPr id="51" name="Oval 12">
            <a:extLst>
              <a:ext uri="{FF2B5EF4-FFF2-40B4-BE49-F238E27FC236}">
                <a16:creationId xmlns:a16="http://schemas.microsoft.com/office/drawing/2014/main" id="{13B4EB0F-E62F-B798-1B70-988BE8D222BF}"/>
              </a:ext>
            </a:extLst>
          </p:cNvPr>
          <p:cNvSpPr/>
          <p:nvPr/>
        </p:nvSpPr>
        <p:spPr>
          <a:xfrm rot="10800000">
            <a:off x="8953500" y="4964113"/>
            <a:ext cx="360363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52" name="TextBox 21">
            <a:extLst>
              <a:ext uri="{FF2B5EF4-FFF2-40B4-BE49-F238E27FC236}">
                <a16:creationId xmlns:a16="http://schemas.microsoft.com/office/drawing/2014/main" id="{127ECD8D-0EA1-106A-DA36-EC61F14C1755}"/>
              </a:ext>
            </a:extLst>
          </p:cNvPr>
          <p:cNvSpPr txBox="1"/>
          <p:nvPr/>
        </p:nvSpPr>
        <p:spPr>
          <a:xfrm>
            <a:off x="7272338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err="1">
                <a:solidFill>
                  <a:srgbClr val="219BC3"/>
                </a:solidFill>
                <a:latin typeface="+mj-lt"/>
              </a:rPr>
              <a:t>SHAP en FN</a:t>
            </a:r>
          </a:p>
        </p:txBody>
      </p:sp>
      <p:sp>
        <p:nvSpPr>
          <p:cNvPr id="53" name="TextBox 22">
            <a:extLst>
              <a:ext uri="{FF2B5EF4-FFF2-40B4-BE49-F238E27FC236}">
                <a16:creationId xmlns:a16="http://schemas.microsoft.com/office/drawing/2014/main" id="{9AAB39B7-6114-5645-3575-AC48C86AC398}"/>
              </a:ext>
            </a:extLst>
          </p:cNvPr>
          <p:cNvSpPr txBox="1"/>
          <p:nvPr/>
        </p:nvSpPr>
        <p:spPr>
          <a:xfrm>
            <a:off x="8106093" y="4002088"/>
            <a:ext cx="201168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Línea 3</a:t>
            </a:r>
          </a:p>
        </p:txBody>
      </p:sp>
      <p:sp>
        <p:nvSpPr>
          <p:cNvPr id="18449" name="TextBox 23">
            <a:extLst>
              <a:ext uri="{FF2B5EF4-FFF2-40B4-BE49-F238E27FC236}">
                <a16:creationId xmlns:a16="http://schemas.microsoft.com/office/drawing/2014/main" id="{0C60BE6C-CFD1-1747-E2FD-E446646B0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0973" y="6319838"/>
            <a:ext cx="278892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1700">
                <a:solidFill>
                  <a:schemeClr val="tx2"/>
                </a:solidFill>
              </a:rPr>
              <a:t>Analizar los fraudes no detectados para crear reglas complementarias</a:t>
            </a:r>
          </a:p>
        </p:txBody>
      </p:sp>
      <p:sp>
        <p:nvSpPr>
          <p:cNvPr id="55" name="Oval 12">
            <a:extLst>
              <a:ext uri="{FF2B5EF4-FFF2-40B4-BE49-F238E27FC236}">
                <a16:creationId xmlns:a16="http://schemas.microsoft.com/office/drawing/2014/main" id="{6B880D74-FA87-3351-7134-91AF0EB9EDC1}"/>
              </a:ext>
            </a:extLst>
          </p:cNvPr>
          <p:cNvSpPr/>
          <p:nvPr/>
        </p:nvSpPr>
        <p:spPr>
          <a:xfrm rot="10800000">
            <a:off x="11882438" y="4964113"/>
            <a:ext cx="358775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56" name="TextBox 21">
            <a:extLst>
              <a:ext uri="{FF2B5EF4-FFF2-40B4-BE49-F238E27FC236}">
                <a16:creationId xmlns:a16="http://schemas.microsoft.com/office/drawing/2014/main" id="{0C099793-693D-81CC-640B-DEF6DB466FAE}"/>
              </a:ext>
            </a:extLst>
          </p:cNvPr>
          <p:cNvSpPr txBox="1"/>
          <p:nvPr/>
        </p:nvSpPr>
        <p:spPr>
          <a:xfrm>
            <a:off x="10199688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err="1">
                <a:solidFill>
                  <a:srgbClr val="219BC3"/>
                </a:solidFill>
                <a:latin typeface="+mj-lt"/>
              </a:rPr>
              <a:t>Variables tiempo</a:t>
            </a:r>
          </a:p>
        </p:txBody>
      </p:sp>
      <p:sp>
        <p:nvSpPr>
          <p:cNvPr id="57" name="TextBox 22">
            <a:extLst>
              <a:ext uri="{FF2B5EF4-FFF2-40B4-BE49-F238E27FC236}">
                <a16:creationId xmlns:a16="http://schemas.microsoft.com/office/drawing/2014/main" id="{5CF1DE34-A912-1807-EE73-6539EA97A326}"/>
              </a:ext>
            </a:extLst>
          </p:cNvPr>
          <p:cNvSpPr txBox="1"/>
          <p:nvPr/>
        </p:nvSpPr>
        <p:spPr>
          <a:xfrm>
            <a:off x="11033443" y="4002088"/>
            <a:ext cx="201168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Línea 4</a:t>
            </a:r>
          </a:p>
        </p:txBody>
      </p:sp>
      <p:sp>
        <p:nvSpPr>
          <p:cNvPr id="18453" name="TextBox 23">
            <a:extLst>
              <a:ext uri="{FF2B5EF4-FFF2-40B4-BE49-F238E27FC236}">
                <a16:creationId xmlns:a16="http://schemas.microsoft.com/office/drawing/2014/main" id="{6E02662E-5C3A-8B3D-E23D-BE7778DFA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8323" y="6319838"/>
            <a:ext cx="278892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1700">
                <a:solidFill>
                  <a:schemeClr val="tx2"/>
                </a:solidFill>
              </a:rPr>
              <a:t>Frecuencia, desvío del importe y hábitos del titular</a:t>
            </a:r>
          </a:p>
        </p:txBody>
      </p:sp>
      <p:sp>
        <p:nvSpPr>
          <p:cNvPr id="59" name="Oval 12">
            <a:extLst>
              <a:ext uri="{FF2B5EF4-FFF2-40B4-BE49-F238E27FC236}">
                <a16:creationId xmlns:a16="http://schemas.microsoft.com/office/drawing/2014/main" id="{7ED5B202-DBA8-2210-EE2A-0D63540AB6E6}"/>
              </a:ext>
            </a:extLst>
          </p:cNvPr>
          <p:cNvSpPr/>
          <p:nvPr/>
        </p:nvSpPr>
        <p:spPr>
          <a:xfrm rot="10800000">
            <a:off x="14562138" y="4964113"/>
            <a:ext cx="360362" cy="358775"/>
          </a:xfrm>
          <a:prstGeom prst="ellipse">
            <a:avLst/>
          </a:prstGeom>
          <a:solidFill>
            <a:schemeClr val="accent5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>
              <a:solidFill>
                <a:schemeClr val="tx1"/>
              </a:solidFill>
            </a:endParaRPr>
          </a:p>
        </p:txBody>
      </p:sp>
      <p:sp>
        <p:nvSpPr>
          <p:cNvPr id="60" name="TextBox 21">
            <a:extLst>
              <a:ext uri="{FF2B5EF4-FFF2-40B4-BE49-F238E27FC236}">
                <a16:creationId xmlns:a16="http://schemas.microsoft.com/office/drawing/2014/main" id="{7A5631F2-70E7-9B3A-C6EE-A0F7A05E19BB}"/>
              </a:ext>
            </a:extLst>
          </p:cNvPr>
          <p:cNvSpPr txBox="1"/>
          <p:nvPr/>
        </p:nvSpPr>
        <p:spPr>
          <a:xfrm>
            <a:off x="12880975" y="5580063"/>
            <a:ext cx="3829050" cy="646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2400" err="1">
                <a:solidFill>
                  <a:srgbClr val="219BC3"/>
                </a:solidFill>
                <a:latin typeface="+mj-lt"/>
              </a:rPr>
              <a:t>Banca local</a:t>
            </a:r>
          </a:p>
        </p:txBody>
      </p:sp>
      <p:sp>
        <p:nvSpPr>
          <p:cNvPr id="61" name="TextBox 22">
            <a:extLst>
              <a:ext uri="{FF2B5EF4-FFF2-40B4-BE49-F238E27FC236}">
                <a16:creationId xmlns:a16="http://schemas.microsoft.com/office/drawing/2014/main" id="{80F8578E-4DE8-BADD-7877-18D10A23760D}"/>
              </a:ext>
            </a:extLst>
          </p:cNvPr>
          <p:cNvSpPr txBox="1"/>
          <p:nvPr/>
        </p:nvSpPr>
        <p:spPr>
          <a:xfrm>
            <a:off x="13714730" y="4002088"/>
            <a:ext cx="201168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3200">
                <a:solidFill>
                  <a:schemeClr val="accent2"/>
                </a:solidFill>
                <a:latin typeface="+mj-lt"/>
              </a:rPr>
              <a:t>Línea 5</a:t>
            </a:r>
          </a:p>
        </p:txBody>
      </p:sp>
      <p:sp>
        <p:nvSpPr>
          <p:cNvPr id="18457" name="TextBox 23">
            <a:extLst>
              <a:ext uri="{FF2B5EF4-FFF2-40B4-BE49-F238E27FC236}">
                <a16:creationId xmlns:a16="http://schemas.microsoft.com/office/drawing/2014/main" id="{21811AC3-0759-C3E9-858B-CF393BD36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9610" y="6319838"/>
            <a:ext cx="278892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s-ES_tradnl" altLang="es-ES" sz="1700">
                <a:solidFill>
                  <a:schemeClr val="tx2"/>
                </a:solidFill>
              </a:rPr>
              <a:t>Validar con datos reales de una entidad ecuatoriana</a:t>
            </a:r>
          </a:p>
        </p:txBody>
      </p:sp>
      <p:sp>
        <p:nvSpPr>
          <p:cNvPr id="18458" name="Slide Number Placeholder 2">
            <a:extLst>
              <a:ext uri="{FF2B5EF4-FFF2-40B4-BE49-F238E27FC236}">
                <a16:creationId xmlns:a16="http://schemas.microsoft.com/office/drawing/2014/main" id="{AA3A95BA-BC71-594E-0229-ECB16ADEB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400" y="9072563"/>
            <a:ext cx="1733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3" rIns="91428" bIns="45713">
            <a:spAutoFit/>
          </a:bodyPr>
          <a:lstStyle>
            <a:lvl1pPr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1370013" eaLnBrk="0" fontAlgn="base" hangingPunct="0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/>
            <a:r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t>pág.</a:t>
            </a:r>
          </a:p>
          <a:p>
            <a:pPr eaLnBrk="1" hangingPunct="1"/>
            <a:fld id="{B87A44B9-8C49-42F0-9E9B-7AD66CADFE0C}" type="slidenum">
              <a:rPr lang="es-ES_tradnl" altLang="es-ES" b="1">
                <a:solidFill>
                  <a:schemeClr val="accent2"/>
                </a:solidFill>
                <a:latin typeface="Franklin Gothic Medium" panose="020B0603020102090204" pitchFamily="34" charset="0"/>
              </a:rPr>
              <a:pPr eaLnBrk="1" hangingPunct="1"/>
              <a:t>20</a:t>
            </a:fld>
            <a:endParaRPr lang="es-ES_tradnl" altLang="es-ES" b="1">
              <a:solidFill>
                <a:schemeClr val="accent2"/>
              </a:solidFill>
              <a:latin typeface="Franklin Gothic Medium" panose="020B060302010209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25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25" accel="100000" fill="hold">
                                          <p:stCondLst>
                                            <p:cond delay="112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19D5D-74BE-66A6-5C8F-5977E50CF0F8}"/>
              </a:ext>
            </a:extLst>
          </p:cNvPr>
          <p:cNvSpPr txBox="1"/>
          <p:nvPr/>
        </p:nvSpPr>
        <p:spPr>
          <a:xfrm>
            <a:off x="5981700" y="4589463"/>
            <a:ext cx="6324600" cy="1108075"/>
          </a:xfrm>
          <a:prstGeom prst="rect">
            <a:avLst/>
          </a:prstGeom>
          <a:noFill/>
        </p:spPr>
        <p:txBody>
          <a:bodyPr lIns="91428" tIns="45713" rIns="91428" bIns="45713">
            <a:spAutoFit/>
          </a:bodyPr>
          <a:lstStyle/>
          <a:p>
            <a:pPr algn="ctr" defTabSz="137140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_tradnl" sz="6600" b="1">
                <a:solidFill>
                  <a:schemeClr val="accent1"/>
                </a:solidFill>
                <a:latin typeface="+mn-lt"/>
                <a:ea typeface="Lato Semibold" panose="020F0502020204030203" pitchFamily="34" charset="0"/>
                <a:cs typeface="Lato Semibold" panose="020F0502020204030203" pitchFamily="34" charset="0"/>
              </a:rPr>
              <a:t>muchas </a:t>
            </a:r>
            <a:r>
              <a:rPr lang="es-ES_tradnl" sz="6600" b="1">
                <a:solidFill>
                  <a:schemeClr val="accent5"/>
                </a:solidFill>
                <a:latin typeface="+mn-lt"/>
                <a:ea typeface="Lato Semibold" panose="020F0502020204030203" pitchFamily="34" charset="0"/>
                <a:cs typeface="Lato Semibold" panose="020F0502020204030203" pitchFamily="34" charset="0"/>
              </a:rPr>
              <a:t>gracias.</a:t>
            </a:r>
          </a:p>
        </p:txBody>
      </p:sp>
      <p:grpSp>
        <p:nvGrpSpPr>
          <p:cNvPr id="19459" name="Group 3">
            <a:extLst>
              <a:ext uri="{FF2B5EF4-FFF2-40B4-BE49-F238E27FC236}">
                <a16:creationId xmlns:a16="http://schemas.microsoft.com/office/drawing/2014/main" id="{F9E9BE56-378A-A153-3A7F-712992E35640}"/>
              </a:ext>
            </a:extLst>
          </p:cNvPr>
          <p:cNvGrpSpPr>
            <a:grpSpLocks/>
          </p:cNvGrpSpPr>
          <p:nvPr/>
        </p:nvGrpSpPr>
        <p:grpSpPr bwMode="auto">
          <a:xfrm>
            <a:off x="5510213" y="4457700"/>
            <a:ext cx="685800" cy="685800"/>
            <a:chOff x="6324600" y="4114799"/>
            <a:chExt cx="685800" cy="685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52DF468-8061-E5F0-36F1-C670E62F8B24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AA47A02-A474-22CD-0318-D1E5A23FDECF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60" name="Group 7">
            <a:extLst>
              <a:ext uri="{FF2B5EF4-FFF2-40B4-BE49-F238E27FC236}">
                <a16:creationId xmlns:a16="http://schemas.microsoft.com/office/drawing/2014/main" id="{06FC41CE-F358-BB4B-9AE8-0ADFA7B2749F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2011025" y="5143500"/>
            <a:ext cx="685800" cy="685800"/>
            <a:chOff x="6324600" y="4114799"/>
            <a:chExt cx="685800" cy="6858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76379C-332C-9CFE-80AF-619497BFC6A5}"/>
                </a:ext>
              </a:extLst>
            </p:cNvPr>
            <p:cNvCxnSpPr/>
            <p:nvPr/>
          </p:nvCxnSpPr>
          <p:spPr>
            <a:xfrm flipV="1">
              <a:off x="6324600" y="4114799"/>
              <a:ext cx="0" cy="68580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9BB3E7D-68AB-7A4E-54BD-C6898F8102DF}"/>
                </a:ext>
              </a:extLst>
            </p:cNvPr>
            <p:cNvCxnSpPr/>
            <p:nvPr/>
          </p:nvCxnSpPr>
          <p:spPr>
            <a:xfrm>
              <a:off x="6324600" y="4114799"/>
              <a:ext cx="685800" cy="0"/>
            </a:xfrm>
            <a:prstGeom prst="line">
              <a:avLst/>
            </a:prstGeom>
            <a:ln w="38100" cap="sq">
              <a:solidFill>
                <a:schemeClr val="accent1"/>
              </a:solidFill>
              <a:bevel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AM SLIDES">
  <a:themeElements>
    <a:clrScheme name="UNIR">
      <a:dk1>
        <a:srgbClr val="0C0B0B"/>
      </a:dk1>
      <a:lt1>
        <a:srgbClr val="FFFFFF"/>
      </a:lt1>
      <a:dk2>
        <a:srgbClr val="858591"/>
      </a:dk2>
      <a:lt2>
        <a:srgbClr val="F2F2F5"/>
      </a:lt2>
      <a:accent1>
        <a:srgbClr val="219BC3"/>
      </a:accent1>
      <a:accent2>
        <a:srgbClr val="C0C0C8"/>
      </a:accent2>
      <a:accent3>
        <a:srgbClr val="219BC3"/>
      </a:accent3>
      <a:accent4>
        <a:srgbClr val="FFFFFF"/>
      </a:accent4>
      <a:accent5>
        <a:srgbClr val="00566C"/>
      </a:accent5>
      <a:accent6>
        <a:srgbClr val="00566C"/>
      </a:accent6>
      <a:hlink>
        <a:srgbClr val="00566C"/>
      </a:hlink>
      <a:folHlink>
        <a:srgbClr val="1E98CC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3200" dirty="0" err="1">
            <a:solidFill>
              <a:schemeClr val="tx2"/>
            </a:solidFill>
            <a:latin typeface="+mj-lt"/>
          </a:defRPr>
        </a:defPPr>
      </a:lstStyle>
    </a:spDef>
    <a:lnDef>
      <a:spPr>
        <a:ln w="25400" cap="sq">
          <a:solidFill>
            <a:schemeClr val="accent2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641D53AFA44C4586F98D7AE1D9A3AF" ma:contentTypeVersion="16" ma:contentTypeDescription="Crear nuevo documento." ma:contentTypeScope="" ma:versionID="286564bc6bf68c6eafa02f5dde6566f0">
  <xsd:schema xmlns:xsd="http://www.w3.org/2001/XMLSchema" xmlns:xs="http://www.w3.org/2001/XMLSchema" xmlns:p="http://schemas.microsoft.com/office/2006/metadata/properties" xmlns:ns2="e60aaecf-dcc9-4b4d-b8d3-6f535706e675" xmlns:ns3="9d8037ad-0958-49ab-9028-649901420767" targetNamespace="http://schemas.microsoft.com/office/2006/metadata/properties" ma:root="true" ma:fieldsID="78122d2d7620a6931ab43f698b07fd2c" ns2:_="" ns3:_="">
    <xsd:import namespace="e60aaecf-dcc9-4b4d-b8d3-6f535706e675"/>
    <xsd:import namespace="9d8037ad-0958-49ab-9028-649901420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aaecf-dcc9-4b4d-b8d3-6f535706e6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037ad-0958-49ab-9028-649901420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cef7ac9-eda8-4c71-a08b-e45e01573a54}" ma:internalName="TaxCatchAll" ma:showField="CatchAllData" ma:web="9d8037ad-0958-49ab-9028-649901420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60aaecf-dcc9-4b4d-b8d3-6f535706e675">
      <Terms xmlns="http://schemas.microsoft.com/office/infopath/2007/PartnerControls"/>
    </lcf76f155ced4ddcb4097134ff3c332f>
    <TaxCatchAll xmlns="9d8037ad-0958-49ab-9028-649901420767" xsi:nil="true"/>
  </documentManagement>
</p:properties>
</file>

<file path=customXml/itemProps1.xml><?xml version="1.0" encoding="utf-8"?>
<ds:datastoreItem xmlns:ds="http://schemas.openxmlformats.org/officeDocument/2006/customXml" ds:itemID="{75E3697D-B122-4AD9-B23B-93B4C61060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0aaecf-dcc9-4b4d-b8d3-6f535706e675"/>
    <ds:schemaRef ds:uri="9d8037ad-0958-49ab-9028-6499014207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110C50-9D6E-492A-BD44-170BEC25D3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61AFDB-5B1F-4FAF-A547-89ADE1EE951F}">
  <ds:schemaRefs>
    <ds:schemaRef ds:uri="http://purl.org/dc/elements/1.1/"/>
    <ds:schemaRef ds:uri="a6642f6d-5081-4791-b9e2-ba520a08f6f9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2a878932-0fea-4e49-8237-6613bb282416"/>
    <ds:schemaRef ds:uri="http://purl.org/dc/dcmitype/"/>
    <ds:schemaRef ds:uri="http://schemas.microsoft.com/office/2006/metadata/properties"/>
    <ds:schemaRef ds:uri="http://schemas.openxmlformats.org/package/2006/metadata/core-properties"/>
    <ds:schemaRef ds:uri="e60aaecf-dcc9-4b4d-b8d3-6f535706e675"/>
    <ds:schemaRef ds:uri="9d8037ad-0958-49ab-9028-64990142076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15608</TotalTime>
  <Words>1733</Words>
  <Application>Microsoft Macintosh PowerPoint</Application>
  <PresentationFormat>Personalizado</PresentationFormat>
  <Paragraphs>357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21</vt:i4>
      </vt:variant>
    </vt:vector>
  </HeadingPairs>
  <TitlesOfParts>
    <vt:vector size="30" baseType="lpstr">
      <vt:lpstr>Arial</vt:lpstr>
      <vt:lpstr>Calibri</vt:lpstr>
      <vt:lpstr>Courier New</vt:lpstr>
      <vt:lpstr>Franklin Gothic Book</vt:lpstr>
      <vt:lpstr>Franklin Gothic Medium</vt:lpstr>
      <vt:lpstr>Lucida Grande</vt:lpstr>
      <vt:lpstr>Wingdings</vt:lpstr>
      <vt:lpstr>TEAM SLIDES</vt:lpstr>
      <vt:lpstr>1_TEAM SLIDES</vt:lpstr>
      <vt:lpstr>Presentación de PowerPoint</vt:lpstr>
      <vt:lpstr>Presentación de PowerPoint</vt:lpstr>
      <vt:lpstr>Presentación de PowerPoint</vt:lpstr>
      <vt:lpstr>01 Introducción Pregunta de investigación y objetivo</vt:lpstr>
      <vt:lpstr>01 Introducción Contribuciones del trabajo</vt:lpstr>
      <vt:lpstr>02 Metodología Datasets utilizados</vt:lpstr>
      <vt:lpstr>02 Metodología Protocolo experimental</vt:lpstr>
      <vt:lpstr>02 Metodología Diseño experimental: 5 × 3 = 15 combinaciones</vt:lpstr>
      <vt:lpstr>03 Resultados Hallazgos del análisis exploratorio</vt:lpstr>
      <vt:lpstr>03 Resultados Comparativa sobre ULB (test: 98 fraudes)</vt:lpstr>
      <vt:lpstr>03 Resultados El resampling no ayuda igual a todos los modelos</vt:lpstr>
      <vt:lpstr>Presentación de PowerPoint</vt:lpstr>
      <vt:lpstr>03 Resultados Coste computacional</vt:lpstr>
      <vt:lpstr>03 Resultados Interpretabilidad SHAP: importancia global</vt:lpstr>
      <vt:lpstr>03 Resultados SHAP local: por qué se marcó esta transacción</vt:lpstr>
      <vt:lpstr>03 Resultados Validación externa del protocolo en IEEE-CIS</vt:lpstr>
      <vt:lpstr>04 Conclusiones Conclusiones</vt:lpstr>
      <vt:lpstr>04 Conclusiones Aporte a la sociedad</vt:lpstr>
      <vt:lpstr>04 Conclusiones Limitaciones del estudio</vt:lpstr>
      <vt:lpstr>04 Conclusiones Líneas de trabajo futuro</vt:lpstr>
      <vt:lpstr>Presentación de PowerPoint</vt:lpstr>
    </vt:vector>
  </TitlesOfParts>
  <Manager/>
  <Company>unir.net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UNIR</dc:creator>
  <cp:keywords/>
  <dc:description/>
  <cp:lastModifiedBy>dany xavier lucas garcia</cp:lastModifiedBy>
  <cp:revision>1304</cp:revision>
  <dcterms:created xsi:type="dcterms:W3CDTF">2015-01-20T11:47:48Z</dcterms:created>
  <dcterms:modified xsi:type="dcterms:W3CDTF">2026-10-06T17:07:03Z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0x0101008B641D53AFA44C4586F98D7AE1D9A3AF</vt:lpwstr>
  </property>
</Properties>
</file>